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8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6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5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2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5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4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6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9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8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7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CF483-36E7-43D6-9064-B718D5714742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054D1-DE68-44A3-863B-DE40D830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3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Compare Supervised </a:t>
            </a:r>
            <a:br>
              <a:rPr lang="en-US" dirty="0" smtClean="0"/>
            </a:br>
            <a:r>
              <a:rPr lang="en-US" dirty="0" smtClean="0"/>
              <a:t>ML Models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Dr</a:t>
            </a:r>
            <a:r>
              <a:rPr lang="en-US" dirty="0" smtClean="0"/>
              <a:t> Shantanu Pathak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50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6599"/>
          </a:xfrm>
        </p:spPr>
        <p:txBody>
          <a:bodyPr/>
          <a:lstStyle/>
          <a:p>
            <a:r>
              <a:rPr lang="en-US" dirty="0" smtClean="0"/>
              <a:t>Comparison of all </a:t>
            </a:r>
            <a:r>
              <a:rPr lang="en-US" dirty="0" smtClean="0"/>
              <a:t>Supervised Models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48163" y="781189"/>
          <a:ext cx="11895673" cy="572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158">
                  <a:extLst>
                    <a:ext uri="{9D8B030D-6E8A-4147-A177-3AD203B41FA5}">
                      <a16:colId xmlns:a16="http://schemas.microsoft.com/office/drawing/2014/main" val="36112022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99736788"/>
                    </a:ext>
                  </a:extLst>
                </a:gridCol>
                <a:gridCol w="666044">
                  <a:extLst>
                    <a:ext uri="{9D8B030D-6E8A-4147-A177-3AD203B41FA5}">
                      <a16:colId xmlns:a16="http://schemas.microsoft.com/office/drawing/2014/main" val="1319885948"/>
                    </a:ext>
                  </a:extLst>
                </a:gridCol>
                <a:gridCol w="722489">
                  <a:extLst>
                    <a:ext uri="{9D8B030D-6E8A-4147-A177-3AD203B41FA5}">
                      <a16:colId xmlns:a16="http://schemas.microsoft.com/office/drawing/2014/main" val="4024158533"/>
                    </a:ext>
                  </a:extLst>
                </a:gridCol>
                <a:gridCol w="960968">
                  <a:extLst>
                    <a:ext uri="{9D8B030D-6E8A-4147-A177-3AD203B41FA5}">
                      <a16:colId xmlns:a16="http://schemas.microsoft.com/office/drawing/2014/main" val="1875246920"/>
                    </a:ext>
                  </a:extLst>
                </a:gridCol>
                <a:gridCol w="3330222">
                  <a:extLst>
                    <a:ext uri="{9D8B030D-6E8A-4147-A177-3AD203B41FA5}">
                      <a16:colId xmlns:a16="http://schemas.microsoft.com/office/drawing/2014/main" val="4174725787"/>
                    </a:ext>
                  </a:extLst>
                </a:gridCol>
                <a:gridCol w="2640192">
                  <a:extLst>
                    <a:ext uri="{9D8B030D-6E8A-4147-A177-3AD203B41FA5}">
                      <a16:colId xmlns:a16="http://schemas.microsoft.com/office/drawing/2014/main" val="2831280873"/>
                    </a:ext>
                  </a:extLst>
                </a:gridCol>
              </a:tblGrid>
              <a:tr h="1456267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 / </a:t>
                      </a:r>
                    </a:p>
                    <a:p>
                      <a:r>
                        <a:rPr lang="en-US" dirty="0" smtClean="0"/>
                        <a:t>Un-Supervised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 Classification</a:t>
                      </a:r>
                      <a:endParaRPr lang="en-US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Multi-Class Classification</a:t>
                      </a:r>
                      <a:endParaRPr lang="en-US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Regression</a:t>
                      </a:r>
                      <a:endParaRPr lang="en-US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 Selection Possible?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Regularization</a:t>
                      </a:r>
                    </a:p>
                    <a:p>
                      <a:r>
                        <a:rPr lang="en-US" dirty="0" smtClean="0"/>
                        <a:t>(L1 / L2 / </a:t>
                      </a:r>
                      <a:r>
                        <a:rPr lang="en-US" dirty="0" err="1" smtClean="0"/>
                        <a:t>elasticnet</a:t>
                      </a:r>
                      <a:r>
                        <a:rPr lang="en-US" dirty="0" smtClean="0"/>
                        <a:t>/ other)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38174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‘</a:t>
                      </a:r>
                      <a:r>
                        <a:rPr lang="en-US" dirty="0" err="1" smtClean="0"/>
                        <a:t>coef</a:t>
                      </a:r>
                      <a:r>
                        <a:rPr lang="en-US" dirty="0" smtClean="0"/>
                        <a:t>’ for feature importance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L1 , L2 and </a:t>
                      </a:r>
                      <a:r>
                        <a:rPr lang="en-US" dirty="0" err="1" smtClean="0"/>
                        <a:t>Elasticnet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585164"/>
                  </a:ext>
                </a:extLst>
              </a:tr>
              <a:tr h="477003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‘</a:t>
                      </a:r>
                      <a:r>
                        <a:rPr lang="en-US" dirty="0" err="1" smtClean="0"/>
                        <a:t>feature_importance</a:t>
                      </a:r>
                      <a:r>
                        <a:rPr lang="en-US" dirty="0" smtClean="0"/>
                        <a:t>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Regularization by Pruning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733102"/>
                  </a:ext>
                </a:extLst>
              </a:tr>
              <a:tr h="401724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Naïve Bayes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OVR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870"/>
                  </a:ext>
                </a:extLst>
              </a:tr>
              <a:tr h="351762">
                <a:tc>
                  <a:txBody>
                    <a:bodyPr/>
                    <a:lstStyle/>
                    <a:p>
                      <a:r>
                        <a:rPr lang="en-US" dirty="0" smtClean="0"/>
                        <a:t>SVM(Linear)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OVR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Gives ‘</a:t>
                      </a:r>
                      <a:r>
                        <a:rPr lang="en-US" dirty="0" err="1" smtClean="0"/>
                        <a:t>coef</a:t>
                      </a:r>
                      <a:r>
                        <a:rPr lang="en-US" dirty="0" smtClean="0"/>
                        <a:t>’ for feature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L2 using</a:t>
                      </a:r>
                      <a:r>
                        <a:rPr lang="en-US" baseline="0" dirty="0" smtClean="0"/>
                        <a:t> C parameter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97015"/>
                  </a:ext>
                </a:extLst>
              </a:tr>
              <a:tr h="414980">
                <a:tc>
                  <a:txBody>
                    <a:bodyPr/>
                    <a:lstStyle/>
                    <a:p>
                      <a:r>
                        <a:rPr lang="en-US" dirty="0" smtClean="0"/>
                        <a:t>SVM(RBF)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OVR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L2 using C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79637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smtClean="0"/>
                        <a:t>KNN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36328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Random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 Forest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‘</a:t>
                      </a:r>
                      <a:r>
                        <a:rPr lang="en-US" dirty="0" err="1" smtClean="0"/>
                        <a:t>feature_importance</a:t>
                      </a:r>
                      <a:r>
                        <a:rPr lang="en-US" dirty="0" smtClean="0"/>
                        <a:t>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Regularization by Randomization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94202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XGBoost</a:t>
                      </a: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 / </a:t>
                      </a:r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CatBoost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Yes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‘</a:t>
                      </a:r>
                      <a:r>
                        <a:rPr lang="en-US" dirty="0" err="1" smtClean="0"/>
                        <a:t>feature_importance</a:t>
                      </a:r>
                      <a:r>
                        <a:rPr lang="en-US" dirty="0" smtClean="0"/>
                        <a:t>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Regularization by Boosting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752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6488668"/>
            <a:ext cx="5348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OVR : One Vs Rest Strategy for Multi-class Classification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26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622"/>
            <a:ext cx="10515600" cy="1047221"/>
          </a:xfrm>
        </p:spPr>
        <p:txBody>
          <a:bodyPr/>
          <a:lstStyle/>
          <a:p>
            <a:r>
              <a:rPr lang="en-US" dirty="0"/>
              <a:t>Comparison of all Models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138287" y="1227843"/>
          <a:ext cx="11715047" cy="4940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640">
                  <a:extLst>
                    <a:ext uri="{9D8B030D-6E8A-4147-A177-3AD203B41FA5}">
                      <a16:colId xmlns:a16="http://schemas.microsoft.com/office/drawing/2014/main" val="3611202272"/>
                    </a:ext>
                  </a:extLst>
                </a:gridCol>
                <a:gridCol w="1921920">
                  <a:extLst>
                    <a:ext uri="{9D8B030D-6E8A-4147-A177-3AD203B41FA5}">
                      <a16:colId xmlns:a16="http://schemas.microsoft.com/office/drawing/2014/main" val="599736788"/>
                    </a:ext>
                  </a:extLst>
                </a:gridCol>
                <a:gridCol w="3950614">
                  <a:extLst>
                    <a:ext uri="{9D8B030D-6E8A-4147-A177-3AD203B41FA5}">
                      <a16:colId xmlns:a16="http://schemas.microsoft.com/office/drawing/2014/main" val="4174725787"/>
                    </a:ext>
                  </a:extLst>
                </a:gridCol>
                <a:gridCol w="3536873">
                  <a:extLst>
                    <a:ext uri="{9D8B030D-6E8A-4147-A177-3AD203B41FA5}">
                      <a16:colId xmlns:a16="http://schemas.microsoft.com/office/drawing/2014/main" val="2831280873"/>
                    </a:ext>
                  </a:extLst>
                </a:gridCol>
              </a:tblGrid>
              <a:tr h="677334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 Scaling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 for small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 for Huge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38174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Important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Efficient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 slow, tend to over-fit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585164"/>
                  </a:ext>
                </a:extLst>
              </a:tr>
              <a:tr h="477003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Good, tend to over-fit, 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Slow, low accuracy (Base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733102"/>
                  </a:ext>
                </a:extLst>
              </a:tr>
              <a:tr h="401724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Naïve Bayes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Fast</a:t>
                      </a:r>
                      <a:r>
                        <a:rPr lang="en-US" dirty="0" smtClean="0"/>
                        <a:t>, low 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Fast</a:t>
                      </a:r>
                      <a:r>
                        <a:rPr lang="en-US" dirty="0" smtClean="0"/>
                        <a:t>, low accuracy </a:t>
                      </a:r>
                      <a:r>
                        <a:rPr lang="en-US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(Base 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870"/>
                  </a:ext>
                </a:extLst>
              </a:tr>
              <a:tr h="351762">
                <a:tc>
                  <a:txBody>
                    <a:bodyPr/>
                    <a:lstStyle/>
                    <a:p>
                      <a:r>
                        <a:rPr lang="en-US" dirty="0" smtClean="0"/>
                        <a:t>SVM(Linear)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Compulsory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Good accuracy</a:t>
                      </a:r>
                      <a:r>
                        <a:rPr lang="en-US" dirty="0" smtClean="0"/>
                        <a:t>, better</a:t>
                      </a:r>
                      <a:r>
                        <a:rPr lang="en-US" baseline="0" dirty="0" smtClean="0"/>
                        <a:t> for linear boundaries, slow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97015"/>
                  </a:ext>
                </a:extLst>
              </a:tr>
              <a:tr h="414980">
                <a:tc>
                  <a:txBody>
                    <a:bodyPr/>
                    <a:lstStyle/>
                    <a:p>
                      <a:r>
                        <a:rPr lang="en-US" dirty="0" smtClean="0"/>
                        <a:t>SVM(RBF)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Compulsory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Good accuracy</a:t>
                      </a:r>
                      <a:r>
                        <a:rPr lang="en-US" dirty="0" smtClean="0"/>
                        <a:t>, better for non-linear boundaries,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79637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smtClean="0"/>
                        <a:t>KNN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Good,</a:t>
                      </a:r>
                      <a:r>
                        <a:rPr lang="en-US" baseline="0" dirty="0" smtClean="0"/>
                        <a:t> simple, </a:t>
                      </a:r>
                      <a:r>
                        <a:rPr lang="en-US" dirty="0" smtClean="0"/>
                        <a:t>low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Slow, </a:t>
                      </a:r>
                      <a:r>
                        <a:rPr lang="en-US" baseline="0" dirty="0" smtClean="0"/>
                        <a:t> simple, </a:t>
                      </a:r>
                      <a:r>
                        <a:rPr lang="en-US" dirty="0" smtClean="0"/>
                        <a:t>low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36328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Random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 Forest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Efficient, </a:t>
                      </a: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Accurate,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Best of Classification ONLY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Fast</a:t>
                      </a: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 Parallel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 Processing</a:t>
                      </a: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b="1" dirty="0" smtClean="0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 b="1" baseline="0" dirty="0" smtClean="0">
                          <a:solidFill>
                            <a:srgbClr val="00B050"/>
                          </a:solidFill>
                        </a:rPr>
                        <a:t>ccurate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, efficient, Best Classification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495128"/>
                  </a:ext>
                </a:extLst>
              </a:tr>
              <a:tr h="417688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XGBoost</a:t>
                      </a:r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 /</a:t>
                      </a:r>
                      <a:r>
                        <a:rPr lang="en-US" dirty="0" err="1" smtClean="0">
                          <a:solidFill>
                            <a:srgbClr val="00B050"/>
                          </a:solidFill>
                        </a:rPr>
                        <a:t>CatBoost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Fast, </a:t>
                      </a:r>
                      <a:r>
                        <a:rPr lang="en-US" baseline="0" dirty="0" smtClean="0"/>
                        <a:t>no-overfitting, </a:t>
                      </a:r>
                      <a:r>
                        <a:rPr lang="en-US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efficient,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Best of Classification </a:t>
                      </a:r>
                      <a:r>
                        <a:rPr lang="en-US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&amp;</a:t>
                      </a:r>
                      <a:r>
                        <a:rPr lang="en-US" b="1" baseline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Regression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baseline="0" dirty="0" smtClean="0">
                          <a:solidFill>
                            <a:srgbClr val="00B050"/>
                          </a:solidFill>
                        </a:rPr>
                        <a:t>no-overfitting</a:t>
                      </a:r>
                      <a:r>
                        <a:rPr lang="en-US" b="1" baseline="0" dirty="0" smtClean="0">
                          <a:solidFill>
                            <a:srgbClr val="00B050"/>
                          </a:solidFill>
                        </a:rPr>
                        <a:t>,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b="1" baseline="0" dirty="0" smtClean="0">
                          <a:solidFill>
                            <a:srgbClr val="00B050"/>
                          </a:solidFill>
                        </a:rPr>
                        <a:t>Accurate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,  efficient, Best </a:t>
                      </a:r>
                      <a:r>
                        <a:rPr lang="en-US" baseline="0" dirty="0" smtClean="0">
                          <a:solidFill>
                            <a:srgbClr val="00B050"/>
                          </a:solidFill>
                        </a:rPr>
                        <a:t>Classification &amp; Regression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0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676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Widescreen</PresentationFormat>
  <Paragraphs>108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Compare Supervised  ML Models</vt:lpstr>
      <vt:lpstr>Comparison of all Supervised Models</vt:lpstr>
      <vt:lpstr>Comparison of all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 ML Models</dc:title>
  <dc:creator>cdacstaff</dc:creator>
  <cp:lastModifiedBy>cdacstaff</cp:lastModifiedBy>
  <cp:revision>4</cp:revision>
  <dcterms:created xsi:type="dcterms:W3CDTF">2023-01-06T10:39:55Z</dcterms:created>
  <dcterms:modified xsi:type="dcterms:W3CDTF">2023-01-06T10:41:02Z</dcterms:modified>
</cp:coreProperties>
</file>