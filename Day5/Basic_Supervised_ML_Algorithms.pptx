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g+LXI8Zb4QTiWnBrDR/YFZq1OW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616582-D180-4D26-9C53-0187369B9A05}">
  <a:tblStyle styleId="{9E616582-D180-4D26-9C53-0187369B9A0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01" y="57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5" name="Google Shape;1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1" name="Google Shape;19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" name="Google Shape;1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5" name="Google Shape;20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3" name="Google Shape;21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9" name="Google Shape;21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" name="Google Shape;22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0" name="Google Shape;23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8" name="Google Shape;23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5" name="Google Shape;24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" name="Google Shape;25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9" name="Google Shape;25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5" name="Google Shape;26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0" name="Google Shape;27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9" name="Google Shape;28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3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3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/index.php?curid=4310325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38640109/logistic-regression-python-solvers-definition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38640109/logistic-regression-python-solvers-definitions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kit-learn.org/stable/modules/linear_model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11075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Basic Supervised Machine Learning Models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By Dr Shantanu Pathak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Tasks in Supervised Learning</a:t>
            </a:r>
            <a:endParaRPr/>
          </a:p>
        </p:txBody>
      </p:sp>
      <p:sp>
        <p:nvSpPr>
          <p:cNvPr id="91" name="Google Shape;91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Classification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Regression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1"/>
          <p:cNvSpPr txBox="1">
            <a:spLocks noGrp="1"/>
          </p:cNvSpPr>
          <p:nvPr>
            <p:ph type="title"/>
          </p:nvPr>
        </p:nvSpPr>
        <p:spPr>
          <a:xfrm>
            <a:off x="838200" y="297937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Classification Task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Classification Task</a:t>
            </a:r>
            <a:endParaRPr/>
          </a:p>
        </p:txBody>
      </p:sp>
      <p:sp>
        <p:nvSpPr>
          <p:cNvPr id="102" name="Google Shape;102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Predict a class / label using features/ columns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Types of Classification in Supervised Learning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Binary Classification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Multi-Class Classification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Binary classification</a:t>
            </a:r>
            <a:endParaRPr/>
          </a:p>
        </p:txBody>
      </p:sp>
      <p:sp>
        <p:nvSpPr>
          <p:cNvPr id="108" name="Google Shape;108;p43"/>
          <p:cNvSpPr txBox="1">
            <a:spLocks noGrp="1"/>
          </p:cNvSpPr>
          <p:nvPr>
            <p:ph type="body" idx="1"/>
          </p:nvPr>
        </p:nvSpPr>
        <p:spPr>
          <a:xfrm>
            <a:off x="838200" y="1488830"/>
            <a:ext cx="10515600" cy="5087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/>
              <a:t>Only Two classes in output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/>
              <a:t>Positive class (Represented by 1)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/>
              <a:t>When test results are positive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/>
              <a:t>Ex In diabetes detection, when test results are positive, then person has diabetes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/>
              <a:t>Negative class (Represented by 0)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/>
              <a:t>When test results are negative</a:t>
            </a:r>
            <a:endParaRPr/>
          </a:p>
          <a:p>
            <a:pPr marL="22860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/>
              <a:t>So, in patient blood report, diabetes detected is positive class and no diabetes detected is negative class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lang="en-US"/>
              <a:t>Ex. In an image Dog is present ?</a:t>
            </a:r>
            <a:endParaRPr/>
          </a:p>
          <a:p>
            <a:pPr marL="9144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26126"/>
              <a:buChar char="•"/>
            </a:pPr>
            <a:r>
              <a:rPr lang="en-US"/>
              <a:t>Dog present is positive class </a:t>
            </a:r>
            <a:endParaRPr/>
          </a:p>
          <a:p>
            <a:pPr marL="9144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26126"/>
              <a:buChar char="•"/>
            </a:pPr>
            <a:r>
              <a:rPr lang="en-US"/>
              <a:t>Dog absent is negative class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 Class Classification</a:t>
            </a:r>
            <a:endParaRPr/>
          </a:p>
        </p:txBody>
      </p:sp>
      <p:sp>
        <p:nvSpPr>
          <p:cNvPr id="114" name="Google Shape;114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More than two classes in output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Predict Breathing problem using X-ray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Normal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Asthma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Covid-19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Classification Models</a:t>
            </a:r>
            <a:endParaRPr/>
          </a:p>
        </p:txBody>
      </p:sp>
      <p:sp>
        <p:nvSpPr>
          <p:cNvPr id="120" name="Google Shape;120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1526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Basic Models</a:t>
            </a:r>
            <a:endParaRPr/>
          </a:p>
          <a:p>
            <a:pPr marL="685800" lvl="1" indent="-21526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6667"/>
              <a:buChar char="•"/>
            </a:pPr>
            <a:r>
              <a:rPr lang="en-US"/>
              <a:t>Logistic Regression</a:t>
            </a:r>
            <a:endParaRPr/>
          </a:p>
          <a:p>
            <a:pPr marL="685800" lvl="1" indent="-21526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6667"/>
              <a:buChar char="•"/>
            </a:pPr>
            <a:r>
              <a:rPr lang="en-US"/>
              <a:t>Naïve Bayes </a:t>
            </a:r>
            <a:endParaRPr/>
          </a:p>
          <a:p>
            <a:pPr marL="685800" lvl="1" indent="-21526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6667"/>
              <a:buChar char="•"/>
            </a:pPr>
            <a:r>
              <a:rPr lang="en-US"/>
              <a:t>SVM</a:t>
            </a:r>
            <a:endParaRPr/>
          </a:p>
          <a:p>
            <a:pPr marL="685800" lvl="1" indent="-2152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16667"/>
              <a:buChar char="•"/>
            </a:pPr>
            <a:r>
              <a:rPr lang="en-US"/>
              <a:t>K Nearest Neighbors</a:t>
            </a:r>
            <a:endParaRPr/>
          </a:p>
          <a:p>
            <a:pPr marL="685800" lvl="1" indent="-2152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16667"/>
              <a:buChar char="•"/>
            </a:pPr>
            <a:r>
              <a:rPr lang="en-US"/>
              <a:t>Decision Tree</a:t>
            </a:r>
            <a:endParaRPr/>
          </a:p>
          <a:p>
            <a:pPr marL="685800" lvl="1" indent="-15652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Linear Discriminant Analysis (LDA)</a:t>
            </a:r>
            <a:endParaRPr/>
          </a:p>
          <a:p>
            <a:pPr marL="228600" lvl="0" indent="-2152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Ensemble Learning</a:t>
            </a:r>
            <a:endParaRPr/>
          </a:p>
          <a:p>
            <a:pPr marL="685800" lvl="1" indent="-21526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6667"/>
              <a:buChar char="•"/>
            </a:pPr>
            <a:r>
              <a:rPr lang="en-US"/>
              <a:t>Random Forest (Bagging)</a:t>
            </a:r>
            <a:endParaRPr/>
          </a:p>
          <a:p>
            <a:pPr marL="685800" lvl="1" indent="-21526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6667"/>
              <a:buChar char="•"/>
            </a:pPr>
            <a:r>
              <a:rPr lang="en-US"/>
              <a:t>XG Boost (Boosting)</a:t>
            </a:r>
            <a:endParaRPr/>
          </a:p>
          <a:p>
            <a:pPr marL="685800" lvl="1" indent="-21526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6667"/>
              <a:buChar char="•"/>
            </a:pPr>
            <a:r>
              <a:rPr lang="en-US"/>
              <a:t>Cat Boost (Boosting)</a:t>
            </a:r>
            <a:endParaRPr/>
          </a:p>
          <a:p>
            <a:pPr marL="685800" lvl="1" indent="-15652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LightGBM (Boosting)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title"/>
          </p:nvPr>
        </p:nvSpPr>
        <p:spPr>
          <a:xfrm>
            <a:off x="849489" y="20923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Logistic Regression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42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Logistic Regression </a:t>
            </a:r>
            <a:r>
              <a:rPr lang="en-US" sz="3300"/>
              <a:t>(logit classifier/MaxEnt classifier)</a:t>
            </a:r>
            <a:endParaRPr/>
          </a:p>
        </p:txBody>
      </p:sp>
      <p:sp>
        <p:nvSpPr>
          <p:cNvPr id="131" name="Google Shape;131;p4"/>
          <p:cNvSpPr txBox="1">
            <a:spLocks noGrp="1"/>
          </p:cNvSpPr>
          <p:nvPr>
            <p:ph type="body" idx="1"/>
          </p:nvPr>
        </p:nvSpPr>
        <p:spPr>
          <a:xfrm>
            <a:off x="450376" y="1296537"/>
            <a:ext cx="10903424" cy="556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Used for </a:t>
            </a:r>
            <a:r>
              <a:rPr lang="en-US" b="1"/>
              <a:t>classification (binary and multi-class)</a:t>
            </a:r>
            <a:r>
              <a:rPr lang="en-US"/>
              <a:t> ONLY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Models </a:t>
            </a:r>
            <a:r>
              <a:rPr lang="en-US" b="1" i="1"/>
              <a:t>linear relation </a:t>
            </a:r>
            <a:r>
              <a:rPr lang="en-US"/>
              <a:t>between independent variables to predict a binary or categorical output.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Target is to have minimum loss, so it does find the right coefficients by doing multiple iterations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Output is in form of probability, between 0 to 1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Output gives the probability that Y will be class 1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 = b0  + b1X1 + b2X2 + …. bnXn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Where b0 is intercept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b1 to bn are coefficients just like linear regression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 = sigmoid(t) = 1 / ( 1 + e ^ (-t) )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Sigmoid / logistic function converts the real valued t into value between 0 to 1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Logistic / Sigmoid Function</a:t>
            </a:r>
            <a:endParaRPr/>
          </a:p>
        </p:txBody>
      </p:sp>
      <p:sp>
        <p:nvSpPr>
          <p:cNvPr id="137" name="Google Shape;137;p5"/>
          <p:cNvSpPr txBox="1">
            <a:spLocks noGrp="1"/>
          </p:cNvSpPr>
          <p:nvPr>
            <p:ph type="body" idx="1"/>
          </p:nvPr>
        </p:nvSpPr>
        <p:spPr>
          <a:xfrm>
            <a:off x="635000" y="5937955"/>
            <a:ext cx="10515600" cy="66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By Qef (talk) - Created from scratch with gnuplot, Public Domain, 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https://commons.wikimedia.org/w/index.php?curid=4310325</a:t>
            </a:r>
            <a:r>
              <a:rPr lang="en-US" sz="2000"/>
              <a:t> </a:t>
            </a:r>
            <a:endParaRPr sz="2000"/>
          </a:p>
        </p:txBody>
      </p:sp>
      <p:pic>
        <p:nvPicPr>
          <p:cNvPr id="138" name="Google Shape;13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4600" y="1055310"/>
            <a:ext cx="7137400" cy="475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 txBox="1"/>
          <p:nvPr/>
        </p:nvSpPr>
        <p:spPr>
          <a:xfrm>
            <a:off x="127000" y="1690688"/>
            <a:ext cx="5009445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S-Shaped curve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Output(y) is always between 0 to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Input(x) can be any value between  –inf to + inf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Converts real valued input to binary or in terms of probability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Logistic Regression </a:t>
            </a:r>
            <a:r>
              <a:rPr lang="en-US" sz="3300"/>
              <a:t>(logit classifier/MaxEnt classifier)</a:t>
            </a:r>
            <a:endParaRPr sz="3300"/>
          </a:p>
        </p:txBody>
      </p:sp>
      <p:sp>
        <p:nvSpPr>
          <p:cNvPr id="145" name="Google Shape;145;p6"/>
          <p:cNvSpPr txBox="1">
            <a:spLocks noGrp="1"/>
          </p:cNvSpPr>
          <p:nvPr>
            <p:ph type="body" idx="1"/>
          </p:nvPr>
        </p:nvSpPr>
        <p:spPr>
          <a:xfrm>
            <a:off x="304800" y="1825625"/>
            <a:ext cx="11049000" cy="486868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92" t="-27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838200" y="193407"/>
            <a:ext cx="10515600" cy="10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Logistic Regression Parameters</a:t>
            </a:r>
            <a:endParaRPr/>
          </a:p>
        </p:txBody>
      </p:sp>
      <p:sp>
        <p:nvSpPr>
          <p:cNvPr id="151" name="Google Shape;151;p7"/>
          <p:cNvSpPr txBox="1">
            <a:spLocks noGrp="1"/>
          </p:cNvSpPr>
          <p:nvPr>
            <p:ph type="body" idx="1"/>
          </p:nvPr>
        </p:nvSpPr>
        <p:spPr>
          <a:xfrm>
            <a:off x="838200" y="1105425"/>
            <a:ext cx="10515600" cy="54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Solver </a:t>
            </a:r>
            <a:r>
              <a:rPr lang="en-US"/>
              <a:t>= ‘saga’ , ‘liblinear’, ’lbfgs’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i="1"/>
              <a:t>According to Scikit Documentation: The SAGA solver is often the best choice.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l1_ratio </a:t>
            </a:r>
            <a:r>
              <a:rPr lang="en-US"/>
              <a:t>: to give l1 , l2, elasticnet penalty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l1_ratio=1 then l1 penalty, l1_ratio=0 then l2 penalty 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else 0&lt;l1&lt;1 then ‘elasticnet’ penalty and it tells portion of l1 penalty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‘</a:t>
            </a:r>
            <a:r>
              <a:rPr lang="en-US" b="1"/>
              <a:t>liblinear</a:t>
            </a:r>
            <a:r>
              <a:rPr lang="en-US"/>
              <a:t>’ solver supports both L1 and L2 regularization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</a:t>
            </a:r>
            <a:r>
              <a:rPr lang="en-US" b="1"/>
              <a:t>l1,l2,Elastic-Net</a:t>
            </a:r>
            <a:r>
              <a:rPr lang="en-US"/>
              <a:t> regularization is only supported by the ‘</a:t>
            </a:r>
            <a:r>
              <a:rPr lang="en-US" b="1"/>
              <a:t>saga</a:t>
            </a:r>
            <a:r>
              <a:rPr lang="en-US"/>
              <a:t>’ solver.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class_weight</a:t>
            </a:r>
            <a:r>
              <a:rPr lang="en-US"/>
              <a:t>: balanced</a:t>
            </a:r>
            <a:endParaRPr/>
          </a:p>
          <a:p>
            <a:pPr marL="228600" lvl="0" indent="-1746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6"/>
              <a:buChar char="•"/>
            </a:pPr>
            <a:r>
              <a:rPr lang="en-US" b="1"/>
              <a:t>C</a:t>
            </a:r>
            <a:r>
              <a:rPr lang="en-US"/>
              <a:t> : regularization parameter (like in SVM)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smaller value :: high regularization, less misclassification allowed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high value : low regularization and more misclassification allowed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i="1"/>
              <a:t>NOTE</a:t>
            </a:r>
            <a:r>
              <a:rPr lang="en-US" i="1"/>
              <a:t>:: For multi class classification problem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i="1"/>
              <a:t>‘</a:t>
            </a:r>
            <a:r>
              <a:rPr lang="en-US" b="1" i="1"/>
              <a:t>multinomial</a:t>
            </a:r>
            <a:r>
              <a:rPr lang="en-US" i="1"/>
              <a:t>’ : all solvers supports this to model multiple classes (except liblinear)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i="1"/>
              <a:t>‘</a:t>
            </a:r>
            <a:r>
              <a:rPr lang="en-US" b="1" i="1"/>
              <a:t>ovr</a:t>
            </a:r>
            <a:r>
              <a:rPr lang="en-US" i="1"/>
              <a:t>’ is deprecated now (One vs rest strategy supported by ‘</a:t>
            </a:r>
            <a:r>
              <a:rPr lang="en-US" b="1" i="1"/>
              <a:t>liblinear</a:t>
            </a:r>
            <a:r>
              <a:rPr lang="en-US" i="1"/>
              <a:t>’ solver)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900" i="1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900" i="1"/>
              <a:t>Further Reading: </a:t>
            </a:r>
            <a:r>
              <a:rPr lang="en-US" sz="1900" i="1" u="sng">
                <a:solidFill>
                  <a:schemeClr val="hlink"/>
                </a:solidFill>
                <a:hlinkClick r:id="rId3"/>
              </a:rPr>
              <a:t>https://stackoverflow.com/questions/38640109/logistic-regression-python-solvers-definitions</a:t>
            </a:r>
            <a:r>
              <a:rPr lang="en-US" sz="1900" i="1"/>
              <a:t> </a:t>
            </a:r>
            <a:endParaRPr sz="1900" i="1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900" i="1"/>
              <a:t>SAGA is variant of SAG ( Stochastic Average Gradient)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>
            <a:spLocks noGrp="1"/>
          </p:cNvSpPr>
          <p:nvPr>
            <p:ph type="title"/>
          </p:nvPr>
        </p:nvSpPr>
        <p:spPr>
          <a:xfrm>
            <a:off x="849488" y="279223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Naïve Bayes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Probability</a:t>
            </a:r>
            <a:endParaRPr/>
          </a:p>
        </p:txBody>
      </p:sp>
      <p:sp>
        <p:nvSpPr>
          <p:cNvPr id="162" name="Google Shape;162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Joint probability is the probability of two events occurring simultaneously.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Marginal probability is the probability of an event irrespective of the outcome of another variable.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Conditional probability is the probability of one event occurring in the presence of a second event.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Probability</a:t>
            </a:r>
            <a:endParaRPr/>
          </a:p>
        </p:txBody>
      </p:sp>
      <p:sp>
        <p:nvSpPr>
          <p:cNvPr id="168" name="Google Shape;16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Joint Probability to Bayes Rule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P(AB) = P(A) * P (B) .. A &amp; B independent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P(AB) = P(A) * P(B|A) = P(B)*P(A|B)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When A &amp; B are dependent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Naive Bayes</a:t>
            </a:r>
            <a:endParaRPr/>
          </a:p>
        </p:txBody>
      </p:sp>
      <p:sp>
        <p:nvSpPr>
          <p:cNvPr id="174" name="Google Shape;17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Bayesian Model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P(C | x) =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P(C|x) -&gt; Probability of given sample ‘x’ belonging to class ‘C’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P(x) -&gt; Probability of ‘x’ in complete sample space / training data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P(C) -&gt; Probability of ‘C’ in complete sample space / training data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P(x|C) -&gt;Probability of occurrence of ‘x’ when ‘C’ is given in training data</a:t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52926" y="2071678"/>
            <a:ext cx="2260878" cy="92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Naive Bayes</a:t>
            </a:r>
            <a:endParaRPr/>
          </a:p>
        </p:txBody>
      </p:sp>
      <p:sp>
        <p:nvSpPr>
          <p:cNvPr id="182" name="Google Shape;182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Used for Binary Classification Task ONLY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Assumption : Input consists of set of independent features / columns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Bayesian Probabilistic Model is used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Simple yet effective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Highly scalable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Application: Automatic medial case classification / diagnosis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 txBox="1">
            <a:spLocks noGrp="1"/>
          </p:cNvSpPr>
          <p:nvPr>
            <p:ph type="title"/>
          </p:nvPr>
        </p:nvSpPr>
        <p:spPr>
          <a:xfrm>
            <a:off x="1981200" y="71414"/>
            <a:ext cx="8229600" cy="1000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: Example of Naive Bayes</a:t>
            </a:r>
            <a:endParaRPr/>
          </a:p>
        </p:txBody>
      </p:sp>
      <p:graphicFrame>
        <p:nvGraphicFramePr>
          <p:cNvPr id="188" name="Google Shape;188;p13"/>
          <p:cNvGraphicFramePr/>
          <p:nvPr/>
        </p:nvGraphicFramePr>
        <p:xfrm>
          <a:off x="1981200" y="83728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{9E616582-D180-4D26-9C53-0187369B9A05}</a:tableStyleId>
              </a:tblPr>
              <a:tblGrid>
                <a:gridCol w="11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Sr No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Time(X1)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Vehicle Type(X2)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Accident(Target/Y)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Early Morning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Heavy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Yes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Early Morning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Light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Early Morning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Light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Yes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Early Morning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Heavy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Early Morning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Heavy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Yes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Early Morning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Heavy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7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Evening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Light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Yes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Evening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Light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Evening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Heavy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Evening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Heavy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Yes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Day Time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Heavy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Day Time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Heavy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Yes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Day Time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Light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9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Night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Light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Yes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Probabilities : Example of Naive Bayes</a:t>
            </a:r>
            <a:endParaRPr/>
          </a:p>
        </p:txBody>
      </p:sp>
      <p:sp>
        <p:nvSpPr>
          <p:cNvPr id="194" name="Google Shape;194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P(Accident) =0.5 P(No Accident) =0.5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P(em)=6/14 P(day time)= 3/14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P(ev)=4/14 P(night)=1/14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P(light)=6/14  P(heavy)=8/14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Probabilities : Example of Naive Bayes</a:t>
            </a:r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body" idx="1"/>
          </p:nvPr>
        </p:nvSpPr>
        <p:spPr>
          <a:xfrm>
            <a:off x="1847528" y="1526058"/>
            <a:ext cx="8229600" cy="4927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P(daytime | Accident) = 1/7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P(em | Accident) =  3/7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P(ev | Accident) =  2/7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P(n | Accident) =1/7</a:t>
            </a:r>
            <a:endParaRPr sz="3600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P(Light | Accident) = 3/7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P(Heavy | Accident) = 4/7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7608168" y="1700808"/>
            <a:ext cx="500066" cy="2088232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7114334" y="4653136"/>
            <a:ext cx="500066" cy="1571636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Probabilities : Example of Naive Bayes</a:t>
            </a:r>
            <a:endParaRPr/>
          </a:p>
        </p:txBody>
      </p:sp>
      <p:sp>
        <p:nvSpPr>
          <p:cNvPr id="208" name="Google Shape;208;p16"/>
          <p:cNvSpPr txBox="1">
            <a:spLocks noGrp="1"/>
          </p:cNvSpPr>
          <p:nvPr>
            <p:ph type="body" idx="1"/>
          </p:nvPr>
        </p:nvSpPr>
        <p:spPr>
          <a:xfrm>
            <a:off x="1847528" y="1526058"/>
            <a:ext cx="8229600" cy="4927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P(daytime | Accident = ‘No’) = ??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P(em | Accident = ‘No’) =  ??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P(ev | Accident = ‘No’) =  ??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P(n | Accident = ‘No’) =??</a:t>
            </a:r>
            <a:endParaRPr sz="3600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P(Light | Accident = ‘No’) = ??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P(Heavy | Accident = ‘No’) = ??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8358267" y="1690688"/>
            <a:ext cx="500066" cy="2088232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7858201" y="4631102"/>
            <a:ext cx="500066" cy="1571636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of Naive Bayes</a:t>
            </a:r>
            <a:endParaRPr/>
          </a:p>
        </p:txBody>
      </p:sp>
      <p:sp>
        <p:nvSpPr>
          <p:cNvPr id="216" name="Google Shape;216;p17"/>
          <p:cNvSpPr txBox="1">
            <a:spLocks noGrp="1"/>
          </p:cNvSpPr>
          <p:nvPr>
            <p:ph type="body" idx="1"/>
          </p:nvPr>
        </p:nvSpPr>
        <p:spPr>
          <a:xfrm>
            <a:off x="838200" y="1545776"/>
            <a:ext cx="8929718" cy="50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is probability of an accident given that its early morning?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P(Accident|em)=P(em|Accident)P(Accident)/ P(em)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= (3/7 * 7/14 ) /(6/14) = 3/6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P(Accident|DT) = P(DT|Accident)P(Acc)/P(DT)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= (1/7 * 7/14 ) / (3/14) = 1/3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P(Accident | (em,light)) = P(Acc|em) * P(Acc|light)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= 3/6 * 3/6 = 0.25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P(C | (x1,x2,x3 ... xn)) = P(C|x1) * P(C|x2) * ... *P(C|xn)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 txBox="1">
            <a:spLocks noGrp="1"/>
          </p:cNvSpPr>
          <p:nvPr>
            <p:ph type="title"/>
          </p:nvPr>
        </p:nvSpPr>
        <p:spPr>
          <a:xfrm>
            <a:off x="838200" y="86075"/>
            <a:ext cx="10515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Naïve Bayes</a:t>
            </a:r>
            <a:endParaRPr/>
          </a:p>
        </p:txBody>
      </p:sp>
      <p:sp>
        <p:nvSpPr>
          <p:cNvPr id="222" name="Google Shape;222;p18"/>
          <p:cNvSpPr txBox="1">
            <a:spLocks noGrp="1"/>
          </p:cNvSpPr>
          <p:nvPr>
            <p:ph type="body" idx="1"/>
          </p:nvPr>
        </p:nvSpPr>
        <p:spPr>
          <a:xfrm>
            <a:off x="321975" y="923075"/>
            <a:ext cx="11031900" cy="52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Gaussian Naive Bayes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For numeric data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For large data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Multinomial Naïve Bayes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For data with frequency of categorical features like Text data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Complement Naive Bayes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particularly suited for imbalanced data sets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it is modified Multi -nomial NB for imbalanced data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Used in text classification tasks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Categorical Naive Bayes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for simple categorical data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assumes every feature has its own categorical distribution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Bernoulli's Naïve Bayes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For Binary Variables like one-hot-encoded features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 txBox="1">
            <a:spLocks noGrp="1"/>
          </p:cNvSpPr>
          <p:nvPr>
            <p:ph type="title"/>
          </p:nvPr>
        </p:nvSpPr>
        <p:spPr>
          <a:xfrm>
            <a:off x="962891" y="284855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Support Vector Machine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>
            <a:spLocks noGrp="1"/>
          </p:cNvSpPr>
          <p:nvPr>
            <p:ph type="title"/>
          </p:nvPr>
        </p:nvSpPr>
        <p:spPr>
          <a:xfrm>
            <a:off x="838200" y="85872"/>
            <a:ext cx="10515600" cy="10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Support Vector Machines(SVM)</a:t>
            </a:r>
            <a:endParaRPr/>
          </a:p>
        </p:txBody>
      </p:sp>
      <p:sp>
        <p:nvSpPr>
          <p:cNvPr id="233" name="Google Shape;233;p20"/>
          <p:cNvSpPr txBox="1">
            <a:spLocks noGrp="1"/>
          </p:cNvSpPr>
          <p:nvPr>
            <p:ph type="body" idx="1"/>
          </p:nvPr>
        </p:nvSpPr>
        <p:spPr>
          <a:xfrm>
            <a:off x="838200" y="1100475"/>
            <a:ext cx="10515600" cy="5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Used ONLY for Binary Classification or Regression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can handle Linear / Non-Linear boundary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Goal (basic classification principle): </a:t>
            </a:r>
            <a:endParaRPr/>
          </a:p>
          <a:p>
            <a:pPr marL="91440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Find the decision boundary between two classes with maximum </a:t>
            </a:r>
            <a:r>
              <a:rPr lang="en-US" i="1"/>
              <a:t>margin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Margin is based 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Samples close to the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boundary. These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samples are called as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“Support Vectors”</a:t>
            </a:r>
            <a:endParaRPr/>
          </a:p>
        </p:txBody>
      </p:sp>
      <p:pic>
        <p:nvPicPr>
          <p:cNvPr id="234" name="Google Shape;234;p20" descr="Svm_separating_hyperplanes_(SVG).sv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75176" y="3286124"/>
            <a:ext cx="4249914" cy="278608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/>
          <p:nvPr/>
        </p:nvSpPr>
        <p:spPr>
          <a:xfrm rot="7896752">
            <a:off x="6354262" y="4725458"/>
            <a:ext cx="377490" cy="762132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5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Support Vector Machines(SVM)</a:t>
            </a:r>
            <a:endParaRPr/>
          </a:p>
        </p:txBody>
      </p:sp>
      <p:sp>
        <p:nvSpPr>
          <p:cNvPr id="241" name="Google Shape;241;p21"/>
          <p:cNvSpPr txBox="1">
            <a:spLocks noGrp="1"/>
          </p:cNvSpPr>
          <p:nvPr>
            <p:ph type="body" idx="1"/>
          </p:nvPr>
        </p:nvSpPr>
        <p:spPr>
          <a:xfrm>
            <a:off x="104422" y="1298223"/>
            <a:ext cx="5991578" cy="5317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Margin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Minimum distance between proposed boundary and closest point(s) from each class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Which boundary to choose?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Single dataset may have multiple possible boundaries between two classes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Boundary with maximum margin is most beneficial 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Such boundary avoids misclassification, even if there is some deviation in new data from original data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242" name="Google Shape;24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4882" y="1298222"/>
            <a:ext cx="5454167" cy="4856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Support Vector Machines(SVM)</a:t>
            </a:r>
            <a:endParaRPr/>
          </a:p>
        </p:txBody>
      </p:sp>
      <p:sp>
        <p:nvSpPr>
          <p:cNvPr id="248" name="Google Shape;248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Binary Classification: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Points which are on either side of the boundary are given to respective class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new point, class is predicted by using which side of the boundary it is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Regression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Using decision boundary linear equation is formed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This is transformed into probability using logistic function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Output of logistic function ( probability) is used for regression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>
            <a:spLocks noGrp="1"/>
          </p:cNvSpPr>
          <p:nvPr>
            <p:ph type="title"/>
          </p:nvPr>
        </p:nvSpPr>
        <p:spPr>
          <a:xfrm>
            <a:off x="838200" y="67734"/>
            <a:ext cx="1051560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SVM Kernel Trick</a:t>
            </a:r>
            <a:endParaRPr/>
          </a:p>
        </p:txBody>
      </p:sp>
      <p:sp>
        <p:nvSpPr>
          <p:cNvPr id="254" name="Google Shape;254;p23"/>
          <p:cNvSpPr txBox="1">
            <a:spLocks noGrp="1"/>
          </p:cNvSpPr>
          <p:nvPr>
            <p:ph type="body" idx="1"/>
          </p:nvPr>
        </p:nvSpPr>
        <p:spPr>
          <a:xfrm>
            <a:off x="777091" y="82409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Transform the data by adding non-linear features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( x^2 , cos(x) , x^5, Convert points in form of polar coordinates.. </a:t>
            </a:r>
            <a:r>
              <a:rPr lang="en-US" dirty="0" err="1"/>
              <a:t>etc</a:t>
            </a:r>
            <a:r>
              <a:rPr lang="en-US" dirty="0"/>
              <a:t>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This enables to </a:t>
            </a:r>
            <a:r>
              <a:rPr lang="en-US"/>
              <a:t>have </a:t>
            </a:r>
            <a:r>
              <a:rPr lang="en-US" smtClean="0"/>
              <a:t>non-linear </a:t>
            </a:r>
            <a:r>
              <a:rPr lang="en-US" dirty="0"/>
              <a:t>boundary between classes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/>
              <a:t>Kernel</a:t>
            </a:r>
            <a:r>
              <a:rPr lang="en-US" dirty="0"/>
              <a:t> does this transform </a:t>
            </a:r>
            <a:r>
              <a:rPr lang="en-US" b="1" dirty="0"/>
              <a:t>efficiently</a:t>
            </a:r>
            <a:r>
              <a:rPr lang="en-US" dirty="0"/>
              <a:t> ONLY once and not every iteration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/>
              <a:t>RBF Kernel </a:t>
            </a:r>
            <a:r>
              <a:rPr lang="en-US" dirty="0"/>
              <a:t>: Radial basis Function / Gaussian Kernel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Considers similarity between points in the dataset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Similarity is based on gamma and distance between points</a:t>
            </a: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  <p:pic>
        <p:nvPicPr>
          <p:cNvPr id="255" name="Google Shape;25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634" y="4339962"/>
            <a:ext cx="5569671" cy="2372684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pic>
        <p:nvPicPr>
          <p:cNvPr id="256" name="Google Shape;256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4339962"/>
            <a:ext cx="5839640" cy="2372056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 txBox="1">
            <a:spLocks noGrp="1"/>
          </p:cNvSpPr>
          <p:nvPr>
            <p:ph type="title"/>
          </p:nvPr>
        </p:nvSpPr>
        <p:spPr>
          <a:xfrm>
            <a:off x="838200" y="214648"/>
            <a:ext cx="10515600" cy="10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SVM Parameters</a:t>
            </a:r>
            <a:endParaRPr/>
          </a:p>
        </p:txBody>
      </p:sp>
      <p:sp>
        <p:nvSpPr>
          <p:cNvPr id="262" name="Google Shape;262;p24"/>
          <p:cNvSpPr txBox="1">
            <a:spLocks noGrp="1"/>
          </p:cNvSpPr>
          <p:nvPr>
            <p:ph type="body" idx="1"/>
          </p:nvPr>
        </p:nvSpPr>
        <p:spPr>
          <a:xfrm>
            <a:off x="838200" y="1304250"/>
            <a:ext cx="10515600" cy="51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C: regularization parameter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Higher value less regularization / more misclassification is allowed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Always positive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kernel: ‘linear’, ‘rbf’, ’poly’, ’sigmoid’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gamma : Kernel coefficient for ‘rbf’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How much each support vector impacts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Less value : more support vectors are selected 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slow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High Value: less support vectors are selected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Fast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Needs fine tuning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/>
              <a:t>NOTE: svm in optimization by default applies l2 regularization to keep coefficients small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 txBox="1">
            <a:spLocks noGrp="1"/>
          </p:cNvSpPr>
          <p:nvPr>
            <p:ph type="title"/>
          </p:nvPr>
        </p:nvSpPr>
        <p:spPr>
          <a:xfrm>
            <a:off x="725312" y="307445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 Nearest Neighbors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 txBox="1">
            <a:spLocks noGrp="1"/>
          </p:cNvSpPr>
          <p:nvPr>
            <p:ph type="title"/>
          </p:nvPr>
        </p:nvSpPr>
        <p:spPr>
          <a:xfrm>
            <a:off x="838200" y="187149"/>
            <a:ext cx="10515600" cy="901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 Nearest Neighbors (KNN)</a:t>
            </a:r>
            <a:endParaRPr/>
          </a:p>
        </p:txBody>
      </p:sp>
      <p:sp>
        <p:nvSpPr>
          <p:cNvPr id="273" name="Google Shape;273;p26"/>
          <p:cNvSpPr txBox="1">
            <a:spLocks noGrp="1"/>
          </p:cNvSpPr>
          <p:nvPr>
            <p:ph type="body" idx="1"/>
          </p:nvPr>
        </p:nvSpPr>
        <p:spPr>
          <a:xfrm>
            <a:off x="203199" y="1088282"/>
            <a:ext cx="6592711" cy="5639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Supervised or Un-supervised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Works by creating Tree using data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Tree gives closest points / neighbors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K-Neighbors are used for doing predictions for any new data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 number is given by user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</a:t>
            </a:r>
            <a:r>
              <a:rPr lang="en-US" b="1"/>
              <a:t>classification</a:t>
            </a:r>
            <a:r>
              <a:rPr lang="en-US"/>
              <a:t> majority class of K neighbors is taken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</a:t>
            </a:r>
            <a:r>
              <a:rPr lang="en-US" b="1"/>
              <a:t>regression</a:t>
            </a:r>
            <a:r>
              <a:rPr lang="en-US"/>
              <a:t> Mean of K neighbors is taken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Used for classification (binary and multi-class) &amp; Regression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Used for Un-supervised learning to understand the distribution of data and distance between neighbors</a:t>
            </a:r>
            <a:endParaRPr/>
          </a:p>
        </p:txBody>
      </p:sp>
      <p:pic>
        <p:nvPicPr>
          <p:cNvPr id="274" name="Google Shape;274;p26"/>
          <p:cNvPicPr preferRelativeResize="0"/>
          <p:nvPr/>
        </p:nvPicPr>
        <p:blipFill rotWithShape="1">
          <a:blip r:embed="rId3">
            <a:alphaModFix/>
          </a:blip>
          <a:srcRect r="2799"/>
          <a:stretch/>
        </p:blipFill>
        <p:spPr>
          <a:xfrm>
            <a:off x="6660446" y="1690688"/>
            <a:ext cx="5486400" cy="264316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6"/>
          <p:cNvSpPr txBox="1"/>
          <p:nvPr/>
        </p:nvSpPr>
        <p:spPr>
          <a:xfrm>
            <a:off x="6863644" y="4481689"/>
            <a:ext cx="5283626" cy="193899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 : denotes new points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1 : red color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0 : blue color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points class is predicted using majority class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neighbors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>
            <a:spLocks noGrp="1"/>
          </p:cNvSpPr>
          <p:nvPr>
            <p:ph type="title"/>
          </p:nvPr>
        </p:nvSpPr>
        <p:spPr>
          <a:xfrm>
            <a:off x="1119554" y="29442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Regression Task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Regression Task</a:t>
            </a:r>
            <a:endParaRPr/>
          </a:p>
        </p:txBody>
      </p:sp>
      <p:sp>
        <p:nvSpPr>
          <p:cNvPr id="286" name="Google Shape;286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Linear Regression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Multiple Linear Regression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Polynomial Regression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LASSO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RIDGE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</a:t>
            </a:r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Solvers in Logistic regression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u="sng">
                <a:solidFill>
                  <a:schemeClr val="hlink"/>
                </a:solidFill>
                <a:hlinkClick r:id="rId3"/>
              </a:rPr>
              <a:t>https://stackoverflow.com/questions/38640109/logistic-regression-python-solvers-definitions</a:t>
            </a:r>
            <a:r>
              <a:rPr lang="en-US" sz="1800"/>
              <a:t>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u="sng">
                <a:solidFill>
                  <a:schemeClr val="hlink"/>
                </a:solidFill>
                <a:hlinkClick r:id="rId4"/>
              </a:rPr>
              <a:t>https://scikit-learn.org/stable/modules/linear_model.html</a:t>
            </a:r>
            <a:r>
              <a:rPr lang="en-US" sz="1800"/>
              <a:t> 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1573</Words>
  <Application>Microsoft Office PowerPoint</Application>
  <PresentationFormat>Widescreen</PresentationFormat>
  <Paragraphs>301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Noto Sans Symbols</vt:lpstr>
      <vt:lpstr>Office Theme</vt:lpstr>
      <vt:lpstr>Basic Supervised Machine Learning Models</vt:lpstr>
      <vt:lpstr>Tasks in Supervised Learning</vt:lpstr>
      <vt:lpstr>Classification Task</vt:lpstr>
      <vt:lpstr>Classification Task</vt:lpstr>
      <vt:lpstr>Binary classification</vt:lpstr>
      <vt:lpstr>Multi Class Classification</vt:lpstr>
      <vt:lpstr>Classification Models</vt:lpstr>
      <vt:lpstr>Logistic Regression</vt:lpstr>
      <vt:lpstr>Logistic Regression (logit classifier/MaxEnt classifier)</vt:lpstr>
      <vt:lpstr>Logistic / Sigmoid Function</vt:lpstr>
      <vt:lpstr>Logistic Regression (logit classifier/MaxEnt classifier)</vt:lpstr>
      <vt:lpstr>Logistic Regression Parameters</vt:lpstr>
      <vt:lpstr>Naïve Bayes</vt:lpstr>
      <vt:lpstr>Probability</vt:lpstr>
      <vt:lpstr>Probability</vt:lpstr>
      <vt:lpstr>Naive Bayes</vt:lpstr>
      <vt:lpstr>Naive Bayes</vt:lpstr>
      <vt:lpstr>Data : Example of Naive Bayes</vt:lpstr>
      <vt:lpstr>Probabilities : Example of Naive Bayes</vt:lpstr>
      <vt:lpstr>Probabilities : Example of Naive Bayes</vt:lpstr>
      <vt:lpstr>Probabilities : Example of Naive Bayes</vt:lpstr>
      <vt:lpstr>Example of Naive Bayes</vt:lpstr>
      <vt:lpstr>Types of Naïve Bayes</vt:lpstr>
      <vt:lpstr>Support Vector Machine</vt:lpstr>
      <vt:lpstr>Support Vector Machines(SVM)</vt:lpstr>
      <vt:lpstr>Support Vector Machines(SVM)</vt:lpstr>
      <vt:lpstr>Support Vector Machines(SVM)</vt:lpstr>
      <vt:lpstr>SVM Kernel Trick</vt:lpstr>
      <vt:lpstr>SVM Parameters</vt:lpstr>
      <vt:lpstr>K Nearest Neighbors</vt:lpstr>
      <vt:lpstr>K Nearest Neighbors (KNN)</vt:lpstr>
      <vt:lpstr>Regression Task</vt:lpstr>
      <vt:lpstr>Regression Task</vt:lpstr>
      <vt:lpstr>Extra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Supervised Machine Learning Models</dc:title>
  <dc:creator>Lenovo</dc:creator>
  <cp:lastModifiedBy>admin</cp:lastModifiedBy>
  <cp:revision>2</cp:revision>
  <dcterms:created xsi:type="dcterms:W3CDTF">2021-06-11T04:29:35Z</dcterms:created>
  <dcterms:modified xsi:type="dcterms:W3CDTF">2026-06-24T06:53:28Z</dcterms:modified>
</cp:coreProperties>
</file>