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77" r:id="rId10"/>
    <p:sldId id="278" r:id="rId11"/>
    <p:sldId id="272" r:id="rId12"/>
    <p:sldId id="275" r:id="rId13"/>
    <p:sldId id="274" r:id="rId14"/>
    <p:sldId id="264" r:id="rId15"/>
    <p:sldId id="265" r:id="rId16"/>
    <p:sldId id="276" r:id="rId17"/>
    <p:sldId id="266" r:id="rId18"/>
    <p:sldId id="280" r:id="rId19"/>
    <p:sldId id="267" r:id="rId20"/>
    <p:sldId id="268" r:id="rId21"/>
    <p:sldId id="269" r:id="rId22"/>
    <p:sldId id="27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6rh9nGDq3IT0lMXSAjJGuyJHq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41012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2956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746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75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2131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3469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5397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6414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5428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1b184ad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1b184ad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395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6758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0180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449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430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0687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525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6590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confusion_matri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auto_examples/model_selection/plot_confusion_matrix.html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model_evaluation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260487/adjusted-rand-index-vs-adjusted-mutual-informati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Evaluation Metric For Machine Learning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 Metric for ML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Supervised Learning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Classification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Regression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Un-supervised Learning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Evaluation Metric For Supervised Learning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738"/>
            <a:ext cx="10515600" cy="1010750"/>
          </a:xfrm>
        </p:spPr>
        <p:txBody>
          <a:bodyPr/>
          <a:lstStyle/>
          <a:p>
            <a:r>
              <a:rPr lang="en-US" dirty="0"/>
              <a:t>Classification Task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33488"/>
            <a:ext cx="10515600" cy="49434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Classifier gives probability of each class </a:t>
            </a:r>
          </a:p>
          <a:p>
            <a:r>
              <a:rPr lang="en-US" dirty="0" smtClean="0"/>
              <a:t>Based on threshold classifier decides the output label </a:t>
            </a:r>
          </a:p>
          <a:p>
            <a:r>
              <a:rPr lang="en-US" dirty="0" smtClean="0"/>
              <a:t>Threshold is always between 0 to 1</a:t>
            </a:r>
          </a:p>
          <a:p>
            <a:r>
              <a:rPr lang="en-US" dirty="0" smtClean="0"/>
              <a:t>Ex. </a:t>
            </a:r>
          </a:p>
          <a:p>
            <a:r>
              <a:rPr lang="en-US" dirty="0" smtClean="0"/>
              <a:t>Not a Cancer or Cancer </a:t>
            </a:r>
            <a:r>
              <a:rPr lang="en-US" dirty="0" smtClean="0">
                <a:sym typeface="Wingdings" panose="05000000000000000000" pitchFamily="2" charset="2"/>
              </a:rPr>
              <a:t> probabilities = [0.9,0.1] </a:t>
            </a:r>
          </a:p>
          <a:p>
            <a:endParaRPr lang="en-US" dirty="0" smtClean="0"/>
          </a:p>
          <a:p>
            <a:r>
              <a:rPr lang="en-US" dirty="0" smtClean="0"/>
              <a:t>Outputs need to be evaluated to improve the performance of the classifier</a:t>
            </a:r>
          </a:p>
          <a:p>
            <a:endParaRPr lang="en-US" dirty="0"/>
          </a:p>
          <a:p>
            <a:r>
              <a:rPr lang="en-US" dirty="0" smtClean="0"/>
              <a:t>NOTE: Sometimes threshold is also known as operating 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06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Classification Algorithm Evaluation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598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Confusion Matrix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https://scikit-learn.org/stable/modules/generated/sklearn.metrics.confusion_matrix.html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X Axis – Predicted labels / values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 Axis – Actual labels / values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l="18527" t="3704" r="32418" b="-3705"/>
          <a:stretch/>
        </p:blipFill>
        <p:spPr>
          <a:xfrm>
            <a:off x="7127630" y="3305908"/>
            <a:ext cx="3903785" cy="3117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Confusion matrix Example</a:t>
            </a:r>
            <a:br>
              <a:rPr lang="en-US"/>
            </a:br>
            <a:r>
              <a:rPr lang="en-US" sz="2800"/>
              <a:t>( Binary Classification)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24718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Y_actual =       [ 0 , 0 , 0, 0,  1, 1, 1 ,1]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Y_predicted = [ 1,  0 , 0, 0,  0, 1, 0, 1]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True Positive : Y_actual == 1 and  Y_predict ==1 :: </a:t>
            </a:r>
            <a:r>
              <a:rPr lang="en-US">
                <a:solidFill>
                  <a:srgbClr val="00B050"/>
                </a:solidFill>
              </a:rPr>
              <a:t>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True Negative : Y_actual == 0 and  Y_predict ==0 :: </a:t>
            </a:r>
            <a:r>
              <a:rPr lang="en-US">
                <a:solidFill>
                  <a:srgbClr val="00B050"/>
                </a:solidFill>
              </a:rPr>
              <a:t>??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False Positive : Y_actual == 0 and  Y_predict ==1 :: </a:t>
            </a:r>
            <a:r>
              <a:rPr lang="en-US">
                <a:solidFill>
                  <a:srgbClr val="00B050"/>
                </a:solidFill>
              </a:rPr>
              <a:t>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False Negative : Y_actual == 1 and  Y_predict ==0 :: </a:t>
            </a:r>
            <a:r>
              <a:rPr lang="en-US">
                <a:solidFill>
                  <a:srgbClr val="00B050"/>
                </a:solidFill>
              </a:rPr>
              <a:t>??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l="18527" t="3704" r="32418" b="-3705"/>
          <a:stretch/>
        </p:blipFill>
        <p:spPr>
          <a:xfrm>
            <a:off x="7631722" y="266639"/>
            <a:ext cx="3903785" cy="3117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838200" y="644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Confusion matrix Example</a:t>
            </a:r>
            <a:br>
              <a:rPr lang="en-US"/>
            </a:br>
            <a:r>
              <a:rPr lang="en-US" sz="2800"/>
              <a:t>( Multi Class-Classification)</a:t>
            </a:r>
            <a:endParaRPr/>
          </a:p>
        </p:txBody>
      </p:sp>
      <p:pic>
        <p:nvPicPr>
          <p:cNvPr id="117" name="Google Shape;11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414954"/>
            <a:ext cx="5257800" cy="3627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39984" y="2414954"/>
            <a:ext cx="5552016" cy="37830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1160584" y="6142892"/>
            <a:ext cx="9964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Ref: </a:t>
            </a:r>
            <a:r>
              <a:rPr lang="en-US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https://scikit-learn.org/stable/auto_examples/model_selection/plot_confusion_matrix.html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838200" y="1491624"/>
            <a:ext cx="964223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Normalized confusion matrix provides better understanding in Multi-class Classification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classes are detected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are not detected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Classification Algorithm Evaluation</a:t>
            </a:r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Recall  = TP / (TP + FN)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Precision = TP / (TP + FP)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F1 Score = 2 * Precision * Recall / (Precision + Recall)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Accuracy = (TP + TN ) / Total Samples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98625" y="126946"/>
            <a:ext cx="105156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100"/>
              <a:t>Classification Algorithm Evaluation</a:t>
            </a:r>
            <a:endParaRPr sz="4100"/>
          </a:p>
        </p:txBody>
      </p:sp>
      <p:sp>
        <p:nvSpPr>
          <p:cNvPr id="132" name="Google Shape;132;p8"/>
          <p:cNvSpPr txBox="1">
            <a:spLocks noGrp="1"/>
          </p:cNvSpPr>
          <p:nvPr>
            <p:ph type="body" idx="1"/>
          </p:nvPr>
        </p:nvSpPr>
        <p:spPr>
          <a:xfrm>
            <a:off x="98625" y="1063300"/>
            <a:ext cx="7455600" cy="53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Log Loss (Cross-Entropy)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Tells you how confident the model is in assigning a class to an observation.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any given problem, a lower log-loss value means better predictions.</a:t>
            </a:r>
            <a:endParaRPr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Log is taken to give </a:t>
            </a:r>
            <a:endParaRPr/>
          </a:p>
          <a:p>
            <a:pPr marL="914400" lvl="1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less penalty to less difference </a:t>
            </a:r>
            <a:endParaRPr/>
          </a:p>
          <a:p>
            <a:pPr marL="914400" lvl="1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And more penalty when more difference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values of log loss are negative</a:t>
            </a:r>
            <a:endParaRPr/>
          </a:p>
          <a:p>
            <a:pPr marL="914400" lvl="1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min = -inf ( log(0))</a:t>
            </a:r>
            <a:endParaRPr/>
          </a:p>
          <a:p>
            <a:pPr marL="914400" lvl="1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max = 0 ( log(1))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320998" y="6364900"/>
            <a:ext cx="779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Ref: </a:t>
            </a:r>
            <a:r>
              <a:rPr lang="en-US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https://scikit-learn.org/stable/modules/model_evaluation.html#log-loss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4">
            <a:alphaModFix/>
          </a:blip>
          <a:srcRect r="43013"/>
          <a:stretch/>
        </p:blipFill>
        <p:spPr>
          <a:xfrm>
            <a:off x="7739525" y="1121585"/>
            <a:ext cx="4376276" cy="518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118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1b184ad72_0_0"/>
          <p:cNvSpPr txBox="1">
            <a:spLocks noGrp="1"/>
          </p:cNvSpPr>
          <p:nvPr>
            <p:ph type="title"/>
          </p:nvPr>
        </p:nvSpPr>
        <p:spPr>
          <a:xfrm>
            <a:off x="838200" y="1186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/>
              <a:t>Classification Algorithm Evaluation</a:t>
            </a:r>
            <a:endParaRPr/>
          </a:p>
        </p:txBody>
      </p:sp>
      <p:sp>
        <p:nvSpPr>
          <p:cNvPr id="140" name="Google Shape;140;g2e1b184ad72_0_0"/>
          <p:cNvSpPr txBox="1">
            <a:spLocks noGrp="1"/>
          </p:cNvSpPr>
          <p:nvPr>
            <p:ph type="body" idx="1"/>
          </p:nvPr>
        </p:nvSpPr>
        <p:spPr>
          <a:xfrm>
            <a:off x="838200" y="1270000"/>
            <a:ext cx="10868100" cy="535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Log Loss (Cross-Entropy)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Average of negative log of corrected probabilities.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log loss values are negative so, we take negative log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Corrected probability</a:t>
            </a:r>
            <a:endParaRPr/>
          </a:p>
          <a:p>
            <a:pPr marL="914400" lvl="1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y=1 then p</a:t>
            </a:r>
            <a:endParaRPr/>
          </a:p>
          <a:p>
            <a:pPr marL="914400" lvl="1" indent="-3429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else y=0 then (1-p)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Log loss = - 1/N * sum( yi * log(pi) + (1-yi) * log(1-pi))</a:t>
            </a:r>
            <a:endParaRPr/>
          </a:p>
          <a:p>
            <a:pPr marL="914400" lvl="1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Pi = probability of 1</a:t>
            </a:r>
            <a:endParaRPr/>
          </a:p>
          <a:p>
            <a:pPr marL="914400" lvl="1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Yi = actual output 0/1.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5864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3029"/>
          </a:xfrm>
        </p:spPr>
        <p:txBody>
          <a:bodyPr/>
          <a:lstStyle/>
          <a:p>
            <a:r>
              <a:rPr lang="en-US" dirty="0"/>
              <a:t>Classification Algorithm Evaluation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107" y="1348154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ROC </a:t>
            </a:r>
            <a:r>
              <a:rPr lang="en-US" dirty="0" smtClean="0"/>
              <a:t>(Receiver </a:t>
            </a:r>
            <a:r>
              <a:rPr lang="en-US" dirty="0"/>
              <a:t>Operating Characteristic Curve</a:t>
            </a:r>
            <a:r>
              <a:rPr lang="en-US" dirty="0" smtClean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Graph of values of true positive rate and false positive rate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TPR and FPR are calculated for various thresholds used by classifier for taking classification decision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AUC (Area Under Curve for ROC Curve)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Area under the ROC curve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ROC and AUC used when </a:t>
            </a:r>
          </a:p>
          <a:p>
            <a:pPr marL="114300" indent="0">
              <a:buNone/>
            </a:pPr>
            <a:r>
              <a:rPr lang="en-US" dirty="0" smtClean="0"/>
              <a:t>Dataset is balanced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684" y="2960274"/>
            <a:ext cx="5544324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9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Algorithm Evaluation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492" y="180217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Precision Recall Curve</a:t>
            </a:r>
          </a:p>
          <a:p>
            <a:pPr lvl="1"/>
            <a:r>
              <a:rPr lang="en-US" dirty="0" smtClean="0"/>
              <a:t>Graph of various precision and recall values for different thresholds</a:t>
            </a:r>
          </a:p>
          <a:p>
            <a:endParaRPr lang="en-US" dirty="0" smtClean="0"/>
          </a:p>
          <a:p>
            <a:r>
              <a:rPr lang="en-US" dirty="0" smtClean="0"/>
              <a:t>Average Precision Score</a:t>
            </a:r>
          </a:p>
          <a:p>
            <a:pPr lvl="1"/>
            <a:r>
              <a:rPr lang="en-US" dirty="0" smtClean="0"/>
              <a:t>Area under the curve of </a:t>
            </a:r>
          </a:p>
          <a:p>
            <a:pPr marL="571500" lvl="1" indent="0">
              <a:buNone/>
            </a:pPr>
            <a:r>
              <a:rPr lang="en-US" dirty="0" smtClean="0"/>
              <a:t>Precision Recall Curve is known as </a:t>
            </a:r>
          </a:p>
          <a:p>
            <a:pPr marL="571500" lvl="1" indent="0">
              <a:buNone/>
            </a:pPr>
            <a:r>
              <a:rPr lang="en-US" dirty="0" smtClean="0"/>
              <a:t>average precision score</a:t>
            </a:r>
            <a:endParaRPr lang="en-IN" dirty="0" smtClean="0"/>
          </a:p>
          <a:p>
            <a:pPr marL="571500" lvl="1" indent="0">
              <a:buNone/>
            </a:pPr>
            <a:endParaRPr lang="en-US" dirty="0"/>
          </a:p>
          <a:p>
            <a:r>
              <a:rPr lang="en-US" dirty="0" smtClean="0"/>
              <a:t>Usage</a:t>
            </a:r>
          </a:p>
          <a:p>
            <a:pPr lvl="1"/>
            <a:r>
              <a:rPr lang="en-US" dirty="0" smtClean="0"/>
              <a:t>Precision Recall Curve and </a:t>
            </a:r>
          </a:p>
          <a:p>
            <a:pPr marL="571500" lvl="1" indent="0">
              <a:buNone/>
            </a:pPr>
            <a:r>
              <a:rPr lang="en-US" dirty="0" smtClean="0"/>
              <a:t>Average Precision is used when </a:t>
            </a:r>
          </a:p>
          <a:p>
            <a:pPr marL="571500" lvl="1" indent="0">
              <a:buNone/>
            </a:pPr>
            <a:r>
              <a:rPr lang="en-US" dirty="0" smtClean="0"/>
              <a:t>Dataset is imbalanced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98" y="3028416"/>
            <a:ext cx="5391902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54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738"/>
            <a:ext cx="10515600" cy="1010750"/>
          </a:xfrm>
        </p:spPr>
        <p:txBody>
          <a:bodyPr/>
          <a:lstStyle/>
          <a:p>
            <a:r>
              <a:rPr lang="en-US" dirty="0" smtClean="0"/>
              <a:t>Regression </a:t>
            </a:r>
            <a:r>
              <a:rPr lang="en-US" dirty="0"/>
              <a:t>Task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33488"/>
            <a:ext cx="10515600" cy="4943475"/>
          </a:xfrm>
        </p:spPr>
        <p:txBody>
          <a:bodyPr/>
          <a:lstStyle/>
          <a:p>
            <a:r>
              <a:rPr lang="en-US" dirty="0" err="1" smtClean="0"/>
              <a:t>Regressor</a:t>
            </a:r>
            <a:r>
              <a:rPr lang="en-US" dirty="0" smtClean="0"/>
              <a:t> gives a numeric value</a:t>
            </a:r>
          </a:p>
          <a:p>
            <a:endParaRPr lang="en-US" dirty="0" smtClean="0"/>
          </a:p>
          <a:p>
            <a:r>
              <a:rPr lang="en-US" dirty="0" smtClean="0"/>
              <a:t>Outputs need to be evaluated to improve the performance of the </a:t>
            </a:r>
            <a:r>
              <a:rPr lang="en-US" dirty="0" err="1" smtClean="0"/>
              <a:t>regressor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8335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Regression Task ( Prediction of Number)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381000" y="180816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Mean Absolute Error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Root Mean Squared Error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Coefficient of </a:t>
            </a:r>
            <a:r>
              <a:rPr lang="en-US" dirty="0" smtClean="0"/>
              <a:t>Determination / </a:t>
            </a:r>
            <a:r>
              <a:rPr lang="en-US" dirty="0"/>
              <a:t>R-squared (r^2</a:t>
            </a:r>
            <a:r>
              <a:rPr lang="en-US" dirty="0" smtClean="0"/>
              <a:t>)  **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** NOT for time series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41" name="Google Shape;141;p9" descr="Evaluation Metrics - MA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0238" y="1690688"/>
            <a:ext cx="3000375" cy="85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9" descr="RMS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8261" y="2800960"/>
            <a:ext cx="3114675" cy="85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9" descr="Evaluation Metric R-Squa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1028" y="4367700"/>
            <a:ext cx="4558449" cy="825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>
            <a:spLocks noGrp="1"/>
          </p:cNvSpPr>
          <p:nvPr>
            <p:ph type="ctrTitle"/>
          </p:nvPr>
        </p:nvSpPr>
        <p:spPr>
          <a:xfrm>
            <a:off x="1324707" y="189608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Evaluation Metric For </a:t>
            </a:r>
            <a:br>
              <a:rPr lang="en-US" dirty="0"/>
            </a:br>
            <a:r>
              <a:rPr lang="en-US" dirty="0"/>
              <a:t>Un-Supervised Learning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Evaluation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Clustering algorithms group the data together</a:t>
            </a:r>
          </a:p>
          <a:p>
            <a:r>
              <a:rPr lang="en-US" dirty="0" smtClean="0"/>
              <a:t>In training there is no label present</a:t>
            </a:r>
          </a:p>
          <a:p>
            <a:r>
              <a:rPr lang="en-US" dirty="0" smtClean="0"/>
              <a:t>They assign the group numbers </a:t>
            </a:r>
            <a:r>
              <a:rPr lang="en-US" b="1" u="sng" dirty="0" smtClean="0"/>
              <a:t>randomly</a:t>
            </a:r>
            <a:r>
              <a:rPr lang="en-US" dirty="0" smtClean="0"/>
              <a:t> to the groups</a:t>
            </a:r>
          </a:p>
          <a:p>
            <a:pPr lvl="1"/>
            <a:r>
              <a:rPr lang="en-US" dirty="0" smtClean="0"/>
              <a:t>Group number is not fixed , its not like class</a:t>
            </a:r>
          </a:p>
          <a:p>
            <a:pPr lvl="1"/>
            <a:r>
              <a:rPr lang="en-US" dirty="0" smtClean="0"/>
              <a:t>So, same algorithms at different times may give different number to same group</a:t>
            </a:r>
          </a:p>
          <a:p>
            <a:pPr lvl="1"/>
            <a:r>
              <a:rPr lang="en-US" dirty="0" smtClean="0"/>
              <a:t>So, two different clustering algorithms may give a different number to the same group.</a:t>
            </a:r>
          </a:p>
          <a:p>
            <a:r>
              <a:rPr lang="en-US" dirty="0" smtClean="0"/>
              <a:t>Evaluating clustering is more challenging than supervised learning because no labels in training and group numbers are also not fixed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22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>
            <a:spLocks noGrp="1"/>
          </p:cNvSpPr>
          <p:nvPr>
            <p:ph type="title"/>
          </p:nvPr>
        </p:nvSpPr>
        <p:spPr>
          <a:xfrm>
            <a:off x="457201" y="212727"/>
            <a:ext cx="11445766" cy="94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Evaluation Parameters </a:t>
            </a:r>
            <a:r>
              <a:rPr lang="en-US" sz="2800" dirty="0"/>
              <a:t>(Quality Measures: Don’t require Labels)</a:t>
            </a:r>
            <a:endParaRPr dirty="0"/>
          </a:p>
        </p:txBody>
      </p:sp>
      <p:sp>
        <p:nvSpPr>
          <p:cNvPr id="155" name="Google Shape;155;p11"/>
          <p:cNvSpPr txBox="1">
            <a:spLocks noGrp="1"/>
          </p:cNvSpPr>
          <p:nvPr>
            <p:ph type="body" idx="1"/>
          </p:nvPr>
        </p:nvSpPr>
        <p:spPr>
          <a:xfrm>
            <a:off x="630621" y="1184033"/>
            <a:ext cx="10723179" cy="554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Silhouette Coefficient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uses: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intra-cluster distance for each sample (cohesion)(a)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of distances between samples within the cluster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nearest-cluster distance for each sample (separation)(b)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of distance between any sample to nearest cluster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(b-a) / max(</a:t>
            </a:r>
            <a:r>
              <a:rPr lang="en-US" dirty="0" err="1"/>
              <a:t>a,b</a:t>
            </a:r>
            <a:r>
              <a:rPr lang="en-US" dirty="0"/>
              <a:t>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The best value is 1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the worst value is -1.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Values near 0 indicate overlapping clusters.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Negative values generally indicate wrong cluster for the sample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It shows compactness so, complex shape’s compactness cannot be represented properly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Extra: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Davies-</a:t>
            </a:r>
            <a:r>
              <a:rPr lang="en-US" b="1" dirty="0" err="1"/>
              <a:t>Bouldin</a:t>
            </a:r>
            <a:r>
              <a:rPr lang="en-US" b="1" dirty="0"/>
              <a:t> score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 err="1"/>
              <a:t>Calinski</a:t>
            </a:r>
            <a:r>
              <a:rPr lang="en-US" b="1" dirty="0"/>
              <a:t> and </a:t>
            </a:r>
            <a:r>
              <a:rPr lang="en-US" b="1" dirty="0" err="1"/>
              <a:t>Harabasz</a:t>
            </a:r>
            <a:r>
              <a:rPr lang="en-US" b="1" dirty="0"/>
              <a:t> </a:t>
            </a:r>
            <a:r>
              <a:rPr lang="en-US" b="1" dirty="0" smtClean="0"/>
              <a:t>score</a:t>
            </a:r>
            <a:endParaRPr dirty="0"/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439" y="2672100"/>
            <a:ext cx="2351033" cy="143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81894"/>
            <a:ext cx="10515600" cy="1325563"/>
          </a:xfrm>
        </p:spPr>
        <p:txBody>
          <a:bodyPr/>
          <a:lstStyle/>
          <a:p>
            <a:r>
              <a:rPr lang="en-US" dirty="0" smtClean="0"/>
              <a:t>Extra Un-supervised Learning</a:t>
            </a:r>
            <a:br>
              <a:rPr lang="en-US" dirty="0" smtClean="0"/>
            </a:br>
            <a:r>
              <a:rPr lang="en-US" dirty="0" smtClean="0"/>
              <a:t>Evaluation Measures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19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398585" y="365125"/>
            <a:ext cx="1095521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Evaluation Parameters </a:t>
            </a:r>
            <a:r>
              <a:rPr lang="en-US" sz="2800" dirty="0"/>
              <a:t>(Compare two clustering strategies)</a:t>
            </a:r>
            <a:endParaRPr dirty="0"/>
          </a:p>
        </p:txBody>
      </p:sp>
      <p:sp>
        <p:nvSpPr>
          <p:cNvPr id="162" name="Google Shape;162;p12"/>
          <p:cNvSpPr txBox="1">
            <a:spLocks noGrp="1"/>
          </p:cNvSpPr>
          <p:nvPr>
            <p:ph type="body" idx="1"/>
          </p:nvPr>
        </p:nvSpPr>
        <p:spPr>
          <a:xfrm>
            <a:off x="838200" y="1552074"/>
            <a:ext cx="10515600" cy="496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Mutual Information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Measures information shared by two clustering algorithms (ex. true clustering and current clustering)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Adjusted Mutual Information (AMI)</a:t>
            </a:r>
            <a:endParaRPr b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 value adjusted for chance ( means different combinations)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Rand Index ( Based on Mr. Rand 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Measure similarity between two clustering algorithms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Adjusted Rand Index (ARI)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RI value is adjusted for chance ( means different combinations)</a:t>
            </a:r>
            <a:endParaRPr/>
          </a:p>
          <a:p>
            <a:pPr marL="228600" lvl="0" indent="-12287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/>
              <a:t>Link ARI vs AMI :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https://stats.stackexchange.com/questions/260487/adjusted-rand-index-vs-adjusted-mutual-information</a:t>
            </a:r>
            <a:r>
              <a:rPr lang="en-US" sz="1800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433754" y="365125"/>
            <a:ext cx="1092004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Evaluation Parameters </a:t>
            </a:r>
            <a:r>
              <a:rPr lang="en-US" sz="2800" dirty="0"/>
              <a:t>(Compare two clustering strategies)</a:t>
            </a:r>
            <a:endParaRPr dirty="0"/>
          </a:p>
        </p:txBody>
      </p:sp>
      <p:sp>
        <p:nvSpPr>
          <p:cNvPr id="168" name="Google Shape;16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ClustAlgo1 = [1,1,1,2,2]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ClustAlgo2 = [2,1,2,1,1]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Mutual Information </a:t>
            </a:r>
            <a:r>
              <a:rPr lang="en-US"/>
              <a:t>:  </a:t>
            </a:r>
            <a:r>
              <a:rPr lang="en-US" b="1"/>
              <a:t>1 labels match exactly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Adjusted MI </a:t>
            </a:r>
            <a:r>
              <a:rPr lang="en-US"/>
              <a:t>: Adjust the cluster numbers so that max match is possible.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lets switch 1 and 2 in ClustAlgo2 = [1,2,1,2,2]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there are </a:t>
            </a:r>
            <a:r>
              <a:rPr lang="en-US" b="1"/>
              <a:t>4 labels matching!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Normalized MI: </a:t>
            </a:r>
            <a:r>
              <a:rPr lang="en-US"/>
              <a:t>4/5 =</a:t>
            </a:r>
            <a:r>
              <a:rPr lang="en-US" b="1"/>
              <a:t> 0.8 match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body" idx="1"/>
          </p:nvPr>
        </p:nvSpPr>
        <p:spPr>
          <a:xfrm>
            <a:off x="838200" y="1478778"/>
            <a:ext cx="10515600" cy="4764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Homogeneity</a:t>
            </a:r>
            <a:endParaRPr b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all of its clusters contain only data points which are members of a single label from actual data.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Completeness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all the data points that are members of a given class are elements of the same cluster.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V-measure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harmonic mean between homogeneity and completeness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used for comparing two clustering algorithms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838200" y="224485"/>
            <a:ext cx="1127234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Parameters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(Require Labels)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>
            <a:spLocks noGrp="1"/>
          </p:cNvSpPr>
          <p:nvPr>
            <p:ph type="title"/>
          </p:nvPr>
        </p:nvSpPr>
        <p:spPr>
          <a:xfrm>
            <a:off x="838200" y="118575"/>
            <a:ext cx="10515600" cy="10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 Parameters</a:t>
            </a:r>
            <a:r>
              <a:rPr lang="en-US" sz="2400"/>
              <a:t> </a:t>
            </a:r>
            <a:r>
              <a:rPr lang="en-US" sz="3600"/>
              <a:t>(Require Labels)</a:t>
            </a:r>
            <a:endParaRPr/>
          </a:p>
        </p:txBody>
      </p:sp>
      <p:sp>
        <p:nvSpPr>
          <p:cNvPr id="186" name="Google Shape;186;p15"/>
          <p:cNvSpPr txBox="1">
            <a:spLocks noGrp="1"/>
          </p:cNvSpPr>
          <p:nvPr>
            <p:ph type="body" idx="1"/>
          </p:nvPr>
        </p:nvSpPr>
        <p:spPr>
          <a:xfrm>
            <a:off x="545350" y="1001050"/>
            <a:ext cx="11385300" cy="5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lang="en-US" sz="3500"/>
              <a:t>Example: there 6 samples</a:t>
            </a:r>
            <a:endParaRPr sz="3500"/>
          </a:p>
          <a:p>
            <a:pPr marL="228600" lvl="0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lang="en-US" sz="3500"/>
              <a:t>Actual_labels = [</a:t>
            </a:r>
            <a:r>
              <a:rPr lang="en-US" sz="3500">
                <a:highlight>
                  <a:srgbClr val="93C47D"/>
                </a:highlight>
              </a:rPr>
              <a:t>1,2,3,4</a:t>
            </a:r>
            <a:r>
              <a:rPr lang="en-US" sz="3500"/>
              <a:t>,</a:t>
            </a:r>
            <a:r>
              <a:rPr lang="en-US" sz="3500">
                <a:highlight>
                  <a:srgbClr val="F6B26B"/>
                </a:highlight>
              </a:rPr>
              <a:t>5,6</a:t>
            </a:r>
            <a:r>
              <a:rPr lang="en-US" sz="3500"/>
              <a:t>]</a:t>
            </a:r>
            <a:endParaRPr sz="3500"/>
          </a:p>
          <a:p>
            <a:pPr marL="228600" lvl="0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lang="en-US" sz="3500"/>
              <a:t>ClusterAlgo1 = [</a:t>
            </a:r>
            <a:r>
              <a:rPr lang="en-US" sz="3500">
                <a:highlight>
                  <a:srgbClr val="93C47D"/>
                </a:highlight>
              </a:rPr>
              <a:t>1</a:t>
            </a:r>
            <a:r>
              <a:rPr lang="en-US" sz="3500"/>
              <a:t>,</a:t>
            </a:r>
            <a:r>
              <a:rPr lang="en-US" sz="3500">
                <a:highlight>
                  <a:srgbClr val="F6B26B"/>
                </a:highlight>
              </a:rPr>
              <a:t>2</a:t>
            </a:r>
            <a:r>
              <a:rPr lang="en-US" sz="3500"/>
              <a:t>,</a:t>
            </a:r>
            <a:r>
              <a:rPr lang="en-US" sz="3500">
                <a:highlight>
                  <a:srgbClr val="93C47D"/>
                </a:highlight>
              </a:rPr>
              <a:t>3</a:t>
            </a:r>
            <a:r>
              <a:rPr lang="en-US" sz="3500"/>
              <a:t>,</a:t>
            </a:r>
            <a:r>
              <a:rPr lang="en-US" sz="3500">
                <a:highlight>
                  <a:srgbClr val="F6B26B"/>
                </a:highlight>
              </a:rPr>
              <a:t>4</a:t>
            </a:r>
            <a:r>
              <a:rPr lang="en-US" sz="3500"/>
              <a:t>,</a:t>
            </a:r>
            <a:r>
              <a:rPr lang="en-US" sz="3500">
                <a:highlight>
                  <a:srgbClr val="93C47D"/>
                </a:highlight>
              </a:rPr>
              <a:t>5</a:t>
            </a:r>
            <a:r>
              <a:rPr lang="en-US" sz="3500"/>
              <a:t>,</a:t>
            </a:r>
            <a:r>
              <a:rPr lang="en-US" sz="3500">
                <a:highlight>
                  <a:srgbClr val="F6B26B"/>
                </a:highlight>
              </a:rPr>
              <a:t>6</a:t>
            </a:r>
            <a:r>
              <a:rPr lang="en-US" sz="3500"/>
              <a:t>]</a:t>
            </a:r>
            <a:endParaRPr sz="3500"/>
          </a:p>
          <a:p>
            <a:pPr marL="685800" lvl="1" indent="-273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/>
              <a:t>Low homogeneity and low completeness</a:t>
            </a:r>
            <a:endParaRPr sz="3100"/>
          </a:p>
          <a:p>
            <a:pPr marL="228600" lvl="0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lang="en-US" sz="3500"/>
              <a:t>ClusterAlgo2 = [</a:t>
            </a:r>
            <a:r>
              <a:rPr lang="en-US" sz="3500">
                <a:highlight>
                  <a:srgbClr val="93C47D"/>
                </a:highlight>
              </a:rPr>
              <a:t>1,2</a:t>
            </a:r>
            <a:r>
              <a:rPr lang="en-US" sz="3500"/>
              <a:t>,</a:t>
            </a:r>
            <a:r>
              <a:rPr lang="en-US" sz="3500">
                <a:highlight>
                  <a:srgbClr val="93C47D"/>
                </a:highlight>
              </a:rPr>
              <a:t>3</a:t>
            </a:r>
            <a:r>
              <a:rPr lang="en-US" sz="3500"/>
              <a:t>,</a:t>
            </a:r>
            <a:r>
              <a:rPr lang="en-US" sz="3500">
                <a:highlight>
                  <a:srgbClr val="3C78D8"/>
                </a:highlight>
              </a:rPr>
              <a:t>4,</a:t>
            </a:r>
            <a:r>
              <a:rPr lang="en-US" sz="3500">
                <a:highlight>
                  <a:srgbClr val="F6B26B"/>
                </a:highlight>
              </a:rPr>
              <a:t>5,6</a:t>
            </a:r>
            <a:r>
              <a:rPr lang="en-US" sz="3500"/>
              <a:t>] </a:t>
            </a:r>
            <a:endParaRPr sz="3500"/>
          </a:p>
          <a:p>
            <a:pPr marL="685800" lvl="1" indent="-273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/>
              <a:t>high homogeneity but low completeness bcz data of class 1 split in two clusters</a:t>
            </a:r>
            <a:endParaRPr sz="3100"/>
          </a:p>
          <a:p>
            <a:pPr marL="228600" lvl="0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lang="en-US" sz="3500"/>
              <a:t>ClusterAlgo3 = [</a:t>
            </a:r>
            <a:r>
              <a:rPr lang="en-US" sz="3500">
                <a:highlight>
                  <a:srgbClr val="6D9EEB"/>
                </a:highlight>
              </a:rPr>
              <a:t>1,2,3,4</a:t>
            </a:r>
            <a:r>
              <a:rPr lang="en-US" sz="3500"/>
              <a:t>,</a:t>
            </a:r>
            <a:r>
              <a:rPr lang="en-US" sz="3500">
                <a:highlight>
                  <a:srgbClr val="93C47D"/>
                </a:highlight>
              </a:rPr>
              <a:t>5</a:t>
            </a:r>
            <a:r>
              <a:rPr lang="en-US" sz="3500"/>
              <a:t>,</a:t>
            </a:r>
            <a:r>
              <a:rPr lang="en-US" sz="3500">
                <a:highlight>
                  <a:srgbClr val="F6B26B"/>
                </a:highlight>
              </a:rPr>
              <a:t>6</a:t>
            </a:r>
            <a:r>
              <a:rPr lang="en-US" sz="3500"/>
              <a:t>]</a:t>
            </a:r>
            <a:endParaRPr sz="3500"/>
          </a:p>
          <a:p>
            <a:pPr marL="685800" lvl="1" indent="-273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/>
              <a:t>Completeness is there for class 1 but less for class 2</a:t>
            </a:r>
            <a:endParaRPr sz="3100"/>
          </a:p>
          <a:p>
            <a:pPr marL="685800" lvl="1" indent="-273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lang="en-US" sz="3100"/>
              <a:t>Homogeneity is very high</a:t>
            </a:r>
            <a:endParaRPr sz="3100"/>
          </a:p>
        </p:txBody>
      </p:sp>
    </p:spTree>
    <p:extLst>
      <p:ext uri="{BB962C8B-B14F-4D97-AF65-F5344CB8AC3E}">
        <p14:creationId xmlns:p14="http://schemas.microsoft.com/office/powerpoint/2010/main" val="15608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1034</Words>
  <Application>Microsoft Office PowerPoint</Application>
  <PresentationFormat>Widescreen</PresentationFormat>
  <Paragraphs>177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Evaluation Metric For Machine Learning</vt:lpstr>
      <vt:lpstr>Evaluation Metric for ML</vt:lpstr>
      <vt:lpstr>Evaluation Metric For Supervised Learning</vt:lpstr>
      <vt:lpstr>Classification Task</vt:lpstr>
      <vt:lpstr>Classification Algorithm Evaluation</vt:lpstr>
      <vt:lpstr>Confusion matrix Example ( Binary Classification)</vt:lpstr>
      <vt:lpstr>Confusion matrix Example ( Multi Class-Classification)</vt:lpstr>
      <vt:lpstr>Classification Algorithm Evaluation</vt:lpstr>
      <vt:lpstr>Classification Algorithm Evaluation</vt:lpstr>
      <vt:lpstr>Classification Algorithm Evaluation</vt:lpstr>
      <vt:lpstr>Classification Algorithm Evaluation </vt:lpstr>
      <vt:lpstr>Classification Algorithm Evaluation </vt:lpstr>
      <vt:lpstr>Regression Task</vt:lpstr>
      <vt:lpstr>Regression Task ( Prediction of Number)</vt:lpstr>
      <vt:lpstr>Evaluation Metric For  Un-Supervised Learning</vt:lpstr>
      <vt:lpstr>Clustering Evaluation</vt:lpstr>
      <vt:lpstr>Evaluation Parameters (Quality Measures: Don’t require Labels)</vt:lpstr>
      <vt:lpstr>Extra Un-supervised Learning Evaluation Measures</vt:lpstr>
      <vt:lpstr>Evaluation Parameters (Compare two clustering strategies)</vt:lpstr>
      <vt:lpstr>Evaluation Parameters (Compare two clustering strategies)</vt:lpstr>
      <vt:lpstr>PowerPoint Presentation</vt:lpstr>
      <vt:lpstr>Evaluation Parameters (Require Labels)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Metric For Machine Learning</dc:title>
  <dc:creator>Lenovo</dc:creator>
  <cp:lastModifiedBy>cdacstaff</cp:lastModifiedBy>
  <cp:revision>61</cp:revision>
  <dcterms:created xsi:type="dcterms:W3CDTF">2021-05-25T04:24:48Z</dcterms:created>
  <dcterms:modified xsi:type="dcterms:W3CDTF">2025-05-22T11:04:49Z</dcterms:modified>
</cp:coreProperties>
</file>