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aZ/RNBG0OPtImBTUPRB3M4vpf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media.geeksforgeeks.org/wp-content/uploads/20210707140912/Bagging.p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neptune.ai/blog/when-to-choose-catboost-over-xgboost-or-lightgbm" TargetMode="External"/><Relationship Id="rId4" Type="http://schemas.openxmlformats.org/officeDocument/2006/relationships/hyperlink" Target="https://xgboost.readthedocs.io/en/stable/" TargetMode="External"/><Relationship Id="rId5" Type="http://schemas.openxmlformats.org/officeDocument/2006/relationships/hyperlink" Target="https://catboost.ai/" TargetMode="External"/><Relationship Id="rId6" Type="http://schemas.openxmlformats.org/officeDocument/2006/relationships/hyperlink" Target="https://lightgbm.readthedocs.io/en/stab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Ensemble Learning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160589"/>
            <a:ext cx="10515600" cy="741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Ensemble Learning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360947" y="1106906"/>
            <a:ext cx="11369842" cy="5402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be used for Binary Classification, Multi-Class Classification and Regression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u="sng"/>
              <a:t>NOTE</a:t>
            </a:r>
            <a:r>
              <a:rPr lang="en-US"/>
              <a:t>: There are some unsupervised ensemble learning models also like IsolationForest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Combines multiple models together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Together a strong model can be built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train multiple algorithms on same data 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Bagging and Boosting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Use output of one ML Algorithm into Another model 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Stacking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Flood prediction : first predict water in river and predict rain amount. Both together can be used to predict flood conditions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Ensemble Learning Models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Bagging Models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Boosting Models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Stacking Models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1066801" y="26150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Bagging Models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Bagging (</a:t>
            </a:r>
            <a:r>
              <a:rPr b="1" lang="en-US">
                <a:solidFill>
                  <a:srgbClr val="2E75B5"/>
                </a:solidFill>
              </a:rPr>
              <a:t>B</a:t>
            </a:r>
            <a:r>
              <a:rPr lang="en-US"/>
              <a:t>ootstrap </a:t>
            </a:r>
            <a:r>
              <a:rPr b="1" lang="en-US">
                <a:solidFill>
                  <a:srgbClr val="2E75B5"/>
                </a:solidFill>
              </a:rPr>
              <a:t>Agg</a:t>
            </a:r>
            <a:r>
              <a:rPr lang="en-US"/>
              <a:t>regation )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Bootstrap</a:t>
            </a:r>
            <a:r>
              <a:rPr lang="en-US"/>
              <a:t> : create ‘n’ new datasets from given dataset using sampling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Some % of original data is kept and remaining part is filled with repetition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Random sampling is done on samples (rows)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Ensures that every new dataset created is different from each other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Model Training: train ‘n’ models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Aggregation</a:t>
            </a:r>
            <a:r>
              <a:rPr lang="en-US"/>
              <a:t> : combine results of all ‘n’ models created using different datasets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Aggregation can be by simple voting / weighted voting / averaging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Bagging (</a:t>
            </a:r>
            <a:r>
              <a:rPr b="1" lang="en-US">
                <a:solidFill>
                  <a:srgbClr val="2E75B5"/>
                </a:solidFill>
              </a:rPr>
              <a:t>B</a:t>
            </a:r>
            <a:r>
              <a:rPr lang="en-US"/>
              <a:t>ootstrap </a:t>
            </a:r>
            <a:r>
              <a:rPr b="1" lang="en-US">
                <a:solidFill>
                  <a:srgbClr val="2E75B5"/>
                </a:solidFill>
              </a:rPr>
              <a:t>Agg</a:t>
            </a:r>
            <a:r>
              <a:rPr lang="en-US"/>
              <a:t>regation )</a:t>
            </a:r>
            <a:endParaRPr/>
          </a:p>
        </p:txBody>
      </p:sp>
      <p:pic>
        <p:nvPicPr>
          <p:cNvPr id="114" name="Google Shape;114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5258" y="1452646"/>
            <a:ext cx="7701483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/>
        </p:nvSpPr>
        <p:spPr>
          <a:xfrm>
            <a:off x="685800" y="6172200"/>
            <a:ext cx="870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Link: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https://media.geeksforgeeks.org/wp-content/uploads/20210707140912/Bagging.png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Bagging (</a:t>
            </a:r>
            <a:r>
              <a:rPr b="1" lang="en-US">
                <a:solidFill>
                  <a:srgbClr val="2E75B5"/>
                </a:solidFill>
              </a:rPr>
              <a:t>B</a:t>
            </a:r>
            <a:r>
              <a:rPr lang="en-US"/>
              <a:t>ootstrap </a:t>
            </a:r>
            <a:r>
              <a:rPr b="1" lang="en-US">
                <a:solidFill>
                  <a:srgbClr val="2E75B5"/>
                </a:solidFill>
              </a:rPr>
              <a:t>Agg</a:t>
            </a:r>
            <a:r>
              <a:rPr lang="en-US"/>
              <a:t>regation )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479884"/>
            <a:ext cx="10515600" cy="505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Step 1: Bootstrap: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Fix Percentage of original data are taken and remaining are repeated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 Assume n_estimators= 3 (number of models to be created)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 = [0,1,2,3,4,5,6,7,8,9]   80% (given by max_samples)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So, select 80% samples randomly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D1 = [4,0,3,1,6,8,2,5,  </a:t>
            </a:r>
            <a:r>
              <a:rPr lang="en-US">
                <a:solidFill>
                  <a:srgbClr val="2E75B5"/>
                </a:solidFill>
              </a:rPr>
              <a:t>3,6</a:t>
            </a:r>
            <a:r>
              <a:rPr lang="en-US"/>
              <a:t>]    🡪 80% from original 20% repetition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D2 = [9,3,1,6,7,2,5,8,  </a:t>
            </a:r>
            <a:r>
              <a:rPr lang="en-US">
                <a:solidFill>
                  <a:srgbClr val="2E75B5"/>
                </a:solidFill>
              </a:rPr>
              <a:t>8,1</a:t>
            </a:r>
            <a:r>
              <a:rPr lang="en-US"/>
              <a:t>]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D3 = [9,3,1,0,7,4,5,8,  </a:t>
            </a:r>
            <a:r>
              <a:rPr lang="en-US">
                <a:solidFill>
                  <a:srgbClr val="2E75B5"/>
                </a:solidFill>
              </a:rPr>
              <a:t>4,9</a:t>
            </a:r>
            <a:r>
              <a:rPr lang="en-US"/>
              <a:t>]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This introduces randomness and newly created datasets will be different from each other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Bagging (</a:t>
            </a:r>
            <a:r>
              <a:rPr b="1" lang="en-US">
                <a:solidFill>
                  <a:srgbClr val="2E75B5"/>
                </a:solidFill>
              </a:rPr>
              <a:t>B</a:t>
            </a:r>
            <a:r>
              <a:rPr lang="en-US"/>
              <a:t>ootstrap </a:t>
            </a:r>
            <a:r>
              <a:rPr b="1" lang="en-US">
                <a:solidFill>
                  <a:srgbClr val="2E75B5"/>
                </a:solidFill>
              </a:rPr>
              <a:t>Agg</a:t>
            </a:r>
            <a:r>
              <a:rPr lang="en-US"/>
              <a:t>regation )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Step 2: Model Training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 newly created ‘n’ datasets train ‘n’ estimator models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Here each estimator model can have same algorithm / different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Assume n_estimators=3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‘3’ models of Decision Tree can create an Ensemble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One Naïve Bayes, One SVM , and one KNN can create an Ensemble together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838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Bagging (</a:t>
            </a:r>
            <a:r>
              <a:rPr b="1" lang="en-US">
                <a:solidFill>
                  <a:srgbClr val="2E75B5"/>
                </a:solidFill>
              </a:rPr>
              <a:t>B</a:t>
            </a:r>
            <a:r>
              <a:rPr lang="en-US"/>
              <a:t>ootstrap </a:t>
            </a:r>
            <a:r>
              <a:rPr b="1" lang="en-US">
                <a:solidFill>
                  <a:srgbClr val="2E75B5"/>
                </a:solidFill>
              </a:rPr>
              <a:t>Agg</a:t>
            </a:r>
            <a:r>
              <a:rPr lang="en-US"/>
              <a:t>regation )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287378"/>
            <a:ext cx="10515600" cy="5450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Voting Types for Classification: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Hard Voting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Each estimator model predicts class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Soft Voting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Each Estimator model predicts probability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Aggregation Types: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Simple Aggregation: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‘mode’ for hard voting : class with maximum votes is predicted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‘mean’ for soft voting : class with highest ‘mean’ probability is predicted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Regression, ‘mean’ of all models is predicted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Weighted Aggregation: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weighted average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Bagging Sklearn based Models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BaggingClassifier / Regressor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Creates bagging model using given algorithm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VotingClassifier / Regressor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Creates bagging ensemble for given list of algorithms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RandomForest Classifier / Regressor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Creates bagging model using DecisionTrees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Has added randomness in features also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850232" y="29158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Random Forest model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765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Random Forest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838200" y="1130968"/>
            <a:ext cx="10515600" cy="5546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Used for classification and regression also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Same working as Bagging model with few improvements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Does random sampling on rows (samples) and on columns (features) also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Uses max_samples  and max_features parameters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uses ‘soft voting’ in aggregation 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Advantage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Widely used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Two way randomization helps avoid the variance in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Robust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Because it is based on bagging it can be trained using parallel computing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Dis-advantage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More memory and time than linear models (bit slow for very large data)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very well suited for text data / sparse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regression, predictions cannot go beyond range of training values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838200" y="220747"/>
            <a:ext cx="10515600" cy="741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Random Forest Parameters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493295" y="962528"/>
            <a:ext cx="10860505" cy="5895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n_estimators: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 of decision trees to be created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need to be fine tuned ( use GridSearch)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max_samples 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many samples to draw from original data in each new dataset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generally set to 0.8 ( 80%) by default 1 ( 100%)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max_features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Number of columns to be considered inside every decision tree split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Higher</a:t>
            </a:r>
            <a:r>
              <a:rPr lang="en-US"/>
              <a:t> value then </a:t>
            </a:r>
            <a:r>
              <a:rPr b="1" lang="en-US"/>
              <a:t>stable</a:t>
            </a:r>
            <a:r>
              <a:rPr lang="en-US"/>
              <a:t> decision trees and overall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equal </a:t>
            </a:r>
            <a:r>
              <a:rPr b="1" lang="en-US"/>
              <a:t>to all features </a:t>
            </a:r>
            <a:r>
              <a:rPr lang="en-US"/>
              <a:t>then decision trees may </a:t>
            </a:r>
            <a:r>
              <a:rPr b="1" lang="en-US"/>
              <a:t>overfit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</a:t>
            </a:r>
            <a:r>
              <a:rPr b="1" lang="en-US"/>
              <a:t>very low </a:t>
            </a:r>
            <a:r>
              <a:rPr lang="en-US"/>
              <a:t>then deep decision trees are created , </a:t>
            </a:r>
            <a:r>
              <a:rPr b="1" lang="en-US"/>
              <a:t>not good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oob_score: (Out of Bag Score)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decision tree is tested on samples which are not present in its training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</a:t>
            </a:r>
            <a:r>
              <a:rPr b="1" lang="en-US">
                <a:solidFill>
                  <a:schemeClr val="accent6"/>
                </a:solidFill>
              </a:rPr>
              <a:t>TRUE</a:t>
            </a:r>
            <a:r>
              <a:rPr lang="en-US"/>
              <a:t> : model created is generalized and good on unseen data (test data / user input)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false : model is poor on  unseen data ( test data / user input)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max_depth: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Controls depth of each tree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Needs to be fine tuned if less memory should be used by the model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n_jobs: should be -1 for maximum parallel computing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1066801" y="26150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Boosting Models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838200" y="0"/>
            <a:ext cx="10515600" cy="1028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Boosting Models</a:t>
            </a:r>
            <a:endParaRPr/>
          </a:p>
        </p:txBody>
      </p:sp>
      <p:sp>
        <p:nvSpPr>
          <p:cNvPr id="167" name="Google Shape;167;p15"/>
          <p:cNvSpPr txBox="1"/>
          <p:nvPr>
            <p:ph idx="1" type="body"/>
          </p:nvPr>
        </p:nvSpPr>
        <p:spPr>
          <a:xfrm>
            <a:off x="838200" y="1028952"/>
            <a:ext cx="10515600" cy="5672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Boost a small / weak model iteratively to perform better and aggregately use all models created in iterations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every iteration model tries to minimize the total error / loss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Repeated iterative training avoid Bias in Model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Aggregation of multiple models helps avoid variance in the model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each iteration model is changed based on learning rate. More learning rate more changes are made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Learning rate and no of estimators (iterations) needs careful fine tuning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Boosting models can be used for Binary / Multi-Class Classification or Regression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1" lang="en-US"/>
              <a:t>Limitation</a:t>
            </a:r>
            <a:r>
              <a:rPr lang="en-US"/>
              <a:t>: Special Packages are needed for parallel training. Normal Gradient Boosting works slow in sequential manner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838200" y="0"/>
            <a:ext cx="10515600" cy="1004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Boosting Based Models</a:t>
            </a:r>
            <a:endParaRPr/>
          </a:p>
        </p:txBody>
      </p:sp>
      <p:sp>
        <p:nvSpPr>
          <p:cNvPr id="173" name="Google Shape;173;p16"/>
          <p:cNvSpPr txBox="1"/>
          <p:nvPr>
            <p:ph idx="1" type="body"/>
          </p:nvPr>
        </p:nvSpPr>
        <p:spPr>
          <a:xfrm>
            <a:off x="838200" y="1004889"/>
            <a:ext cx="10515600" cy="5672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Sklearn based: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AdaBoost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iteration updates the weights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Has fixed loss function ( exponential loss)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Outliers affect performance badly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Special Packages: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XGBoost : Extreme Gradient Boost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Parallel Gradient boost with optimized libraries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Very high speed and performance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Catboost : Categorical Gradient Boosting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Directly works with strings, text, numeric data : almost no preprocessing required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Uses balanced trees for better performance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Does ordered boosting : train model only on subset of data remaining subset is used for loss calculation. This avoids overfitting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ct val="100000"/>
              <a:buChar char="•"/>
            </a:pPr>
            <a:r>
              <a:rPr b="1" lang="en-US">
                <a:solidFill>
                  <a:srgbClr val="C55A11"/>
                </a:solidFill>
              </a:rPr>
              <a:t>LightGBM : Light Gradient Boosting Machine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Its fast and requires less memory (light)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lightGBM uses leaf based splitting than level wise splitting of XGBoost/ CatBoost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leaf based splitting, best leaf which gives minimum cost will be split. (Best-first)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may have deep imbalanced trees and not good for small datasets</a:t>
            </a:r>
            <a:endParaRPr/>
          </a:p>
          <a:p>
            <a:pPr indent="-1206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081" y="220486"/>
            <a:ext cx="5570008" cy="3538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898358" y="28315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Stacking Models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Stacking</a:t>
            </a:r>
            <a:endParaRPr/>
          </a:p>
        </p:txBody>
      </p:sp>
      <p:sp>
        <p:nvSpPr>
          <p:cNvPr id="185" name="Google Shape;18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 of one machine learning model is given as input to another model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neural networks output of one layer is given as input to another layer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to solve multi stage problems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Ex. Stock Index Prediction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Predict the stocks of major companies and then predict the index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191" name="Google Shape;191;p19"/>
          <p:cNvSpPr txBox="1"/>
          <p:nvPr>
            <p:ph idx="1" type="body"/>
          </p:nvPr>
        </p:nvSpPr>
        <p:spPr>
          <a:xfrm>
            <a:off x="838200" y="4924942"/>
            <a:ext cx="10515600" cy="714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u="sng">
                <a:solidFill>
                  <a:schemeClr val="hlink"/>
                </a:solidFill>
                <a:hlinkClick r:id="rId3"/>
              </a:rPr>
              <a:t>https://neptune.ai/blog/when-to-choose-catboost-over-xgboost-or-lightgbm</a:t>
            </a:r>
            <a:endParaRPr sz="2200"/>
          </a:p>
        </p:txBody>
      </p:sp>
      <p:sp>
        <p:nvSpPr>
          <p:cNvPr id="192" name="Google Shape;192;p19"/>
          <p:cNvSpPr txBox="1"/>
          <p:nvPr/>
        </p:nvSpPr>
        <p:spPr>
          <a:xfrm>
            <a:off x="1034716" y="2153653"/>
            <a:ext cx="771224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https://xgboost.readthedocs.io/en/stable/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CatBoost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https://catboost.ai/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https://lightgbm.readthedocs.io/en/stable/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2023-01-05T07:25:50Z</dcterms:created>
  <dc:creator>cdacstaff</dc:creator>
</cp:coreProperties>
</file>