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WiQV52OezfG1Tx8xJuk2xdqt8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A15439-1FC3-4FE8-BFA5-FCC7E7A6822D}">
  <a:tblStyle styleId="{CBA15439-1FC3-4FE8-BFA5-FCC7E7A6822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23c76d19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2e23c76d1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Supervised and Unsupervised Learning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What AI can Do or Can’t Do?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62264" y="25187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A Machine Learns?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366050" y="365125"/>
            <a:ext cx="10987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a Machine Learns? 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366000" y="1516525"/>
            <a:ext cx="11430000" cy="51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Learn Mapping Between Input and Output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sz="4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Can a machine learn on its own ?</a:t>
            </a:r>
            <a:endParaRPr sz="4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4000"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•"/>
            </a:pPr>
            <a:r>
              <a:rPr lang="en-US" sz="4400"/>
              <a:t>Types of Learning</a:t>
            </a:r>
            <a:endParaRPr sz="4000"/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Supervised </a:t>
            </a:r>
            <a:r>
              <a:rPr lang="en-US" sz="3600"/>
              <a:t>(Human Intervention Required in training)</a:t>
            </a:r>
            <a:endParaRPr sz="2000"/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Un-Supervised </a:t>
            </a:r>
            <a:r>
              <a:rPr lang="en-US" sz="3600"/>
              <a:t>(No Human Intervention in training)</a:t>
            </a:r>
            <a:endParaRPr sz="4000"/>
          </a:p>
          <a:p>
            <a:pPr indent="-254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</a:pPr>
            <a:r>
              <a:rPr lang="en-US" sz="4000"/>
              <a:t>Reinforcement Learning </a:t>
            </a:r>
            <a:r>
              <a:rPr lang="en-US" sz="3600"/>
              <a:t>(Continuous Training with user feedback)</a:t>
            </a:r>
            <a:endParaRPr sz="40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8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Supervised Learning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300300" y="11629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training, Human intervention required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Training Data set has features (input data) and labels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Training Dataset requires labels / expert opinion</a:t>
            </a:r>
            <a:endParaRPr/>
          </a:p>
        </p:txBody>
      </p:sp>
      <p:grpSp>
        <p:nvGrpSpPr>
          <p:cNvPr id="103" name="Google Shape;103;p4"/>
          <p:cNvGrpSpPr/>
          <p:nvPr/>
        </p:nvGrpSpPr>
        <p:grpSpPr>
          <a:xfrm>
            <a:off x="1130427" y="5025491"/>
            <a:ext cx="6085284" cy="960834"/>
            <a:chOff x="5357" y="305400"/>
            <a:chExt cx="6085284" cy="960834"/>
          </a:xfrm>
        </p:grpSpPr>
        <p:sp>
          <p:nvSpPr>
            <p:cNvPr id="104" name="Google Shape;104;p4"/>
            <p:cNvSpPr/>
            <p:nvPr/>
          </p:nvSpPr>
          <p:spPr>
            <a:xfrm>
              <a:off x="5357" y="305400"/>
              <a:ext cx="1601390" cy="96083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 txBox="1"/>
            <p:nvPr/>
          </p:nvSpPr>
          <p:spPr>
            <a:xfrm>
              <a:off x="33499" y="333542"/>
              <a:ext cx="1545106" cy="90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766887" y="587245"/>
              <a:ext cx="339494" cy="397144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DD0E9"/>
                </a:gs>
                <a:gs pos="50000">
                  <a:srgbClr val="B0C9E9"/>
                </a:gs>
                <a:gs pos="100000">
                  <a:srgbClr val="96B0D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 txBox="1"/>
            <p:nvPr/>
          </p:nvSpPr>
          <p:spPr>
            <a:xfrm>
              <a:off x="1766887" y="666674"/>
              <a:ext cx="237646" cy="238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2247304" y="305400"/>
              <a:ext cx="1601390" cy="96083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 txBox="1"/>
            <p:nvPr/>
          </p:nvSpPr>
          <p:spPr>
            <a:xfrm>
              <a:off x="2275446" y="333542"/>
              <a:ext cx="1545106" cy="90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Machine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4008834" y="587245"/>
              <a:ext cx="339494" cy="397144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DD0E9"/>
                </a:gs>
                <a:gs pos="50000">
                  <a:srgbClr val="B0C9E9"/>
                </a:gs>
                <a:gs pos="100000">
                  <a:srgbClr val="96B0D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 txBox="1"/>
            <p:nvPr/>
          </p:nvSpPr>
          <p:spPr>
            <a:xfrm>
              <a:off x="4008834" y="666674"/>
              <a:ext cx="237646" cy="238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489251" y="305400"/>
              <a:ext cx="1601390" cy="96083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 txBox="1"/>
            <p:nvPr/>
          </p:nvSpPr>
          <p:spPr>
            <a:xfrm>
              <a:off x="4517393" y="333542"/>
              <a:ext cx="1545106" cy="90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4"/>
          <p:cNvSpPr/>
          <p:nvPr/>
        </p:nvSpPr>
        <p:spPr>
          <a:xfrm>
            <a:off x="1007026" y="3106448"/>
            <a:ext cx="3047100" cy="1470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from Expert Opinion / Labels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482524" y="4648653"/>
            <a:ext cx="357300" cy="285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54094" y="3862835"/>
            <a:ext cx="3410100" cy="714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Patterns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25532" y="4648653"/>
            <a:ext cx="357300" cy="285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125466" y="4077149"/>
            <a:ext cx="357300" cy="3573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54093" y="2779805"/>
            <a:ext cx="3410100" cy="9540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Mapping of Input and Labels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337300" y="1440450"/>
            <a:ext cx="3854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Training Dataset: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Data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satisfaction_level (1-5)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number of projects   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average_montly_hours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promotion (Y/N)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salary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Attrition(left job)    (Y/N)</a:t>
            </a:r>
            <a:endParaRPr b="0" i="1" sz="2800" u="sng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13325"/>
            <a:ext cx="105156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Un-Supervised Learning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425600" y="780225"/>
            <a:ext cx="9353400" cy="2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training, </a:t>
            </a:r>
            <a:r>
              <a:rPr b="1" lang="en-US" u="sng"/>
              <a:t>NO</a:t>
            </a:r>
            <a:r>
              <a:rPr b="1" lang="en-US"/>
              <a:t> </a:t>
            </a:r>
            <a:r>
              <a:rPr lang="en-US"/>
              <a:t>Human intervention required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Only Data is Provided for training No Labels / Expert Opinions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Machine only groups similar patterns together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Identify non regular / Outlier Patterns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also be used to compress the input / de-noise the input</a:t>
            </a:r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549004" y="5256515"/>
            <a:ext cx="6085284" cy="960834"/>
            <a:chOff x="5357" y="305400"/>
            <a:chExt cx="6085284" cy="960834"/>
          </a:xfrm>
        </p:grpSpPr>
        <p:sp>
          <p:nvSpPr>
            <p:cNvPr id="128" name="Google Shape;128;p8"/>
            <p:cNvSpPr/>
            <p:nvPr/>
          </p:nvSpPr>
          <p:spPr>
            <a:xfrm>
              <a:off x="5357" y="305400"/>
              <a:ext cx="1601390" cy="96083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33499" y="333542"/>
              <a:ext cx="1545106" cy="90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1766887" y="587245"/>
              <a:ext cx="339494" cy="397144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DD0E9"/>
                </a:gs>
                <a:gs pos="50000">
                  <a:srgbClr val="B0C9E9"/>
                </a:gs>
                <a:gs pos="100000">
                  <a:srgbClr val="96B0D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1766887" y="666674"/>
              <a:ext cx="237646" cy="238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2247304" y="305400"/>
              <a:ext cx="1601390" cy="96083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8"/>
            <p:cNvSpPr txBox="1"/>
            <p:nvPr/>
          </p:nvSpPr>
          <p:spPr>
            <a:xfrm>
              <a:off x="2275446" y="333542"/>
              <a:ext cx="1545106" cy="90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Machine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4008834" y="587245"/>
              <a:ext cx="339494" cy="397144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BDD0E9"/>
                </a:gs>
                <a:gs pos="50000">
                  <a:srgbClr val="B0C9E9"/>
                </a:gs>
                <a:gs pos="100000">
                  <a:srgbClr val="96B0D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8"/>
            <p:cNvSpPr txBox="1"/>
            <p:nvPr/>
          </p:nvSpPr>
          <p:spPr>
            <a:xfrm>
              <a:off x="4008834" y="666674"/>
              <a:ext cx="237646" cy="238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4489251" y="305400"/>
              <a:ext cx="1601390" cy="960834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4517393" y="333542"/>
              <a:ext cx="1545106" cy="904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rPr b="0" i="0" lang="en-U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Output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8"/>
          <p:cNvSpPr/>
          <p:nvPr/>
        </p:nvSpPr>
        <p:spPr>
          <a:xfrm>
            <a:off x="425603" y="3337472"/>
            <a:ext cx="3047100" cy="1470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from ONLY Data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2901101" y="4879677"/>
            <a:ext cx="357300" cy="285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972671" y="4093859"/>
            <a:ext cx="3287400" cy="714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Patterns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044109" y="4879677"/>
            <a:ext cx="357300" cy="285900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544043" y="4308173"/>
            <a:ext cx="357300" cy="3573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972671" y="3330542"/>
            <a:ext cx="3287400" cy="7143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Grouping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8636000" y="3376700"/>
            <a:ext cx="3578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Training Dataset: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Data</a:t>
            </a:r>
            <a:endParaRPr b="1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Custid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total_bill</a:t>
            </a:r>
            <a:endParaRPr b="0" i="0" sz="28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How to Improve Performance of ML model?</a:t>
            </a:r>
            <a:endParaRPr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 How to solve Confusing Examples in Supervised / unsupervised Learning 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Solution: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 more samples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 complex features / columns / variables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Reinforcement Learning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Intelligent Agent in an environment takes decisions and learns from them based on feedback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Exploration Vs Exploitation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Its continuous learning process</a:t>
            </a:r>
            <a:endParaRPr/>
          </a:p>
        </p:txBody>
      </p:sp>
      <p:sp>
        <p:nvSpPr>
          <p:cNvPr descr="data:image/png;base64,iVBORw0KGgoAAAANSUhEUgAAAWoAAACLCAMAAAB/aSNCAAAAe1BMVEX////+/v4AAACMjIz6+vrs7Ozy8vK8vLzPz8+kpKRLS0tlZWWfn58WFhaqqqp+fn7h4eHZ2dldXV3Hx8eysrIlJSV4eHg7Ozvt7e0sLCxaWlpubm7AwMCWlpY2NjaNjY1BQUFTU1MaGhpGRkaEhIQhISFqamoMDAwxMTE3W3UTAAARaklEQVR4nO2di3qqOhBGJyGEKIiJICI3Ran6/k+4Ey4KaK1QcdfLf87Xba0gLofJZDJJAD766KOPPvroo48++uij1xeS/6OOR8j/Oh7zEYIe2BD0OeqjHFlnaL0OenchQjkzukroH6PuKkKZN8HdtVxx5UM+pn2ziG9j7LkO6ybHNnHC0MeybxRSpF281Xsdzb42gsDHqm+SvPspWx506a5VM9dFirDAM/qx6tuEgOgxjrp73DzYQ2Dh6ONBbhMCKtIl7X00x3Hfg99NCHSWpH0Pll/UMvx4kNuEkB4dZr0PBrowdXLXK3qcHmohKirm0XLWfK7L8eRpUaMHhamSkcVK1EYdddf3f17Uj+p7SdQbPHZlNN1E3fmrfl7Uj3Mf6CB71pswInrUQN3xNM+LGpzxo7Qv8hiLqTWv+2pj6pRp1SInDcdcKTo9TY7fyBOj9npkfX6p9aSGmixwClVvsPpR5pSO3UQys6rBhKdGPYs6ZzN7aV4YdewoX320UgcvsKg3jpVll4ZdPIOnxVNPjjp7zBspX/3lRRSaEYi3dHGcGyxhtiARU/1J5jIi/3UiIlyHgm/j1KAvgHraNe3TQ8rdJqntQzsC8fGULtZU9bjHOMGzvTRfdpCP1gJgnJibBCc6n+PJwi/s/qlRP8SqJWpO8n9PVq3Y2diBFVamnGJB9EBejb4MdCKWcwQBDnXiYgso9qD0Jwr1I653gNDMy93g4Do2fDXU6rdxQoCrS+B4BCpHmoGFuXxkSP4BpgB0aQI5XSRZr2N7cLnkiVFDFWE0rFqipT7fzqk0b2Xa/iQD82skP2yMXUgPErV/mBWoiw9P1g+JktwBGDzOqqtwuY46Lj+ZIW1ZKNSbTHqSZLlcLhIDgiVRVj1rWvVkvR1vB9V4kt9i99aDUOdCRLE+oZad9TETTBjYBFc6beVGMpglebPnS/e9JOiIugwCH+Krx8+OujTsGupINnnqQbrXdRzKR5pEHUv7BomeKdSAFGqq2m5UdWH44BHIK6BWqgV7M+znTsXGtiQcWAHGmnTOB+a7WL4mnedWHQBZbixa2PVDgr3nRw2O7IjUI5CtVnhxPfUAInM7ZRtp5jyV3tuTr5yayleb0qKdYOs/sAszPOrBM9cW3kwZj2T4dqYi7OaygZQXoYtvxw9fBTU40yGVjVW0cQi/Lgx4ERz4RA8nP43RvgxqM11pw2kV5Ik97xJqGGG8xF8OlGm9726wV0GNTHuAtzjJwodM5GOLF0hSx2B53x1dGxl6EdQwLGoZ3LmNZvHia66f4WVQw7Coi+xze8S80ymKuHro5vvpUZeugUeH3iU3qp+++1j1jypGWpAebQ99YalCsux5Udfz1QP7asirmxxPlUf2mp+hyiNH/pOiDmVX+KSBI5BcVFiTLa2N0nYYzAG+2bLha/ZeBTXhhomDfuk5kWB7+GzTy6BGlFkp3msO76poirHH/MEDkJdBDUSPLO/Qa3BkG0c6Gb4k62VQI6IzN57uZh1lerHLHuA+Xgm1ZC0c1x51k227jtAfMmXghVBL2D7noqM4L9z08CWdv0SN6o9Ov/RDjX4dbxXRG7ldZbTX/CgD6TeoG1lJVAfVC/XvSf9t/cqqSzbHmtrjH3qi7n8lz6BfOhB2pKjHv0VdDk+9rHqjLpoS+5i5FLj0dor4VdQt4z0dJZaPKJz7b7qA+rb2mLjTEeXp0gbdmtqU7vBKPpe5auYxmKrk9qgCNScqpuJc3gA6IE4RlUasC0mXcsTVX8TXW6GuCg5/ZO2ZjrfWp2OhHzLHNGGEHTDNaLZT/a5LqNNwY1AzSE3qbsGXb2vPULzdrVcQHWYByRZm+m5Wreq/b2ih9jYgi9om+CMExkY5EOeLAsdCHnsJ9fjgkKkHJNUoJhEOwYxpKsCZQIRHerTRIXs7q75tLtxoP84ESNTghrv1EhiGeGKa5j76xqrXFtBl5rrmARZiFSZ0zoFHVjiHaCJvEk/66vl7oD5OEgEWAa81ZJehE65HHtYl6mjiUOMrR72Wva9I/w619OpfXhzHI9BGW7GPEqJvd671BcZBviaTqF/fqkvPXA4dQbaDyCyXbziGB23gVJUbYiFRW1uAeK5QM6wDl7b6LWpyMACMGKJ0DmnqgbFEwCbyH4BMhjLGO6AGEccMCLDYJWK7cLgrI4J4JD+5LdxYXOpdjA7aLETRl8sPnhfsHV1GINo2k0C/8dXyL2AlzJg78nuagaoqZ9hw0r0fzVWxl83Gm5dHTcDBtpo/Yi/dcMbNMTfm6ql4w2E+H8W5oZ5JGAwh4jDQDQGMS78jvzGD57fCJdSZI89imKH6RzOAmTpCrjllmS1UnTPbecbUf9Cn/i8qfLUhrXhnA2ZA5/oqVN5zLZ/febCURr+OunaaL6G+phfvkhfKHQgQOwywy7GaGA9aCG6isIM1hqU0wnHU9aw/o34LuE0VqMOxoDOFWt39JWrZ7MUpLKN7oa7DPc2JPY5av75y1CSRDmThKkvWsa7lDmRpAWzjO6Ju6gj3zVDLcCBOk5SOJvE6A+vLcVWcvNrNKUwiIIsrqI8z5RvPzorpKKUqq0bwLlQvKm8WZfvv6sSQ3WpXug0SMd8B8F0ZUoDqkTj6981ijpnKgxrPBo0+aMOBDF8E8FdV68IUPOvpfiDFoorXjBGB67mW1gzTLqEGpmlWHL0t6Qp1dW8jVGuqqqeveVME/CDvhknz2YuoQcNcPzxuQuNfU9lbRMeJrSfM7cq2b8RkrEJas/cvo57NZKzTu1706VWlm/ovbMXxWodWj/oiapWjJuug37u8gE6oe8YG0lfjlLa+p4uoDeyyzOS93uUVVEPd+86O1cIajWcuovYWo0HWDngWnYYGaL/VUgQBNN1TIPXb4gy1mtoz12CRqWDvTWPro1XL+KBXZiKWHoFNKM2uo1ardDCIl+VI7jvqaNU8yWfBdz5BqlE6jcFe8h9QW5hI3C7w7RBVgk+go1V7Ub4iTFehyLEtA4Exqn9Ps3MHEi3nBkLmQtBUf8e83gm1YYNqs3ozmDaGalJczzDlzaIuhYByysP3JF11YejCNfZZ3+1o5GHj+vABGjdCjWZmb2TTt0Yde6vVNq0qbrpKBoqWj25ArV6hjch7ppyKJKpQpXcjGYKodRa7s84PIbdYdT2j9W7KfTVJ8yFWTPW91ceDtKt0rjmQ87O3A+0rTuwx5f2NK7nfSty5VVtjjQCbpSEN7rIVzVVffeHlzXc85rrOX/dNKmwoVUZ0HxUOpDohPy6H9it1Q31GldRT5mevfmj80jNOuKgCdZFBle56dWXA5XZ1RN2mipDjujb75rVA9Bvl3/rCb0/gV+95D5UDXvn9QsBw/oNVA+Nt1BRP+SJuX4u8RCridZ/d5/pqk9r6vba+LLowpQtBF0ysjzqi1pzm0Qh8LEDbtmfIIkLtCU6n2pBLQdVXhVpp3hofGLkn6jurI2qHt4wX3D3iy1HTlyEg/giPxWNHcYhz2Duvgzpqpvrk5wpTc+e0b1ziR5MxfWC7WLwTP6zvs9jQX0B97kCwEwengNsvwmkqzHzh3sehLkK9CMd3uZMGQU0W2Kj9+hNq0RyZVKltysttGaS/9hd6bt9+NL+wQOTAUtNV1ql+Dw/yF1C7ovVBvDVAmhFhA1L51ynP22w+wj+WtN5d6jv25u0L7KW/gHrVdCCq1JoBC1ns+lHoUPB43pMQ+eaVd7/Y61L+Ops8D+of3qK1LCyqfmicMk8o1Pkos1hh59Lhg0p5jmzC7uGsB0eNfl6o08qHf4ijnUbc8l6hbC6RbF794vgC9f9ICj4LarUmqgXXFoqAWPbBdWuB92dTYarZqiS3au2D+kwtBxLi+RV9BZwY+Wq9ODBnpmnOgkLj8Xi7HY/XySJZHBbJfDP5Dw5E6WlQyyjt+qbtPGZCU4mNfazW98l3UCmVb9MVGZGjZIcfqz5Ty6p/ktoJFJwdxlcneKFGs1gPdC+NNvxCZ3nTBmrUu0L8L6DmRV6JGOWOWqjMNbZO2kQNcWjulExx4ZRu+JspkK33rqNGZ9n1m/UXUGtOhfZE+tww26gD7GVK3nmxlCrVuvQF3Cgk5o3awpYDeWbUroDT+FLRa9AFat+n7bg6WFSf/87+G+VFWDU1UIveBUPDoF52ihVE00erJGrsZN4PDiRIaPFqBIZNHMvlQEZFdWCsM8uHaEQiW/ml2FV4hEWFnYfwdkQMK0LUiI18oRj1tLqtYkZdKyIgpnhn1woAFOriN+oGxW4c5TW0dP07+AuoW5k9ecV7NcW9fdIzqz52d8yv8TLFewE7rOZo7zDNpAMJsYfnIJY4navkyQibk3Sj7DVZbxcLHC6WY6wK62O82OKAIoRnk/UWz5CxxklYaxuzPVO3GIq8Lxkn9U4O/AXU5/nq+QhIu107s+pNnEtN0FZ76zA8BUMyVaNlua/28NrR4ZDoiEwxAxsnHJG5/ILWeETQDk+JxM/BxdKCHVUiLjGifAcqoU5zsmptIu8FHifFGJhLW7pxSb8/gfp8FIbPtbPbsW3VM5x3dNSWRjsVJtIkADpJi00VC9RC7ZLrqqlRkr6dtx9TTGCxlq53pTZgZPKM63ylr+leR2rbKbWaQxt1tjHsYF8NN34tcyVHrSttr+5NnQ6yM93vHIj6jL4axG1WBpw5kIRWrelur/aKWkjMGaYwWxQRiKd23olzl0KTWb61qHqBRK3chlagNggex6tVnMoD8lX7mfxuctS169vY4V3GjgeYM9HVqltDA0hao0hJ2ZmonPZ5s3gMC3Z7mqNGBTsLTqg1rJpEKunWUaMTah8fzCCYmSFvoq5JNotId4OSV8zyvmt01Gn7afe6jAFWue2I2mj5aqqYZUApUK6glyc9s+octbK+CrV80cGMFMMjaisPsPVN+B3qYottoKLcbPuI+mTWZbDHV/leo50n3Nc+2f3TCr+MQHRvNdJ0mrpE2ARIOf3u+7j6hFq1auMU1VCLfGEBQ/L7BjUEatII2iUUXbHqoj6BOt68ikDavcafp/j072deEZl3i6tzB1IErn7hn9WtpoGjhTbQoAiez1DjTBVrZJkAM99ZOBmDmkWZt4NZ3iyq4fUZtrnxNSYlatUsJmmF2slXNTKZjKTlUflENYWa7xcxasbVlZH7lvgu2PsvBbYdrdoWZVZayAaoKmpDXHpPXTYkYk3Lv9aHBhCsZkW2NXUgDmXcS6aa+us0UFhck4OlVldEdIrxXp4KokC5kpH881RTvSRTRi1izKQdS7+QuPI9gnx76EBeujHzWl2Y2uX+qZplifpixd03WuUE9dG40UgTDvmaDDorW80m6nZmryjQKn9WBaT5I5/r9V/LbBYcn5PfKidFeXhxVnJ6ba5mZu9PkVYOxMxulubIDxqFRfse5jt+W4WKPkosvYTyFOG2nlk5+sbyJmjMkz+tRHBkXNVKH4uGT4+ac+trfy7VRv2XWJOOO1mI+MawtbHPX5VxRaeHKpt8qgsubbcq3T0dWlUnVtxqOUWoH1OqhXogaD1leB22AV1NGbG3JcxDsed3WigwC4VKs275wvvpTqMwg6jjF59vn8Wt5Q8dKv7kI+aDqGOt/aokyKYbXJaflh7g6HShGjH/H/rLqDtO1olZ1cgRgzVHYNDpwX+qA0Hob6PuJn7TnFGF+hed4r56LdTtmr3LIiIup0g9Uur2DOcvg9q4acgV8dHXf1iNSGVgx+KvhXh9xfxbPgjibpp3Qh/6qSVjG2f8RUifZfYuSXWwndU+uctkvxtVtO1ss470V0Ed3bLsjQpBDA8v3YfsIneUP9pvLPGA3RgfoxtRI1+ogadkZj5OwRwnltpi9EVQs9uKvtTmlaMsOGwmj9N8EVqMvwzp24WoYEaV9nuIbMMR9B2XL0GI6lxcLyG+rwTXaSOh+kZChLRLXoYUIccxhLfTL4pue7zX6edHH3300ZPoH8G/Smi6ESvFAAAAAElFTkSuQmCC" id="157" name="Google Shape;157;p10"/>
          <p:cNvSpPr/>
          <p:nvPr/>
        </p:nvSpPr>
        <p:spPr>
          <a:xfrm>
            <a:off x="3132691" y="355566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7182" y="3903663"/>
            <a:ext cx="6117635" cy="240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g2e23c76d196_0_0"/>
          <p:cNvGraphicFramePr/>
          <p:nvPr/>
        </p:nvGraphicFramePr>
        <p:xfrm>
          <a:off x="360700" y="47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{CBA15439-1FC3-4FE8-BFA5-FCC7E7A6822D}</a:tableStyleId>
              </a:tblPr>
              <a:tblGrid>
                <a:gridCol w="5783925"/>
                <a:gridCol w="5783925"/>
              </a:tblGrid>
              <a:tr h="1225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Supervised Learning</a:t>
                      </a:r>
                      <a:endParaRPr b="1" sz="2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Un-Supervised Learning</a:t>
                      </a:r>
                      <a:endParaRPr b="1" sz="2900" u="none" cap="none" strike="noStrike"/>
                    </a:p>
                  </a:txBody>
                  <a:tcPr marT="91425" marB="91425" marR="91425" marL="91425"/>
                </a:tc>
              </a:tr>
              <a:tr h="122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Human intervention required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No human intervention required</a:t>
                      </a:r>
                      <a:endParaRPr sz="2100" u="none" cap="none" strike="noStrike"/>
                    </a:p>
                  </a:txBody>
                  <a:tcPr marT="91425" marB="91425" marR="91425" marL="91425"/>
                </a:tc>
              </a:tr>
              <a:tr h="11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High efficiency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Low </a:t>
                      </a:r>
                      <a:r>
                        <a:rPr lang="en-US" sz="2100" u="none" cap="none" strike="noStrike">
                          <a:solidFill>
                            <a:schemeClr val="dk1"/>
                          </a:solidFill>
                        </a:rPr>
                        <a:t>efficiency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8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99% products use Supervised Learning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cap="none" strike="noStrike"/>
                        <a:t>1% products use un-supervised learning</a:t>
                      </a:r>
                      <a:endParaRPr sz="2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802105" y="2651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AI/ML/DL can do and can’t Do today?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AI Can Do </a:t>
            </a:r>
            <a:r>
              <a:rPr b="1" i="1" lang="en-US"/>
              <a:t>EASILY</a:t>
            </a:r>
            <a:r>
              <a:rPr lang="en-US"/>
              <a:t> (as of) TODAY!</a:t>
            </a: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349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000"/>
              <a:t>Learn Mapping between input and output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000"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000"/>
              <a:t>Whatever Human can decide with 1 sec of thought</a:t>
            </a:r>
            <a:endParaRPr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000"/>
          </a:p>
          <a:p>
            <a:pPr indent="-2349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4000"/>
              <a:t>Example: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600"/>
              <a:t>Recognizing a regular visitor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600"/>
              <a:t>Sentiment of Review / Message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600"/>
              <a:t>Analyze reports using formulas / Statistics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AI Can Do </a:t>
            </a:r>
            <a:r>
              <a:rPr b="1" i="1" lang="en-US" u="sng">
                <a:solidFill>
                  <a:schemeClr val="accent2"/>
                </a:solidFill>
              </a:rPr>
              <a:t>WITH Lot of Efforts </a:t>
            </a:r>
            <a:r>
              <a:rPr lang="en-US"/>
              <a:t>(as of) TODAY!</a:t>
            </a:r>
            <a:endParaRPr/>
          </a:p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Learn Complex mapping from text dialogues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Question Answering Systems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learn complex relation between images and Text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Image Scenario Description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Limitation: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 learn from existing data only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Cannot generalize the mappings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Existing data may have gender bias / may haw race bias 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AI </a:t>
            </a:r>
            <a:r>
              <a:rPr b="1" lang="en-US">
                <a:solidFill>
                  <a:srgbClr val="FF0000"/>
                </a:solidFill>
              </a:rPr>
              <a:t>Can’t</a:t>
            </a:r>
            <a:r>
              <a:rPr lang="en-US"/>
              <a:t> Do (as of) TODAY!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Generating Complex reports with cause and effect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Understand </a:t>
            </a:r>
            <a:r>
              <a:rPr b="1" lang="en-US" u="sng"/>
              <a:t>meaning </a:t>
            </a:r>
            <a:r>
              <a:rPr lang="en-US"/>
              <a:t>of Image / Language / Audio / text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Distinguish between Very Similar Inputs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Human Values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Common sense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3821" y="3780430"/>
            <a:ext cx="6346209" cy="2688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Limiting AI / ML / DL ?</a:t>
            </a:r>
            <a:endParaRPr/>
          </a:p>
        </p:txBody>
      </p:sp>
      <p:sp>
        <p:nvSpPr>
          <p:cNvPr id="193" name="Google Shape;19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Fast Degrading Data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Drift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Concept Drift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Purposeful Garbage Data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Sources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Reliance on Single source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Basically It’s a </a:t>
            </a:r>
            <a:r>
              <a:rPr b="1" i="1" lang="en-US" u="sng"/>
              <a:t>DUMB machine</a:t>
            </a:r>
            <a:r>
              <a:rPr lang="en-US"/>
              <a:t>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2021-05-20T03:53:19Z</dcterms:created>
  <dc:creator>Lenovo</dc:creator>
</cp:coreProperties>
</file>