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hoJvtPem1AoFCBHoafFnJ2vnIIn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A69C3A7-CB41-451B-93CA-68B10983C4BA}">
  <a:tblStyle styleId="{DA69C3A7-CB41-451B-93CA-68B10983C4BA}"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customschemas.google.com/relationships/presentationmetadata" Target="metadata"/><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ish Nalawade" userId="313f29b45c884012" providerId="LiveId" clId="{3109C037-BC7B-416E-8131-5ACD7783838F}"/>
    <pc:docChg chg="modSld">
      <pc:chgData name="Ashish Nalawade" userId="313f29b45c884012" providerId="LiveId" clId="{3109C037-BC7B-416E-8131-5ACD7783838F}" dt="2026-06-26T06:11:56.344" v="1" actId="14100"/>
      <pc:docMkLst>
        <pc:docMk/>
      </pc:docMkLst>
      <pc:sldChg chg="modSp mod">
        <pc:chgData name="Ashish Nalawade" userId="313f29b45c884012" providerId="LiveId" clId="{3109C037-BC7B-416E-8131-5ACD7783838F}" dt="2026-06-21T14:46:48.813" v="0" actId="1076"/>
        <pc:sldMkLst>
          <pc:docMk/>
          <pc:sldMk cId="0" sldId="258"/>
        </pc:sldMkLst>
        <pc:spChg chg="mod">
          <ac:chgData name="Ashish Nalawade" userId="313f29b45c884012" providerId="LiveId" clId="{3109C037-BC7B-416E-8131-5ACD7783838F}" dt="2026-06-21T14:46:48.813" v="0" actId="1076"/>
          <ac:spMkLst>
            <pc:docMk/>
            <pc:sldMk cId="0" sldId="258"/>
            <ac:spMk id="97" creationId="{00000000-0000-0000-0000-000000000000}"/>
          </ac:spMkLst>
        </pc:spChg>
      </pc:sldChg>
      <pc:sldChg chg="modSp mod">
        <pc:chgData name="Ashish Nalawade" userId="313f29b45c884012" providerId="LiveId" clId="{3109C037-BC7B-416E-8131-5ACD7783838F}" dt="2026-06-26T06:11:56.344" v="1" actId="14100"/>
        <pc:sldMkLst>
          <pc:docMk/>
          <pc:sldMk cId="0" sldId="259"/>
        </pc:sldMkLst>
        <pc:spChg chg="mod">
          <ac:chgData name="Ashish Nalawade" userId="313f29b45c884012" providerId="LiveId" clId="{3109C037-BC7B-416E-8131-5ACD7783838F}" dt="2026-06-26T06:11:56.344" v="1" actId="14100"/>
          <ac:spMkLst>
            <pc:docMk/>
            <pc:sldMk cId="0" sldId="259"/>
            <ac:spMk id="10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0" name="Google Shape;10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8" name="Google Shape;158;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 name="Google Shape;171;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e1c838bfde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3e1c838bfd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3e1c838bfde_0_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3e1c838bfd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 name="Google Shape;197;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3" name="Google Shape;203;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9fb11a83d8_0_8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9fb11a83d8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9fb11a83d8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g39fb11a83d8_0_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9fb11a83d8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g39fb11a83d8_0_92: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9fb11a83d8_0_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39fb11a83d8_0_17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 name="Google Shape;1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2"/>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2"/>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3"/>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3"/>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4"/>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4"/>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4"/>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4"/>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4"/>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7"/>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7"/>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8"/>
          <p:cNvSpPr>
            <a:spLocks noGrp="1"/>
          </p:cNvSpPr>
          <p:nvPr>
            <p:ph type="pic" idx="2"/>
          </p:nvPr>
        </p:nvSpPr>
        <p:spPr>
          <a:xfrm>
            <a:off x="5183188" y="987425"/>
            <a:ext cx="6172200" cy="4873625"/>
          </a:xfrm>
          <a:prstGeom prst="rect">
            <a:avLst/>
          </a:prstGeom>
          <a:noFill/>
          <a:ln>
            <a:noFill/>
          </a:ln>
        </p:spPr>
      </p:sp>
      <p:sp>
        <p:nvSpPr>
          <p:cNvPr id="64" name="Google Shape;64;p28"/>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9"/>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0"/>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0"/>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hantanu.s.Pathak@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linkedin.com/in/pathakshantanu/"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title"/>
          </p:nvPr>
        </p:nvSpPr>
        <p:spPr>
          <a:xfrm>
            <a:off x="838200" y="18482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 to Dr. Shantanu Pathak</a:t>
            </a:r>
            <a:endParaRPr/>
          </a:p>
        </p:txBody>
      </p:sp>
      <p:sp>
        <p:nvSpPr>
          <p:cNvPr id="85" name="Google Shape;85;p1"/>
          <p:cNvSpPr txBox="1">
            <a:spLocks noGrp="1"/>
          </p:cNvSpPr>
          <p:nvPr>
            <p:ph type="body" idx="1"/>
          </p:nvPr>
        </p:nvSpPr>
        <p:spPr>
          <a:xfrm>
            <a:off x="838200" y="1510384"/>
            <a:ext cx="10515600" cy="5006326"/>
          </a:xfrm>
          <a:prstGeom prst="rect">
            <a:avLst/>
          </a:prstGeom>
          <a:noFill/>
          <a:ln>
            <a:noFill/>
          </a:ln>
        </p:spPr>
        <p:txBody>
          <a:bodyPr spcFirstLastPara="1" wrap="square" lIns="91425" tIns="45700" rIns="91425" bIns="45700" anchor="t" anchorCtr="0">
            <a:normAutofit lnSpcReduction="20000"/>
          </a:bodyPr>
          <a:lstStyle/>
          <a:p>
            <a:pPr marL="228600" lvl="0" indent="-228600" algn="l" rtl="0">
              <a:lnSpc>
                <a:spcPct val="90000"/>
              </a:lnSpc>
              <a:spcBef>
                <a:spcPts val="0"/>
              </a:spcBef>
              <a:spcAft>
                <a:spcPts val="0"/>
              </a:spcAft>
              <a:buClr>
                <a:schemeClr val="dk1"/>
              </a:buClr>
              <a:buSzPts val="2800"/>
              <a:buChar char="•"/>
            </a:pPr>
            <a:r>
              <a:rPr lang="en-US" dirty="0"/>
              <a:t>PhD CSE (Machine Learning), ME-IT, BE-IT</a:t>
            </a:r>
            <a:endParaRPr dirty="0"/>
          </a:p>
          <a:p>
            <a:pPr marL="228600" lvl="0" indent="-228600" algn="l" rtl="0">
              <a:lnSpc>
                <a:spcPct val="90000"/>
              </a:lnSpc>
              <a:spcBef>
                <a:spcPts val="1000"/>
              </a:spcBef>
              <a:spcAft>
                <a:spcPts val="0"/>
              </a:spcAft>
              <a:buClr>
                <a:schemeClr val="dk1"/>
              </a:buClr>
              <a:buSzPts val="2800"/>
              <a:buChar char="•"/>
            </a:pPr>
            <a:r>
              <a:rPr lang="en-US" dirty="0"/>
              <a:t>Worked with IT leaders like </a:t>
            </a:r>
            <a:endParaRPr dirty="0"/>
          </a:p>
          <a:p>
            <a:pPr marL="457200" lvl="1" indent="0" algn="l" rtl="0">
              <a:lnSpc>
                <a:spcPct val="90000"/>
              </a:lnSpc>
              <a:spcBef>
                <a:spcPts val="500"/>
              </a:spcBef>
              <a:spcAft>
                <a:spcPts val="0"/>
              </a:spcAft>
              <a:buClr>
                <a:schemeClr val="dk1"/>
              </a:buClr>
              <a:buSzPts val="2600"/>
              <a:buNone/>
            </a:pPr>
            <a:r>
              <a:rPr lang="en-US" sz="2600" dirty="0"/>
              <a:t>Tech-Mahindra, Amdocs, Honeywell, </a:t>
            </a:r>
            <a:r>
              <a:rPr lang="en-US" sz="2600" dirty="0" err="1"/>
              <a:t>Sibros,CAT</a:t>
            </a:r>
            <a:r>
              <a:rPr lang="en-US" sz="2600" dirty="0"/>
              <a:t> (Caterpillar), Varroc, Envestnet, </a:t>
            </a:r>
            <a:r>
              <a:rPr lang="en-US" sz="2600" dirty="0" err="1"/>
              <a:t>etc</a:t>
            </a:r>
            <a:endParaRPr sz="2600" dirty="0"/>
          </a:p>
          <a:p>
            <a:pPr marL="228600" lvl="0" indent="-228600" algn="l" rtl="0">
              <a:lnSpc>
                <a:spcPct val="90000"/>
              </a:lnSpc>
              <a:spcBef>
                <a:spcPts val="1000"/>
              </a:spcBef>
              <a:spcAft>
                <a:spcPts val="0"/>
              </a:spcAft>
              <a:buClr>
                <a:schemeClr val="dk1"/>
              </a:buClr>
              <a:buSzPts val="2800"/>
              <a:buChar char="•"/>
            </a:pPr>
            <a:r>
              <a:rPr lang="en-US" dirty="0"/>
              <a:t>Total 20+ years of experience as a Developer + Trainer</a:t>
            </a:r>
            <a:endParaRPr dirty="0"/>
          </a:p>
          <a:p>
            <a:pPr marL="228600" lvl="0" indent="-228600" algn="l" rtl="0">
              <a:lnSpc>
                <a:spcPct val="90000"/>
              </a:lnSpc>
              <a:spcBef>
                <a:spcPts val="1000"/>
              </a:spcBef>
              <a:spcAft>
                <a:spcPts val="0"/>
              </a:spcAft>
              <a:buClr>
                <a:schemeClr val="dk1"/>
              </a:buClr>
              <a:buSzPts val="2800"/>
              <a:buChar char="•"/>
            </a:pPr>
            <a:r>
              <a:rPr lang="en-US" dirty="0"/>
              <a:t>Holds 1 patent</a:t>
            </a:r>
            <a:endParaRPr dirty="0"/>
          </a:p>
          <a:p>
            <a:pPr marL="228600" lvl="0" indent="-228600" algn="l" rtl="0">
              <a:lnSpc>
                <a:spcPct val="90000"/>
              </a:lnSpc>
              <a:spcBef>
                <a:spcPts val="1000"/>
              </a:spcBef>
              <a:spcAft>
                <a:spcPts val="0"/>
              </a:spcAft>
              <a:buClr>
                <a:schemeClr val="dk1"/>
              </a:buClr>
              <a:buSzPts val="2800"/>
              <a:buChar char="•"/>
            </a:pPr>
            <a:r>
              <a:rPr lang="en-US" dirty="0"/>
              <a:t>Author (3 books + more than 10 publications)</a:t>
            </a:r>
            <a:endParaRPr dirty="0"/>
          </a:p>
          <a:p>
            <a:pPr marL="228600" lvl="0" indent="-228600" algn="l" rtl="0">
              <a:lnSpc>
                <a:spcPct val="90000"/>
              </a:lnSpc>
              <a:spcBef>
                <a:spcPts val="1000"/>
              </a:spcBef>
              <a:spcAft>
                <a:spcPts val="0"/>
              </a:spcAft>
              <a:buClr>
                <a:schemeClr val="dk1"/>
              </a:buClr>
              <a:buSzPts val="2800"/>
              <a:buChar char="•"/>
            </a:pPr>
            <a:r>
              <a:rPr lang="en-US" u="sng" dirty="0">
                <a:solidFill>
                  <a:schemeClr val="hlink"/>
                </a:solidFill>
                <a:hlinkClick r:id="rId3"/>
              </a:rPr>
              <a:t>shantanu.s.pathak@gmail.com</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Linked in : </a:t>
            </a:r>
            <a:r>
              <a:rPr lang="en-US" u="sng" dirty="0">
                <a:solidFill>
                  <a:schemeClr val="hlink"/>
                </a:solidFill>
                <a:hlinkClick r:id="rId4"/>
              </a:rPr>
              <a:t>https://www.linkedin.com/in/pathakshantanu/</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Machine Learning</a:t>
            </a:r>
            <a:endParaRPr/>
          </a:p>
        </p:txBody>
      </p:sp>
      <p:sp>
        <p:nvSpPr>
          <p:cNvPr id="91" name="Google Shape;91;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By Dr Shantanu Pathak</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Machine Learning</a:t>
            </a:r>
            <a:endParaRPr dirty="0"/>
          </a:p>
        </p:txBody>
      </p:sp>
      <p:sp>
        <p:nvSpPr>
          <p:cNvPr id="97" name="Google Shape;97;p3"/>
          <p:cNvSpPr txBox="1">
            <a:spLocks noGrp="1"/>
          </p:cNvSpPr>
          <p:nvPr>
            <p:ph type="body" idx="1"/>
          </p:nvPr>
        </p:nvSpPr>
        <p:spPr>
          <a:xfrm>
            <a:off x="838200" y="1353676"/>
            <a:ext cx="10515600" cy="487625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t>"Field of study that gives computers the ability to learn without being explicitly programmed"  defined by Prof. Arthur Samuel in 1959  </a:t>
            </a:r>
            <a:endParaRPr dirty="0"/>
          </a:p>
          <a:p>
            <a:pPr marL="228600" lvl="0" indent="-228600" algn="l" rtl="0">
              <a:lnSpc>
                <a:spcPct val="90000"/>
              </a:lnSpc>
              <a:spcBef>
                <a:spcPts val="1000"/>
              </a:spcBef>
              <a:spcAft>
                <a:spcPts val="0"/>
              </a:spcAft>
              <a:buClr>
                <a:schemeClr val="dk1"/>
              </a:buClr>
              <a:buSzPts val="2800"/>
              <a:buChar char="•"/>
            </a:pPr>
            <a:r>
              <a:rPr lang="en-US" dirty="0"/>
              <a:t>Software learns the patterns in Data</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Classical Programming:: </a:t>
            </a:r>
            <a:endParaRPr dirty="0"/>
          </a:p>
          <a:p>
            <a:pPr marL="685800" lvl="1" indent="-228600" algn="l" rtl="0">
              <a:lnSpc>
                <a:spcPct val="90000"/>
              </a:lnSpc>
              <a:spcBef>
                <a:spcPts val="500"/>
              </a:spcBef>
              <a:spcAft>
                <a:spcPts val="0"/>
              </a:spcAft>
              <a:buClr>
                <a:schemeClr val="dk1"/>
              </a:buClr>
              <a:buSzPts val="2400"/>
              <a:buChar char="•"/>
            </a:pPr>
            <a:r>
              <a:rPr lang="en-US" dirty="0"/>
              <a:t>I/P :: Rules and Sample Data </a:t>
            </a:r>
            <a:endParaRPr dirty="0"/>
          </a:p>
          <a:p>
            <a:pPr marL="685800" lvl="1" indent="-228600" algn="l" rtl="0">
              <a:lnSpc>
                <a:spcPct val="90000"/>
              </a:lnSpc>
              <a:spcBef>
                <a:spcPts val="500"/>
              </a:spcBef>
              <a:spcAft>
                <a:spcPts val="0"/>
              </a:spcAft>
              <a:buClr>
                <a:schemeClr val="dk1"/>
              </a:buClr>
              <a:buSzPts val="2400"/>
              <a:buChar char="•"/>
            </a:pPr>
            <a:r>
              <a:rPr lang="en-US" dirty="0"/>
              <a:t>O/P :: Answers</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Machine Learning</a:t>
            </a:r>
            <a:endParaRPr dirty="0"/>
          </a:p>
          <a:p>
            <a:pPr marL="685800" lvl="1" indent="-228600" algn="l" rtl="0">
              <a:lnSpc>
                <a:spcPct val="90000"/>
              </a:lnSpc>
              <a:spcBef>
                <a:spcPts val="500"/>
              </a:spcBef>
              <a:spcAft>
                <a:spcPts val="0"/>
              </a:spcAft>
              <a:buClr>
                <a:schemeClr val="dk1"/>
              </a:buClr>
              <a:buSzPts val="2400"/>
              <a:buChar char="•"/>
            </a:pPr>
            <a:r>
              <a:rPr lang="en-US" dirty="0"/>
              <a:t>I/P :: Huge Data and Answers</a:t>
            </a:r>
            <a:endParaRPr dirty="0"/>
          </a:p>
          <a:p>
            <a:pPr marL="685800" lvl="1" indent="-228600" algn="l" rtl="0">
              <a:lnSpc>
                <a:spcPct val="90000"/>
              </a:lnSpc>
              <a:spcBef>
                <a:spcPts val="500"/>
              </a:spcBef>
              <a:spcAft>
                <a:spcPts val="0"/>
              </a:spcAft>
              <a:buClr>
                <a:schemeClr val="dk1"/>
              </a:buClr>
              <a:buSzPts val="2400"/>
              <a:buChar char="•"/>
            </a:pPr>
            <a:r>
              <a:rPr lang="en-US" dirty="0"/>
              <a:t>O/P :: Patterns / Rules</a:t>
            </a:r>
            <a:endParaRPr dirty="0"/>
          </a:p>
          <a:p>
            <a:pPr marL="685800" lvl="1" indent="-76200" algn="l" rtl="0">
              <a:lnSpc>
                <a:spcPct val="90000"/>
              </a:lnSpc>
              <a:spcBef>
                <a:spcPts val="500"/>
              </a:spcBef>
              <a:spcAft>
                <a:spcPts val="0"/>
              </a:spcAft>
              <a:buClr>
                <a:schemeClr val="dk1"/>
              </a:buClr>
              <a:buSzPts val="240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4"/>
          <p:cNvSpPr txBox="1">
            <a:spLocks noGrp="1"/>
          </p:cNvSpPr>
          <p:nvPr>
            <p:ph type="title"/>
          </p:nvPr>
        </p:nvSpPr>
        <p:spPr>
          <a:xfrm>
            <a:off x="838200" y="365125"/>
            <a:ext cx="10515600" cy="79763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dirty="0"/>
              <a:t>Introduction</a:t>
            </a:r>
            <a:endParaRPr dirty="0"/>
          </a:p>
        </p:txBody>
      </p:sp>
      <p:sp>
        <p:nvSpPr>
          <p:cNvPr id="103" name="Google Shape;103;p4"/>
          <p:cNvSpPr txBox="1">
            <a:spLocks noGrp="1"/>
          </p:cNvSpPr>
          <p:nvPr>
            <p:ph type="body" idx="1"/>
          </p:nvPr>
        </p:nvSpPr>
        <p:spPr>
          <a:xfrm>
            <a:off x="838199" y="1354667"/>
            <a:ext cx="10903527" cy="4822296"/>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dirty="0"/>
              <a:t>Machine Learning : </a:t>
            </a:r>
            <a:endParaRPr dirty="0"/>
          </a:p>
          <a:p>
            <a:pPr marL="685800" lvl="1" indent="-228600" algn="l" rtl="0">
              <a:lnSpc>
                <a:spcPct val="90000"/>
              </a:lnSpc>
              <a:spcBef>
                <a:spcPts val="500"/>
              </a:spcBef>
              <a:spcAft>
                <a:spcPts val="0"/>
              </a:spcAft>
              <a:buClr>
                <a:schemeClr val="dk1"/>
              </a:buClr>
              <a:buSzPct val="100000"/>
              <a:buChar char="•"/>
            </a:pPr>
            <a:r>
              <a:rPr lang="en-US" dirty="0"/>
              <a:t>machines find the pattern in input data. </a:t>
            </a:r>
            <a:endParaRPr dirty="0"/>
          </a:p>
          <a:p>
            <a:pPr marL="685800" lvl="1" indent="-228600" algn="l" rtl="0">
              <a:lnSpc>
                <a:spcPct val="90000"/>
              </a:lnSpc>
              <a:spcBef>
                <a:spcPts val="500"/>
              </a:spcBef>
              <a:spcAft>
                <a:spcPts val="0"/>
              </a:spcAft>
              <a:buClr>
                <a:schemeClr val="dk1"/>
              </a:buClr>
              <a:buSzPct val="100000"/>
              <a:buChar char="•"/>
            </a:pPr>
            <a:r>
              <a:rPr lang="en-US" dirty="0"/>
              <a:t>This pattern is mapped to certain output.</a:t>
            </a:r>
            <a:endParaRPr dirty="0"/>
          </a:p>
          <a:p>
            <a:pPr marL="685800" lvl="1" indent="-228600" algn="l" rtl="0">
              <a:lnSpc>
                <a:spcPct val="90000"/>
              </a:lnSpc>
              <a:spcBef>
                <a:spcPts val="500"/>
              </a:spcBef>
              <a:spcAft>
                <a:spcPts val="0"/>
              </a:spcAft>
              <a:buClr>
                <a:schemeClr val="dk1"/>
              </a:buClr>
              <a:buSzPct val="100000"/>
              <a:buChar char="•"/>
            </a:pPr>
            <a:r>
              <a:rPr lang="en-US" dirty="0"/>
              <a:t>Then using this pattern and mapping machine can predict the output for new inputs</a:t>
            </a:r>
            <a:endParaRPr dirty="0"/>
          </a:p>
          <a:p>
            <a:pPr marL="685800" lvl="1" indent="-228600" algn="l" rtl="0">
              <a:lnSpc>
                <a:spcPct val="90000"/>
              </a:lnSpc>
              <a:spcBef>
                <a:spcPts val="500"/>
              </a:spcBef>
              <a:spcAft>
                <a:spcPts val="0"/>
              </a:spcAft>
              <a:buClr>
                <a:schemeClr val="dk1"/>
              </a:buClr>
              <a:buSzPct val="100000"/>
              <a:buChar char="•"/>
            </a:pPr>
            <a:r>
              <a:rPr lang="en-US" dirty="0"/>
              <a:t>This pattern and mapping is knowledge!</a:t>
            </a:r>
            <a:endParaRPr dirty="0"/>
          </a:p>
          <a:p>
            <a:pPr marL="685800" lvl="1" indent="-87630" algn="l" rtl="0">
              <a:lnSpc>
                <a:spcPct val="90000"/>
              </a:lnSpc>
              <a:spcBef>
                <a:spcPts val="500"/>
              </a:spcBef>
              <a:spcAft>
                <a:spcPts val="0"/>
              </a:spcAft>
              <a:buClr>
                <a:schemeClr val="dk1"/>
              </a:buClr>
              <a:buSzPct val="100000"/>
              <a:buNone/>
            </a:pPr>
            <a:endParaRPr dirty="0"/>
          </a:p>
          <a:p>
            <a:pPr marL="228600" lvl="0" indent="-228600" algn="l" rtl="0">
              <a:lnSpc>
                <a:spcPct val="90000"/>
              </a:lnSpc>
              <a:spcBef>
                <a:spcPts val="1000"/>
              </a:spcBef>
              <a:spcAft>
                <a:spcPts val="0"/>
              </a:spcAft>
              <a:buClr>
                <a:schemeClr val="dk1"/>
              </a:buClr>
              <a:buSzPct val="100000"/>
              <a:buChar char="•"/>
            </a:pPr>
            <a:r>
              <a:rPr lang="en-US" dirty="0"/>
              <a:t>Example : </a:t>
            </a:r>
            <a:endParaRPr dirty="0"/>
          </a:p>
          <a:p>
            <a:pPr marL="685800" lvl="1" indent="-228600" algn="l" rtl="0">
              <a:lnSpc>
                <a:spcPct val="90000"/>
              </a:lnSpc>
              <a:spcBef>
                <a:spcPts val="500"/>
              </a:spcBef>
              <a:spcAft>
                <a:spcPts val="0"/>
              </a:spcAft>
              <a:buClr>
                <a:schemeClr val="dk1"/>
              </a:buClr>
              <a:buSzPct val="100000"/>
              <a:buChar char="•"/>
            </a:pPr>
            <a:r>
              <a:rPr lang="en-US" dirty="0"/>
              <a:t>Machine finds patterns in images of dogs and cats. </a:t>
            </a:r>
            <a:endParaRPr dirty="0"/>
          </a:p>
          <a:p>
            <a:pPr marL="685800" lvl="1" indent="-228600" algn="l" rtl="0">
              <a:lnSpc>
                <a:spcPct val="90000"/>
              </a:lnSpc>
              <a:spcBef>
                <a:spcPts val="500"/>
              </a:spcBef>
              <a:spcAft>
                <a:spcPts val="0"/>
              </a:spcAft>
              <a:buClr>
                <a:schemeClr val="dk1"/>
              </a:buClr>
              <a:buSzPct val="100000"/>
              <a:buChar char="•"/>
            </a:pPr>
            <a:r>
              <a:rPr lang="en-US" dirty="0"/>
              <a:t>Also it maps patterns with output that whether it is dog or cat</a:t>
            </a:r>
            <a:endParaRPr dirty="0"/>
          </a:p>
          <a:p>
            <a:pPr marL="685800" lvl="1" indent="-87630" algn="l" rtl="0">
              <a:lnSpc>
                <a:spcPct val="90000"/>
              </a:lnSpc>
              <a:spcBef>
                <a:spcPts val="500"/>
              </a:spcBef>
              <a:spcAft>
                <a:spcPts val="0"/>
              </a:spcAft>
              <a:buClr>
                <a:schemeClr val="dk1"/>
              </a:buClr>
              <a:buSzPct val="100000"/>
              <a:buNone/>
            </a:pPr>
            <a:endParaRPr dirty="0"/>
          </a:p>
          <a:p>
            <a:pPr marL="228600" lvl="0" indent="-228600" algn="l" rtl="0">
              <a:lnSpc>
                <a:spcPct val="90000"/>
              </a:lnSpc>
              <a:spcBef>
                <a:spcPts val="1000"/>
              </a:spcBef>
              <a:spcAft>
                <a:spcPts val="0"/>
              </a:spcAft>
              <a:buClr>
                <a:schemeClr val="dk1"/>
              </a:buClr>
              <a:buSzPct val="100000"/>
              <a:buChar char="•"/>
            </a:pPr>
            <a:r>
              <a:rPr lang="en-US" dirty="0"/>
              <a:t>Another example :</a:t>
            </a:r>
            <a:endParaRPr dirty="0"/>
          </a:p>
          <a:p>
            <a:pPr marL="685800" lvl="1" indent="-228600" algn="l" rtl="0">
              <a:lnSpc>
                <a:spcPct val="90000"/>
              </a:lnSpc>
              <a:spcBef>
                <a:spcPts val="500"/>
              </a:spcBef>
              <a:spcAft>
                <a:spcPts val="0"/>
              </a:spcAft>
              <a:buClr>
                <a:schemeClr val="dk1"/>
              </a:buClr>
              <a:buSzPct val="100000"/>
              <a:buChar char="•"/>
            </a:pPr>
            <a:r>
              <a:rPr lang="en-US" dirty="0"/>
              <a:t>If diabetic patient data is available</a:t>
            </a:r>
            <a:endParaRPr dirty="0"/>
          </a:p>
          <a:p>
            <a:pPr marL="685800" lvl="1" indent="-228600" algn="l" rtl="0">
              <a:lnSpc>
                <a:spcPct val="90000"/>
              </a:lnSpc>
              <a:spcBef>
                <a:spcPts val="500"/>
              </a:spcBef>
              <a:spcAft>
                <a:spcPts val="0"/>
              </a:spcAft>
              <a:buClr>
                <a:schemeClr val="dk1"/>
              </a:buClr>
              <a:buSzPct val="100000"/>
              <a:buChar char="•"/>
            </a:pPr>
            <a:r>
              <a:rPr lang="en-US" dirty="0"/>
              <a:t>Then machine will find pattern in age, BP , sugar level</a:t>
            </a:r>
            <a:endParaRPr dirty="0"/>
          </a:p>
          <a:p>
            <a:pPr marL="685800" lvl="1" indent="-228600" algn="l" rtl="0">
              <a:lnSpc>
                <a:spcPct val="90000"/>
              </a:lnSpc>
              <a:spcBef>
                <a:spcPts val="500"/>
              </a:spcBef>
              <a:spcAft>
                <a:spcPts val="0"/>
              </a:spcAft>
              <a:buClr>
                <a:schemeClr val="dk1"/>
              </a:buClr>
              <a:buSzPct val="100000"/>
              <a:buChar char="•"/>
            </a:pPr>
            <a:r>
              <a:rPr lang="en-US" dirty="0"/>
              <a:t>Then map this pattern to class (diabetic / non-diabetic)</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Why Machine Learning?</a:t>
            </a:r>
            <a:endParaRPr/>
          </a:p>
        </p:txBody>
      </p:sp>
      <p:sp>
        <p:nvSpPr>
          <p:cNvPr id="109" name="Google Shape;109;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Deterministic vs Non-deterministic Solutions</a:t>
            </a:r>
            <a:endParaRPr/>
          </a:p>
          <a:p>
            <a:pPr marL="685800" lvl="1" indent="-228600" algn="l" rtl="0">
              <a:lnSpc>
                <a:spcPct val="90000"/>
              </a:lnSpc>
              <a:spcBef>
                <a:spcPts val="500"/>
              </a:spcBef>
              <a:spcAft>
                <a:spcPts val="0"/>
              </a:spcAft>
              <a:buClr>
                <a:schemeClr val="dk1"/>
              </a:buClr>
              <a:buSzPts val="2400"/>
              <a:buChar char="•"/>
            </a:pPr>
            <a:r>
              <a:rPr lang="en-US"/>
              <a:t>100% success every time ?</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Why Statistics ?</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Ex. Face Detection , Finger print scanner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Machine Learning Applications</a:t>
            </a:r>
            <a:endParaRPr/>
          </a:p>
        </p:txBody>
      </p:sp>
      <p:sp>
        <p:nvSpPr>
          <p:cNvPr id="115" name="Google Shape;115;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Finger print scanner</a:t>
            </a:r>
            <a:endParaRPr/>
          </a:p>
          <a:p>
            <a:pPr marL="228600" lvl="0" indent="-228600" algn="l" rtl="0">
              <a:lnSpc>
                <a:spcPct val="90000"/>
              </a:lnSpc>
              <a:spcBef>
                <a:spcPts val="1000"/>
              </a:spcBef>
              <a:spcAft>
                <a:spcPts val="0"/>
              </a:spcAft>
              <a:buClr>
                <a:schemeClr val="dk1"/>
              </a:buClr>
              <a:buSzPts val="2800"/>
              <a:buChar char="•"/>
            </a:pPr>
            <a:r>
              <a:rPr lang="en-US"/>
              <a:t>Share market analysis</a:t>
            </a:r>
            <a:endParaRPr/>
          </a:p>
          <a:p>
            <a:pPr marL="228600" lvl="0" indent="-228600" algn="l" rtl="0">
              <a:lnSpc>
                <a:spcPct val="90000"/>
              </a:lnSpc>
              <a:spcBef>
                <a:spcPts val="1000"/>
              </a:spcBef>
              <a:spcAft>
                <a:spcPts val="0"/>
              </a:spcAft>
              <a:buClr>
                <a:schemeClr val="dk1"/>
              </a:buClr>
              <a:buSzPts val="2800"/>
              <a:buChar char="•"/>
            </a:pPr>
            <a:r>
              <a:rPr lang="en-US"/>
              <a:t>Iris scanner</a:t>
            </a:r>
            <a:endParaRPr/>
          </a:p>
          <a:p>
            <a:pPr marL="228600" lvl="0" indent="-228600" algn="l" rtl="0">
              <a:lnSpc>
                <a:spcPct val="90000"/>
              </a:lnSpc>
              <a:spcBef>
                <a:spcPts val="1000"/>
              </a:spcBef>
              <a:spcAft>
                <a:spcPts val="0"/>
              </a:spcAft>
              <a:buClr>
                <a:schemeClr val="dk1"/>
              </a:buClr>
              <a:buSzPts val="2800"/>
              <a:buChar char="•"/>
            </a:pPr>
            <a:r>
              <a:rPr lang="en-US"/>
              <a:t>Number plate detection</a:t>
            </a:r>
            <a:endParaRPr/>
          </a:p>
          <a:p>
            <a:pPr marL="228600" lvl="0" indent="-228600" algn="l" rtl="0">
              <a:lnSpc>
                <a:spcPct val="90000"/>
              </a:lnSpc>
              <a:spcBef>
                <a:spcPts val="1000"/>
              </a:spcBef>
              <a:spcAft>
                <a:spcPts val="0"/>
              </a:spcAft>
              <a:buClr>
                <a:schemeClr val="dk1"/>
              </a:buClr>
              <a:buSzPts val="2800"/>
              <a:buChar char="•"/>
            </a:pPr>
            <a:r>
              <a:rPr lang="en-US"/>
              <a:t>Diabetes detection</a:t>
            </a:r>
            <a:endParaRPr/>
          </a:p>
          <a:p>
            <a:pPr marL="228600" lvl="0" indent="-228600" algn="l" rtl="0">
              <a:lnSpc>
                <a:spcPct val="90000"/>
              </a:lnSpc>
              <a:spcBef>
                <a:spcPts val="1000"/>
              </a:spcBef>
              <a:spcAft>
                <a:spcPts val="0"/>
              </a:spcAft>
              <a:buClr>
                <a:schemeClr val="dk1"/>
              </a:buClr>
              <a:buSzPts val="2800"/>
              <a:buChar char="•"/>
            </a:pPr>
            <a:r>
              <a:rPr lang="en-US"/>
              <a:t>Recommendation system</a:t>
            </a:r>
            <a:endParaRPr/>
          </a:p>
          <a:p>
            <a:pPr marL="228600" lvl="0" indent="-228600" algn="l" rtl="0">
              <a:lnSpc>
                <a:spcPct val="90000"/>
              </a:lnSpc>
              <a:spcBef>
                <a:spcPts val="1000"/>
              </a:spcBef>
              <a:spcAft>
                <a:spcPts val="0"/>
              </a:spcAft>
              <a:buClr>
                <a:schemeClr val="dk1"/>
              </a:buClr>
              <a:buSzPts val="2800"/>
              <a:buChar char="•"/>
            </a:pPr>
            <a:r>
              <a:rPr lang="en-US"/>
              <a:t>IoT based predictive maintenance</a:t>
            </a:r>
            <a:endParaRPr/>
          </a:p>
          <a:p>
            <a:pPr marL="228600" lvl="0" indent="-228600" algn="l" rtl="0">
              <a:lnSpc>
                <a:spcPct val="90000"/>
              </a:lnSpc>
              <a:spcBef>
                <a:spcPts val="1000"/>
              </a:spcBef>
              <a:spcAft>
                <a:spcPts val="0"/>
              </a:spcAft>
              <a:buClr>
                <a:schemeClr val="dk1"/>
              </a:buClr>
              <a:buSzPts val="2800"/>
              <a:buChar char="•"/>
            </a:pPr>
            <a:r>
              <a:rPr lang="en-US"/>
              <a:t>IoT based monitoring of a manufacturing plant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7"/>
          <p:cNvSpPr txBox="1">
            <a:spLocks noGrp="1"/>
          </p:cNvSpPr>
          <p:nvPr>
            <p:ph type="title"/>
          </p:nvPr>
        </p:nvSpPr>
        <p:spPr>
          <a:xfrm>
            <a:off x="838200" y="129268"/>
            <a:ext cx="10515600" cy="8058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AI vs ML vs DL</a:t>
            </a:r>
            <a:endParaRPr/>
          </a:p>
        </p:txBody>
      </p:sp>
      <p:sp>
        <p:nvSpPr>
          <p:cNvPr id="121" name="Google Shape;12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122" name="Google Shape;122;p7"/>
          <p:cNvPicPr preferRelativeResize="0"/>
          <p:nvPr/>
        </p:nvPicPr>
        <p:blipFill>
          <a:blip r:embed="rId3">
            <a:alphaModFix/>
          </a:blip>
          <a:stretch>
            <a:fillRect/>
          </a:stretch>
        </p:blipFill>
        <p:spPr>
          <a:xfrm>
            <a:off x="155650" y="889007"/>
            <a:ext cx="11909351" cy="58674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8"/>
          <p:cNvSpPr txBox="1">
            <a:spLocks noGrp="1"/>
          </p:cNvSpPr>
          <p:nvPr>
            <p:ph type="title"/>
          </p:nvPr>
        </p:nvSpPr>
        <p:spPr>
          <a:xfrm>
            <a:off x="881742" y="130285"/>
            <a:ext cx="10515600" cy="91716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Calibri"/>
              <a:buNone/>
            </a:pPr>
            <a:r>
              <a:rPr lang="en-US"/>
              <a:t>ML / DL Model Building Flow</a:t>
            </a:r>
            <a:endParaRPr/>
          </a:p>
        </p:txBody>
      </p:sp>
      <p:sp>
        <p:nvSpPr>
          <p:cNvPr id="128" name="Google Shape;128;p8"/>
          <p:cNvSpPr/>
          <p:nvPr/>
        </p:nvSpPr>
        <p:spPr>
          <a:xfrm>
            <a:off x="235131" y="2808511"/>
            <a:ext cx="1410789" cy="992778"/>
          </a:xfrm>
          <a:prstGeom prst="rect">
            <a:avLst/>
          </a:prstGeom>
          <a:gradFill>
            <a:gsLst>
              <a:gs pos="0">
                <a:srgbClr val="9A9A9A"/>
              </a:gs>
              <a:gs pos="50000">
                <a:srgbClr val="8D8D8D"/>
              </a:gs>
              <a:gs pos="100000">
                <a:srgbClr val="787878"/>
              </a:gs>
            </a:gsLst>
            <a:lin ang="5400000" scaled="0"/>
          </a:gra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0" i="0" u="none" strike="noStrike" cap="none">
                <a:solidFill>
                  <a:schemeClr val="dk1"/>
                </a:solidFill>
                <a:latin typeface="Calibri"/>
                <a:ea typeface="Calibri"/>
                <a:cs typeface="Calibri"/>
                <a:sym typeface="Calibri"/>
              </a:rPr>
              <a:t>Data</a:t>
            </a:r>
            <a:endParaRPr sz="1800" b="0" i="0" u="none" strike="noStrike" cap="none">
              <a:solidFill>
                <a:schemeClr val="dk1"/>
              </a:solidFill>
              <a:latin typeface="Calibri"/>
              <a:ea typeface="Calibri"/>
              <a:cs typeface="Calibri"/>
              <a:sym typeface="Calibri"/>
            </a:endParaRPr>
          </a:p>
        </p:txBody>
      </p:sp>
      <p:sp>
        <p:nvSpPr>
          <p:cNvPr id="129" name="Google Shape;129;p8"/>
          <p:cNvSpPr/>
          <p:nvPr/>
        </p:nvSpPr>
        <p:spPr>
          <a:xfrm>
            <a:off x="1889759" y="1815733"/>
            <a:ext cx="1410789" cy="992778"/>
          </a:xfrm>
          <a:prstGeom prst="rect">
            <a:avLst/>
          </a:prstGeom>
          <a:gradFill>
            <a:gsLst>
              <a:gs pos="0">
                <a:srgbClr val="B0CAE9"/>
              </a:gs>
              <a:gs pos="50000">
                <a:srgbClr val="A1C1E4"/>
              </a:gs>
              <a:gs pos="100000">
                <a:srgbClr val="90B8E4"/>
              </a:gs>
            </a:gsLst>
            <a:lin ang="5400000"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Calibri"/>
                <a:ea typeface="Calibri"/>
                <a:cs typeface="Calibri"/>
                <a:sym typeface="Calibri"/>
              </a:rPr>
              <a:t>Training Data</a:t>
            </a:r>
            <a:endParaRPr sz="1800" b="0" i="0" u="none" strike="noStrike" cap="none">
              <a:solidFill>
                <a:schemeClr val="dk1"/>
              </a:solidFill>
              <a:latin typeface="Calibri"/>
              <a:ea typeface="Calibri"/>
              <a:cs typeface="Calibri"/>
              <a:sym typeface="Calibri"/>
            </a:endParaRPr>
          </a:p>
        </p:txBody>
      </p:sp>
      <p:sp>
        <p:nvSpPr>
          <p:cNvPr id="130" name="Google Shape;130;p8"/>
          <p:cNvSpPr/>
          <p:nvPr/>
        </p:nvSpPr>
        <p:spPr>
          <a:xfrm>
            <a:off x="1889758" y="3304900"/>
            <a:ext cx="1410789" cy="992778"/>
          </a:xfrm>
          <a:prstGeom prst="rect">
            <a:avLst/>
          </a:prstGeom>
          <a:gradFill>
            <a:gsLst>
              <a:gs pos="0">
                <a:srgbClr val="F7BCA2"/>
              </a:gs>
              <a:gs pos="50000">
                <a:srgbClr val="F4B093"/>
              </a:gs>
              <a:gs pos="100000">
                <a:srgbClr val="F7A47F"/>
              </a:gs>
            </a:gsLst>
            <a:lin ang="5400000" scaled="0"/>
          </a:gradFill>
          <a:ln w="9525"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Calibri"/>
                <a:ea typeface="Calibri"/>
                <a:cs typeface="Calibri"/>
                <a:sym typeface="Calibri"/>
              </a:rPr>
              <a:t>Testing Data</a:t>
            </a:r>
            <a:endParaRPr sz="2400" b="0" i="0" u="none" strike="noStrike" cap="none">
              <a:solidFill>
                <a:schemeClr val="dk1"/>
              </a:solidFill>
              <a:latin typeface="Calibri"/>
              <a:ea typeface="Calibri"/>
              <a:cs typeface="Calibri"/>
              <a:sym typeface="Calibri"/>
            </a:endParaRPr>
          </a:p>
        </p:txBody>
      </p:sp>
      <p:sp>
        <p:nvSpPr>
          <p:cNvPr id="131" name="Google Shape;131;p8"/>
          <p:cNvSpPr/>
          <p:nvPr/>
        </p:nvSpPr>
        <p:spPr>
          <a:xfrm>
            <a:off x="3731622" y="2673528"/>
            <a:ext cx="2551612" cy="722812"/>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Calibri"/>
                <a:ea typeface="Calibri"/>
                <a:cs typeface="Calibri"/>
                <a:sym typeface="Calibri"/>
              </a:rPr>
              <a:t>Pre-processing (ETL)</a:t>
            </a:r>
            <a:endParaRPr sz="2400" b="0" i="0" u="none" strike="noStrike" cap="none">
              <a:solidFill>
                <a:schemeClr val="dk1"/>
              </a:solidFill>
              <a:latin typeface="Calibri"/>
              <a:ea typeface="Calibri"/>
              <a:cs typeface="Calibri"/>
              <a:sym typeface="Calibri"/>
            </a:endParaRPr>
          </a:p>
        </p:txBody>
      </p:sp>
      <p:sp>
        <p:nvSpPr>
          <p:cNvPr id="132" name="Google Shape;132;p8"/>
          <p:cNvSpPr/>
          <p:nvPr/>
        </p:nvSpPr>
        <p:spPr>
          <a:xfrm>
            <a:off x="6457405" y="2673528"/>
            <a:ext cx="2551612" cy="722812"/>
          </a:xfrm>
          <a:prstGeom prst="rect">
            <a:avLst/>
          </a:prstGeom>
          <a:gradFill>
            <a:gsLst>
              <a:gs pos="0">
                <a:srgbClr val="FFDC9B"/>
              </a:gs>
              <a:gs pos="50000">
                <a:srgbClr val="FFD68D"/>
              </a:gs>
              <a:gs pos="100000">
                <a:srgbClr val="FFD478"/>
              </a:gs>
            </a:gsLst>
            <a:lin ang="5400000" scaled="0"/>
          </a:gradFill>
          <a:ln w="9525" cap="flat" cmpd="sng">
            <a:solidFill>
              <a:schemeClr val="accent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Calibri"/>
                <a:ea typeface="Calibri"/>
                <a:cs typeface="Calibri"/>
                <a:sym typeface="Calibri"/>
              </a:rPr>
              <a:t>Feature Selection</a:t>
            </a:r>
            <a:endParaRPr sz="2400" b="0" i="0" u="none" strike="noStrike" cap="none">
              <a:solidFill>
                <a:schemeClr val="dk1"/>
              </a:solidFill>
              <a:latin typeface="Calibri"/>
              <a:ea typeface="Calibri"/>
              <a:cs typeface="Calibri"/>
              <a:sym typeface="Calibri"/>
            </a:endParaRPr>
          </a:p>
        </p:txBody>
      </p:sp>
      <p:sp>
        <p:nvSpPr>
          <p:cNvPr id="133" name="Google Shape;133;p8"/>
          <p:cNvSpPr/>
          <p:nvPr/>
        </p:nvSpPr>
        <p:spPr>
          <a:xfrm>
            <a:off x="9511937" y="1485421"/>
            <a:ext cx="1841863" cy="1267097"/>
          </a:xfrm>
          <a:prstGeom prst="ellipse">
            <a:avLst/>
          </a:prstGeom>
          <a:gradFill>
            <a:gsLst>
              <a:gs pos="0">
                <a:srgbClr val="D1D1D1"/>
              </a:gs>
              <a:gs pos="50000">
                <a:srgbClr val="C7C7C7"/>
              </a:gs>
              <a:gs pos="100000">
                <a:srgbClr val="C0C0C0"/>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dk1"/>
                </a:solidFill>
                <a:latin typeface="Calibri"/>
                <a:ea typeface="Calibri"/>
                <a:cs typeface="Calibri"/>
                <a:sym typeface="Calibri"/>
              </a:rPr>
              <a:t>Model Training</a:t>
            </a:r>
            <a:endParaRPr sz="2400" b="0" i="0" u="none" strike="noStrike" cap="none">
              <a:solidFill>
                <a:schemeClr val="dk1"/>
              </a:solidFill>
              <a:latin typeface="Calibri"/>
              <a:ea typeface="Calibri"/>
              <a:cs typeface="Calibri"/>
              <a:sym typeface="Calibri"/>
            </a:endParaRPr>
          </a:p>
        </p:txBody>
      </p:sp>
      <p:sp>
        <p:nvSpPr>
          <p:cNvPr id="134" name="Google Shape;134;p8"/>
          <p:cNvSpPr/>
          <p:nvPr/>
        </p:nvSpPr>
        <p:spPr>
          <a:xfrm>
            <a:off x="9628413" y="3304900"/>
            <a:ext cx="1608909" cy="849086"/>
          </a:xfrm>
          <a:prstGeom prst="roundRect">
            <a:avLst>
              <a:gd name="adj" fmla="val 16667"/>
            </a:avLst>
          </a:prstGeom>
          <a:gradFill>
            <a:gsLst>
              <a:gs pos="0">
                <a:srgbClr val="AFAFAF"/>
              </a:gs>
              <a:gs pos="50000">
                <a:schemeClr val="accent3"/>
              </a:gs>
              <a:gs pos="100000">
                <a:srgbClr val="919191"/>
              </a:gs>
            </a:gsLst>
            <a:lin ang="5400000" scaled="0"/>
          </a:gradFill>
          <a:ln w="9525" cap="flat" cmpd="sng">
            <a:solidFill>
              <a:schemeClr val="accent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chemeClr val="lt1"/>
                </a:solidFill>
                <a:latin typeface="Calibri"/>
                <a:ea typeface="Calibri"/>
                <a:cs typeface="Calibri"/>
                <a:sym typeface="Calibri"/>
              </a:rPr>
              <a:t>ML Model</a:t>
            </a:r>
            <a:endParaRPr sz="2400" b="0" i="0" u="none" strike="noStrike" cap="none">
              <a:solidFill>
                <a:schemeClr val="lt1"/>
              </a:solidFill>
              <a:latin typeface="Calibri"/>
              <a:ea typeface="Calibri"/>
              <a:cs typeface="Calibri"/>
              <a:sym typeface="Calibri"/>
            </a:endParaRPr>
          </a:p>
        </p:txBody>
      </p:sp>
      <p:sp>
        <p:nvSpPr>
          <p:cNvPr id="135" name="Google Shape;135;p8"/>
          <p:cNvSpPr/>
          <p:nvPr/>
        </p:nvSpPr>
        <p:spPr>
          <a:xfrm>
            <a:off x="1889758" y="5327767"/>
            <a:ext cx="1532711" cy="627017"/>
          </a:xfrm>
          <a:prstGeom prst="rect">
            <a:avLst/>
          </a:prstGeom>
          <a:solidFill>
            <a:schemeClr val="lt1"/>
          </a:solidFill>
          <a:ln w="12700" cap="flat" cmpd="sng">
            <a:solidFill>
              <a:schemeClr val="accent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0" i="0" u="none" strike="noStrike" cap="none">
                <a:solidFill>
                  <a:srgbClr val="385623"/>
                </a:solidFill>
                <a:latin typeface="Calibri"/>
                <a:ea typeface="Calibri"/>
                <a:cs typeface="Calibri"/>
                <a:sym typeface="Calibri"/>
              </a:rPr>
              <a:t>New Data</a:t>
            </a:r>
            <a:endParaRPr sz="2400" b="0" i="0" u="none" strike="noStrike" cap="none">
              <a:solidFill>
                <a:srgbClr val="385623"/>
              </a:solidFill>
              <a:latin typeface="Calibri"/>
              <a:ea typeface="Calibri"/>
              <a:cs typeface="Calibri"/>
              <a:sym typeface="Calibri"/>
            </a:endParaRPr>
          </a:p>
        </p:txBody>
      </p:sp>
      <p:sp>
        <p:nvSpPr>
          <p:cNvPr id="136" name="Google Shape;136;p8"/>
          <p:cNvSpPr/>
          <p:nvPr/>
        </p:nvSpPr>
        <p:spPr>
          <a:xfrm rot="1374004">
            <a:off x="3025193" y="1226954"/>
            <a:ext cx="1937657" cy="901337"/>
          </a:xfrm>
          <a:prstGeom prst="curvedDownArrow">
            <a:avLst>
              <a:gd name="adj1" fmla="val 25000"/>
              <a:gd name="adj2" fmla="val 50000"/>
              <a:gd name="adj3" fmla="val 250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7" name="Google Shape;137;p8"/>
          <p:cNvSpPr/>
          <p:nvPr/>
        </p:nvSpPr>
        <p:spPr>
          <a:xfrm>
            <a:off x="5795554" y="1625371"/>
            <a:ext cx="1937657" cy="901337"/>
          </a:xfrm>
          <a:prstGeom prst="curvedDownArrow">
            <a:avLst>
              <a:gd name="adj1" fmla="val 25000"/>
              <a:gd name="adj2" fmla="val 50000"/>
              <a:gd name="adj3" fmla="val 250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8"/>
          <p:cNvSpPr/>
          <p:nvPr/>
        </p:nvSpPr>
        <p:spPr>
          <a:xfrm rot="-2024954">
            <a:off x="8157483" y="1536428"/>
            <a:ext cx="1683725" cy="608386"/>
          </a:xfrm>
          <a:prstGeom prst="curvedDownArrow">
            <a:avLst>
              <a:gd name="adj1" fmla="val 25000"/>
              <a:gd name="adj2" fmla="val 35494"/>
              <a:gd name="adj3" fmla="val 250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9" name="Google Shape;139;p8"/>
          <p:cNvSpPr/>
          <p:nvPr/>
        </p:nvSpPr>
        <p:spPr>
          <a:xfrm rot="-1498383">
            <a:off x="3009898" y="3944042"/>
            <a:ext cx="2063932" cy="744583"/>
          </a:xfrm>
          <a:prstGeom prst="curvedUpArrow">
            <a:avLst>
              <a:gd name="adj1" fmla="val 25000"/>
              <a:gd name="adj2" fmla="val 50000"/>
              <a:gd name="adj3" fmla="val 25000"/>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0" name="Google Shape;140;p8"/>
          <p:cNvSpPr/>
          <p:nvPr/>
        </p:nvSpPr>
        <p:spPr>
          <a:xfrm>
            <a:off x="5904412" y="3543161"/>
            <a:ext cx="1828800" cy="885145"/>
          </a:xfrm>
          <a:prstGeom prst="curvedUpArrow">
            <a:avLst>
              <a:gd name="adj1" fmla="val 25000"/>
              <a:gd name="adj2" fmla="val 50000"/>
              <a:gd name="adj3" fmla="val 25000"/>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1" name="Google Shape;141;p8"/>
          <p:cNvSpPr/>
          <p:nvPr/>
        </p:nvSpPr>
        <p:spPr>
          <a:xfrm rot="1641528">
            <a:off x="8427755" y="3901021"/>
            <a:ext cx="1744990" cy="770708"/>
          </a:xfrm>
          <a:prstGeom prst="curvedUpArrow">
            <a:avLst>
              <a:gd name="adj1" fmla="val 25000"/>
              <a:gd name="adj2" fmla="val 50000"/>
              <a:gd name="adj3" fmla="val 25000"/>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8"/>
          <p:cNvSpPr/>
          <p:nvPr/>
        </p:nvSpPr>
        <p:spPr>
          <a:xfrm rot="-2508262">
            <a:off x="3461747" y="4600622"/>
            <a:ext cx="2372786" cy="981251"/>
          </a:xfrm>
          <a:prstGeom prst="curvedUpArrow">
            <a:avLst>
              <a:gd name="adj1" fmla="val 25000"/>
              <a:gd name="adj2" fmla="val 50000"/>
              <a:gd name="adj3" fmla="val 25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3" name="Google Shape;143;p8"/>
          <p:cNvSpPr/>
          <p:nvPr/>
        </p:nvSpPr>
        <p:spPr>
          <a:xfrm>
            <a:off x="5849982" y="4412793"/>
            <a:ext cx="1828800" cy="676713"/>
          </a:xfrm>
          <a:prstGeom prst="curvedUpArrow">
            <a:avLst>
              <a:gd name="adj1" fmla="val 25000"/>
              <a:gd name="adj2" fmla="val 50000"/>
              <a:gd name="adj3" fmla="val 25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4" name="Google Shape;144;p8"/>
          <p:cNvSpPr/>
          <p:nvPr/>
        </p:nvSpPr>
        <p:spPr>
          <a:xfrm rot="1641528">
            <a:off x="8136725" y="4475217"/>
            <a:ext cx="1744990" cy="677618"/>
          </a:xfrm>
          <a:prstGeom prst="curvedUpArrow">
            <a:avLst>
              <a:gd name="adj1" fmla="val 25000"/>
              <a:gd name="adj2" fmla="val 50000"/>
              <a:gd name="adj3" fmla="val 25000"/>
            </a:avLst>
          </a:prstGeom>
          <a:solidFill>
            <a:schemeClr val="accent6"/>
          </a:solidFill>
          <a:ln w="12700" cap="flat" cmpd="sng">
            <a:solidFill>
              <a:srgbClr val="517E3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5" name="Google Shape;145;p8"/>
          <p:cNvSpPr/>
          <p:nvPr/>
        </p:nvSpPr>
        <p:spPr>
          <a:xfrm>
            <a:off x="10209467" y="4316333"/>
            <a:ext cx="507779" cy="1199570"/>
          </a:xfrm>
          <a:prstGeom prst="downArrow">
            <a:avLst>
              <a:gd name="adj1" fmla="val 50000"/>
              <a:gd name="adj2" fmla="val 50000"/>
            </a:avLst>
          </a:prstGeom>
          <a:solidFill>
            <a:schemeClr val="dk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6" name="Google Shape;146;p8"/>
          <p:cNvSpPr/>
          <p:nvPr/>
        </p:nvSpPr>
        <p:spPr>
          <a:xfrm>
            <a:off x="9300250" y="5641275"/>
            <a:ext cx="2469384" cy="741814"/>
          </a:xfrm>
          <a:prstGeom prst="ribbon">
            <a:avLst>
              <a:gd name="adj1" fmla="val 16667"/>
              <a:gd name="adj2" fmla="val 73276"/>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800" b="0" i="0" u="none" strike="noStrike" cap="none">
                <a:solidFill>
                  <a:schemeClr val="lt1"/>
                </a:solidFill>
                <a:latin typeface="Calibri"/>
                <a:ea typeface="Calibri"/>
                <a:cs typeface="Calibri"/>
                <a:sym typeface="Calibri"/>
              </a:rPr>
              <a:t>Predictions</a:t>
            </a:r>
            <a:endParaRPr sz="1800" b="0" i="0" u="none" strike="noStrike" cap="none">
              <a:solidFill>
                <a:schemeClr val="lt1"/>
              </a:solidFill>
              <a:latin typeface="Calibri"/>
              <a:ea typeface="Calibri"/>
              <a:cs typeface="Calibri"/>
              <a:sym typeface="Calibri"/>
            </a:endParaRPr>
          </a:p>
        </p:txBody>
      </p:sp>
      <p:sp>
        <p:nvSpPr>
          <p:cNvPr id="147" name="Google Shape;147;p8"/>
          <p:cNvSpPr/>
          <p:nvPr/>
        </p:nvSpPr>
        <p:spPr>
          <a:xfrm>
            <a:off x="10252247" y="2913014"/>
            <a:ext cx="511547" cy="287383"/>
          </a:xfrm>
          <a:prstGeom prst="downArrow">
            <a:avLst>
              <a:gd name="adj1" fmla="val 50000"/>
              <a:gd name="adj2" fmla="val 50000"/>
            </a:avLst>
          </a:prstGeom>
          <a:solidFill>
            <a:schemeClr val="accent3"/>
          </a:solidFill>
          <a:ln w="1905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48" name="Google Shape;148;p8"/>
          <p:cNvSpPr/>
          <p:nvPr/>
        </p:nvSpPr>
        <p:spPr>
          <a:xfrm rot="-2188212">
            <a:off x="634562" y="1877038"/>
            <a:ext cx="1269274" cy="608386"/>
          </a:xfrm>
          <a:prstGeom prst="curvedDownArrow">
            <a:avLst>
              <a:gd name="adj1" fmla="val 25000"/>
              <a:gd name="adj2" fmla="val 35494"/>
              <a:gd name="adj3" fmla="val 25000"/>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9" name="Google Shape;149;p8"/>
          <p:cNvSpPr/>
          <p:nvPr/>
        </p:nvSpPr>
        <p:spPr>
          <a:xfrm rot="1094591">
            <a:off x="709726" y="3983562"/>
            <a:ext cx="1155919" cy="542739"/>
          </a:xfrm>
          <a:prstGeom prst="curvedUpArrow">
            <a:avLst>
              <a:gd name="adj1" fmla="val 25000"/>
              <a:gd name="adj2" fmla="val 50000"/>
              <a:gd name="adj3" fmla="val 25000"/>
            </a:avLst>
          </a:prstGeom>
          <a:solidFill>
            <a:schemeClr val="accent2"/>
          </a:solidFill>
          <a:ln w="12700" cap="flat" cmpd="sng">
            <a:solidFill>
              <a:srgbClr val="AC5B23"/>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Training and Testing</a:t>
            </a:r>
            <a:endParaRPr/>
          </a:p>
        </p:txBody>
      </p:sp>
      <p:sp>
        <p:nvSpPr>
          <p:cNvPr id="155" name="Google Shape;155;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Training is learning</a:t>
            </a:r>
            <a:endParaRPr/>
          </a:p>
          <a:p>
            <a:pPr marL="685800" lvl="1" indent="-228600" algn="l" rtl="0">
              <a:lnSpc>
                <a:spcPct val="90000"/>
              </a:lnSpc>
              <a:spcBef>
                <a:spcPts val="500"/>
              </a:spcBef>
              <a:spcAft>
                <a:spcPts val="0"/>
              </a:spcAft>
              <a:buClr>
                <a:schemeClr val="dk1"/>
              </a:buClr>
              <a:buSzPts val="2400"/>
              <a:buChar char="•"/>
            </a:pPr>
            <a:r>
              <a:rPr lang="en-US"/>
              <a:t>Finds patterns</a:t>
            </a:r>
            <a:endParaRPr/>
          </a:p>
          <a:p>
            <a:pPr marL="685800" lvl="1" indent="-228600" algn="l" rtl="0">
              <a:lnSpc>
                <a:spcPct val="90000"/>
              </a:lnSpc>
              <a:spcBef>
                <a:spcPts val="500"/>
              </a:spcBef>
              <a:spcAft>
                <a:spcPts val="0"/>
              </a:spcAft>
              <a:buClr>
                <a:schemeClr val="dk1"/>
              </a:buClr>
              <a:buSzPts val="2400"/>
              <a:buChar char="•"/>
            </a:pPr>
            <a:r>
              <a:rPr lang="en-US"/>
              <a:t>Mapping</a:t>
            </a:r>
            <a:endParaRPr/>
          </a:p>
          <a:p>
            <a:pPr marL="457200" lvl="1" indent="0" algn="l" rtl="0">
              <a:lnSpc>
                <a:spcPct val="90000"/>
              </a:lnSpc>
              <a:spcBef>
                <a:spcPts val="500"/>
              </a:spcBef>
              <a:spcAft>
                <a:spcPts val="0"/>
              </a:spcAft>
              <a:buClr>
                <a:schemeClr val="dk1"/>
              </a:buClr>
              <a:buSzPts val="2400"/>
              <a:buNone/>
            </a:pPr>
            <a:endParaRPr/>
          </a:p>
          <a:p>
            <a:pPr marL="457200" lvl="1" indent="0" algn="l" rtl="0">
              <a:lnSpc>
                <a:spcPct val="90000"/>
              </a:lnSpc>
              <a:spcBef>
                <a:spcPts val="500"/>
              </a:spcBef>
              <a:spcAft>
                <a:spcPts val="0"/>
              </a:spcAft>
              <a:buClr>
                <a:schemeClr val="dk1"/>
              </a:buClr>
              <a:buSzPts val="2400"/>
              <a:buNone/>
            </a:pPr>
            <a:endParaRPr/>
          </a:p>
          <a:p>
            <a:pPr marL="228600" lvl="0" indent="-228600" algn="l" rtl="0">
              <a:lnSpc>
                <a:spcPct val="90000"/>
              </a:lnSpc>
              <a:spcBef>
                <a:spcPts val="1000"/>
              </a:spcBef>
              <a:spcAft>
                <a:spcPts val="0"/>
              </a:spcAft>
              <a:buClr>
                <a:schemeClr val="dk1"/>
              </a:buClr>
              <a:buSzPts val="2800"/>
              <a:buChar char="•"/>
            </a:pPr>
            <a:r>
              <a:rPr lang="en-US"/>
              <a:t>Testing</a:t>
            </a:r>
            <a:endParaRPr/>
          </a:p>
          <a:p>
            <a:pPr marL="685800" lvl="1" indent="-228600" algn="l" rtl="0">
              <a:lnSpc>
                <a:spcPct val="90000"/>
              </a:lnSpc>
              <a:spcBef>
                <a:spcPts val="500"/>
              </a:spcBef>
              <a:spcAft>
                <a:spcPts val="0"/>
              </a:spcAft>
              <a:buClr>
                <a:schemeClr val="dk1"/>
              </a:buClr>
              <a:buSzPts val="2400"/>
              <a:buChar char="•"/>
            </a:pPr>
            <a:r>
              <a:rPr lang="en-US"/>
              <a:t>Test machine for unknown inputs</a:t>
            </a:r>
            <a:endParaRPr/>
          </a:p>
          <a:p>
            <a:pPr marL="685800" lvl="1" indent="-228600" algn="l" rtl="0">
              <a:lnSpc>
                <a:spcPct val="90000"/>
              </a:lnSpc>
              <a:spcBef>
                <a:spcPts val="500"/>
              </a:spcBef>
              <a:spcAft>
                <a:spcPts val="0"/>
              </a:spcAft>
              <a:buClr>
                <a:schemeClr val="dk1"/>
              </a:buClr>
              <a:buSzPts val="2400"/>
              <a:buChar char="•"/>
            </a:pPr>
            <a:r>
              <a:rPr lang="en-US"/>
              <a:t>Unknown or user inputs are used in testing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Types of Data Splitting</a:t>
            </a:r>
            <a:endParaRPr/>
          </a:p>
        </p:txBody>
      </p:sp>
      <p:sp>
        <p:nvSpPr>
          <p:cNvPr id="161" name="Google Shape;161;p10"/>
          <p:cNvSpPr txBox="1">
            <a:spLocks noGrp="1"/>
          </p:cNvSpPr>
          <p:nvPr>
            <p:ph type="body" idx="1"/>
          </p:nvPr>
        </p:nvSpPr>
        <p:spPr>
          <a:xfrm>
            <a:off x="838200" y="1825625"/>
            <a:ext cx="10515600" cy="4748700"/>
          </a:xfrm>
          <a:prstGeom prst="rect">
            <a:avLst/>
          </a:prstGeom>
          <a:noFill/>
          <a:ln>
            <a:noFill/>
          </a:ln>
        </p:spPr>
        <p:txBody>
          <a:bodyPr spcFirstLastPara="1" wrap="square" lIns="91425" tIns="45700" rIns="91425" bIns="45700" anchor="t" anchorCtr="0">
            <a:normAutofit/>
          </a:bodyPr>
          <a:lstStyle/>
          <a:p>
            <a:pPr marL="457200" lvl="0" indent="-355600" algn="l" rtl="0">
              <a:lnSpc>
                <a:spcPct val="90000"/>
              </a:lnSpc>
              <a:spcBef>
                <a:spcPts val="0"/>
              </a:spcBef>
              <a:spcAft>
                <a:spcPts val="0"/>
              </a:spcAft>
              <a:buSzPts val="2000"/>
              <a:buChar char="•"/>
            </a:pPr>
            <a:r>
              <a:rPr lang="en-US" sz="3000"/>
              <a:t>Random training testing split</a:t>
            </a:r>
            <a:endParaRPr sz="3000"/>
          </a:p>
          <a:p>
            <a:pPr marL="457200" lvl="0" indent="-355600" algn="l" rtl="0">
              <a:lnSpc>
                <a:spcPct val="90000"/>
              </a:lnSpc>
              <a:spcBef>
                <a:spcPts val="0"/>
              </a:spcBef>
              <a:spcAft>
                <a:spcPts val="0"/>
              </a:spcAft>
              <a:buSzPts val="2000"/>
              <a:buChar char="•"/>
            </a:pPr>
            <a:r>
              <a:rPr lang="en-US" sz="3000"/>
              <a:t>Stratified training testing split </a:t>
            </a:r>
            <a:endParaRPr sz="3000"/>
          </a:p>
          <a:p>
            <a:pPr marL="457200" lvl="0" indent="-355600" algn="l" rtl="0">
              <a:lnSpc>
                <a:spcPct val="90000"/>
              </a:lnSpc>
              <a:spcBef>
                <a:spcPts val="0"/>
              </a:spcBef>
              <a:spcAft>
                <a:spcPts val="0"/>
              </a:spcAft>
              <a:buSzPts val="2000"/>
              <a:buChar char="•"/>
            </a:pPr>
            <a:r>
              <a:rPr lang="en-US" sz="3000"/>
              <a:t>k-fold cross validation (k-fold)</a:t>
            </a:r>
            <a:endParaRPr sz="3000"/>
          </a:p>
          <a:p>
            <a:pPr marL="457200" lvl="0" indent="-355600" algn="l" rtl="0">
              <a:lnSpc>
                <a:spcPct val="90000"/>
              </a:lnSpc>
              <a:spcBef>
                <a:spcPts val="0"/>
              </a:spcBef>
              <a:spcAft>
                <a:spcPts val="0"/>
              </a:spcAft>
              <a:buSzPts val="2000"/>
              <a:buChar char="•"/>
            </a:pPr>
            <a:r>
              <a:rPr lang="en-US" sz="3000"/>
              <a:t>Stratified k-fold Cross validation</a:t>
            </a:r>
            <a:endParaRPr sz="3000"/>
          </a:p>
          <a:p>
            <a:pPr marL="457200" lvl="0" indent="-355600" algn="l" rtl="0">
              <a:lnSpc>
                <a:spcPct val="90000"/>
              </a:lnSpc>
              <a:spcBef>
                <a:spcPts val="0"/>
              </a:spcBef>
              <a:spcAft>
                <a:spcPts val="0"/>
              </a:spcAft>
              <a:buSzPts val="2000"/>
              <a:buChar char="•"/>
            </a:pPr>
            <a:r>
              <a:rPr lang="en-US" sz="3000"/>
              <a:t>Leave One out Cross Validation (LOOCV)</a:t>
            </a:r>
            <a:endParaRPr sz="3000"/>
          </a:p>
          <a:p>
            <a:pPr marL="457200" lvl="0" indent="-355600" algn="l" rtl="0">
              <a:lnSpc>
                <a:spcPct val="90000"/>
              </a:lnSpc>
              <a:spcBef>
                <a:spcPts val="0"/>
              </a:spcBef>
              <a:spcAft>
                <a:spcPts val="0"/>
              </a:spcAft>
              <a:buSzPts val="2000"/>
              <a:buChar char="•"/>
            </a:pPr>
            <a:r>
              <a:rPr lang="en-US" sz="3000"/>
              <a:t>Shuffle-Split</a:t>
            </a:r>
            <a:endParaRPr sz="3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Random Training and Testing split</a:t>
            </a:r>
            <a:endParaRPr/>
          </a:p>
        </p:txBody>
      </p:sp>
      <p:sp>
        <p:nvSpPr>
          <p:cNvPr id="167" name="Google Shape;167;p11"/>
          <p:cNvSpPr txBox="1">
            <a:spLocks noGrp="1"/>
          </p:cNvSpPr>
          <p:nvPr>
            <p:ph type="body" idx="1"/>
          </p:nvPr>
        </p:nvSpPr>
        <p:spPr>
          <a:xfrm>
            <a:off x="838200" y="1481070"/>
            <a:ext cx="6477000" cy="495836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All input data is split in two parts</a:t>
            </a:r>
            <a:endParaRPr/>
          </a:p>
          <a:p>
            <a:pPr marL="685800" lvl="1" indent="-228600" algn="l" rtl="0">
              <a:lnSpc>
                <a:spcPct val="90000"/>
              </a:lnSpc>
              <a:spcBef>
                <a:spcPts val="500"/>
              </a:spcBef>
              <a:spcAft>
                <a:spcPts val="0"/>
              </a:spcAft>
              <a:buClr>
                <a:schemeClr val="dk1"/>
              </a:buClr>
              <a:buSzPts val="2400"/>
              <a:buChar char="•"/>
            </a:pPr>
            <a:r>
              <a:rPr lang="en-US"/>
              <a:t>A. Training</a:t>
            </a:r>
            <a:endParaRPr/>
          </a:p>
          <a:p>
            <a:pPr marL="685800" lvl="1" indent="-228600" algn="l" rtl="0">
              <a:lnSpc>
                <a:spcPct val="90000"/>
              </a:lnSpc>
              <a:spcBef>
                <a:spcPts val="500"/>
              </a:spcBef>
              <a:spcAft>
                <a:spcPts val="0"/>
              </a:spcAft>
              <a:buClr>
                <a:schemeClr val="dk1"/>
              </a:buClr>
              <a:buSzPts val="2400"/>
              <a:buChar char="•"/>
            </a:pPr>
            <a:r>
              <a:rPr lang="en-US"/>
              <a:t>B. Testing</a:t>
            </a:r>
            <a:endParaRPr/>
          </a:p>
          <a:p>
            <a:pPr marL="228600" lvl="0" indent="-228600" algn="l" rtl="0">
              <a:lnSpc>
                <a:spcPct val="90000"/>
              </a:lnSpc>
              <a:spcBef>
                <a:spcPts val="1000"/>
              </a:spcBef>
              <a:spcAft>
                <a:spcPts val="0"/>
              </a:spcAft>
              <a:buClr>
                <a:schemeClr val="dk1"/>
              </a:buClr>
              <a:buSzPts val="2800"/>
              <a:buChar char="•"/>
            </a:pPr>
            <a:r>
              <a:rPr lang="en-US"/>
              <a:t>Example: we have 10 records</a:t>
            </a:r>
            <a:endParaRPr/>
          </a:p>
          <a:p>
            <a:pPr marL="228600" lvl="0" indent="-228600" algn="l" rtl="0">
              <a:lnSpc>
                <a:spcPct val="90000"/>
              </a:lnSpc>
              <a:spcBef>
                <a:spcPts val="1000"/>
              </a:spcBef>
              <a:spcAft>
                <a:spcPts val="0"/>
              </a:spcAft>
              <a:buClr>
                <a:schemeClr val="dk1"/>
              </a:buClr>
              <a:buSzPts val="2800"/>
              <a:buChar char="•"/>
            </a:pPr>
            <a:r>
              <a:rPr lang="en-US"/>
              <a:t>Training – 60% - random 6 records</a:t>
            </a:r>
            <a:br>
              <a:rPr lang="en-US"/>
            </a:br>
            <a:r>
              <a:rPr lang="en-US"/>
              <a:t>testing 40% - random 4 records</a:t>
            </a:r>
            <a:endParaRPr/>
          </a:p>
          <a:p>
            <a:pPr marL="228600" lvl="0" indent="-228600" algn="l" rtl="0">
              <a:lnSpc>
                <a:spcPct val="90000"/>
              </a:lnSpc>
              <a:spcBef>
                <a:spcPts val="1000"/>
              </a:spcBef>
              <a:spcAft>
                <a:spcPts val="0"/>
              </a:spcAft>
              <a:buClr>
                <a:schemeClr val="dk1"/>
              </a:buClr>
              <a:buSzPts val="2800"/>
              <a:buChar char="•"/>
            </a:pPr>
            <a:r>
              <a:rPr lang="en-US"/>
              <a:t>So target is machine should give good performance on testing data</a:t>
            </a:r>
            <a:endParaRPr/>
          </a:p>
          <a:p>
            <a:pPr marL="228600" lvl="0" indent="-228600" algn="l" rtl="0">
              <a:lnSpc>
                <a:spcPct val="90000"/>
              </a:lnSpc>
              <a:spcBef>
                <a:spcPts val="1000"/>
              </a:spcBef>
              <a:spcAft>
                <a:spcPts val="0"/>
              </a:spcAft>
              <a:buClr>
                <a:schemeClr val="dk1"/>
              </a:buClr>
              <a:buSzPts val="2800"/>
              <a:buChar char="•"/>
            </a:pPr>
            <a:r>
              <a:rPr lang="en-US" u="sng"/>
              <a:t>Dis advantage: </a:t>
            </a:r>
            <a:r>
              <a:rPr lang="en-US"/>
              <a:t>Model performance depends on patterns of data in training and testing</a:t>
            </a:r>
            <a:endParaRPr/>
          </a:p>
        </p:txBody>
      </p:sp>
      <p:graphicFrame>
        <p:nvGraphicFramePr>
          <p:cNvPr id="168" name="Google Shape;168;p11"/>
          <p:cNvGraphicFramePr/>
          <p:nvPr/>
        </p:nvGraphicFramePr>
        <p:xfrm>
          <a:off x="8319752" y="1562372"/>
          <a:ext cx="3000000" cy="3000000"/>
        </p:xfrm>
        <a:graphic>
          <a:graphicData uri="http://schemas.openxmlformats.org/drawingml/2006/table">
            <a:tbl>
              <a:tblPr firstRow="1" bandRow="1">
                <a:noFill/>
                <a:tableStyleId>{DA69C3A7-CB41-451B-93CA-68B10983C4BA}</a:tableStyleId>
              </a:tblPr>
              <a:tblGrid>
                <a:gridCol w="688650">
                  <a:extLst>
                    <a:ext uri="{9D8B030D-6E8A-4147-A177-3AD203B41FA5}">
                      <a16:colId xmlns:a16="http://schemas.microsoft.com/office/drawing/2014/main" val="20000"/>
                    </a:ext>
                  </a:extLst>
                </a:gridCol>
                <a:gridCol w="688650">
                  <a:extLst>
                    <a:ext uri="{9D8B030D-6E8A-4147-A177-3AD203B41FA5}">
                      <a16:colId xmlns:a16="http://schemas.microsoft.com/office/drawing/2014/main" val="20001"/>
                    </a:ext>
                  </a:extLst>
                </a:gridCol>
                <a:gridCol w="688650">
                  <a:extLst>
                    <a:ext uri="{9D8B030D-6E8A-4147-A177-3AD203B41FA5}">
                      <a16:colId xmlns:a16="http://schemas.microsoft.com/office/drawing/2014/main" val="20002"/>
                    </a:ext>
                  </a:extLst>
                </a:gridCol>
                <a:gridCol w="688650">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1800" u="none" strike="noStrike" cap="none"/>
                        <a:t>No</a:t>
                      </a:r>
                      <a:endParaRPr sz="1800"/>
                    </a:p>
                  </a:txBody>
                  <a:tcPr marL="91450" marR="91450" marT="45725" marB="45725"/>
                </a:tc>
                <a:tc>
                  <a:txBody>
                    <a:bodyPr/>
                    <a:lstStyle/>
                    <a:p>
                      <a:pPr marL="0" marR="0" lvl="0" indent="0" algn="l" rtl="0">
                        <a:spcBef>
                          <a:spcPts val="0"/>
                        </a:spcBef>
                        <a:spcAft>
                          <a:spcPts val="0"/>
                        </a:spcAft>
                        <a:buNone/>
                      </a:pPr>
                      <a:r>
                        <a:rPr lang="en-US" sz="1800"/>
                        <a:t>F1</a:t>
                      </a:r>
                      <a:endParaRPr sz="1800"/>
                    </a:p>
                  </a:txBody>
                  <a:tcPr marL="91450" marR="91450" marT="45725" marB="45725"/>
                </a:tc>
                <a:tc>
                  <a:txBody>
                    <a:bodyPr/>
                    <a:lstStyle/>
                    <a:p>
                      <a:pPr marL="0" marR="0" lvl="0" indent="0" algn="l" rtl="0">
                        <a:spcBef>
                          <a:spcPts val="0"/>
                        </a:spcBef>
                        <a:spcAft>
                          <a:spcPts val="0"/>
                        </a:spcAft>
                        <a:buNone/>
                      </a:pPr>
                      <a:r>
                        <a:rPr lang="en-US" sz="1800"/>
                        <a:t>F2</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lt1"/>
                          </a:solidFill>
                        </a:rPr>
                        <a:t>Y</a:t>
                      </a:r>
                      <a:endParaRPr sz="1800">
                        <a:solidFill>
                          <a:schemeClr val="lt1"/>
                        </a:solidFil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2</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4</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5</a:t>
                      </a:r>
                      <a:endParaRPr sz="1800"/>
                    </a:p>
                  </a:txBody>
                  <a:tcPr marL="91450" marR="91450" marT="45725" marB="45725">
                    <a:solidFill>
                      <a:srgbClr val="92D050"/>
                    </a:solidFill>
                  </a:tcPr>
                </a:tc>
                <a:tc>
                  <a:txBody>
                    <a:bodyPr/>
                    <a:lstStyle/>
                    <a:p>
                      <a:pPr marL="0" marR="0" lvl="0" indent="0" algn="l" rtl="0">
                        <a:spcBef>
                          <a:spcPts val="0"/>
                        </a:spcBef>
                        <a:spcAft>
                          <a:spcPts val="0"/>
                        </a:spcAft>
                        <a:buNone/>
                      </a:pPr>
                      <a:endParaRPr sz="1800"/>
                    </a:p>
                  </a:txBody>
                  <a:tcPr marL="91450" marR="91450" marT="45725" marB="45725">
                    <a:solidFill>
                      <a:srgbClr val="92D050"/>
                    </a:solidFill>
                  </a:tcPr>
                </a:tc>
                <a:tc>
                  <a:txBody>
                    <a:bodyPr/>
                    <a:lstStyle/>
                    <a:p>
                      <a:pPr marL="0" marR="0" lvl="0" indent="0" algn="l" rtl="0">
                        <a:spcBef>
                          <a:spcPts val="0"/>
                        </a:spcBef>
                        <a:spcAft>
                          <a:spcPts val="0"/>
                        </a:spcAft>
                        <a:buNone/>
                      </a:pPr>
                      <a:endParaRPr sz="1800"/>
                    </a:p>
                  </a:txBody>
                  <a:tcPr marL="91450" marR="91450" marT="45725" marB="45725">
                    <a:solidFill>
                      <a:srgbClr val="92D050"/>
                    </a:solidFill>
                  </a:tcPr>
                </a:tc>
                <a:tc>
                  <a:txBody>
                    <a:bodyPr/>
                    <a:lstStyle/>
                    <a:p>
                      <a:pPr marL="0" marR="0" lvl="0" indent="0" algn="l" rtl="0">
                        <a:spcBef>
                          <a:spcPts val="0"/>
                        </a:spcBef>
                        <a:spcAft>
                          <a:spcPts val="0"/>
                        </a:spcAft>
                        <a:buNone/>
                      </a:pPr>
                      <a:r>
                        <a:rPr lang="en-US" sz="1800"/>
                        <a:t>1</a:t>
                      </a:r>
                      <a:endParaRPr sz="1800"/>
                    </a:p>
                  </a:txBody>
                  <a:tcPr marL="91450" marR="91450" marT="45725" marB="45725">
                    <a:solidFill>
                      <a:srgbClr val="92D050"/>
                    </a:solidFill>
                  </a:tcPr>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t>7</a:t>
                      </a:r>
                      <a:endParaRPr sz="1800"/>
                    </a:p>
                  </a:txBody>
                  <a:tcPr marL="91450" marR="91450" marT="45725" marB="45725">
                    <a:solidFill>
                      <a:srgbClr val="92D050"/>
                    </a:solidFill>
                  </a:tcPr>
                </a:tc>
                <a:tc>
                  <a:txBody>
                    <a:bodyPr/>
                    <a:lstStyle/>
                    <a:p>
                      <a:pPr marL="0" marR="0" lvl="0" indent="0" algn="l" rtl="0">
                        <a:spcBef>
                          <a:spcPts val="0"/>
                        </a:spcBef>
                        <a:spcAft>
                          <a:spcPts val="0"/>
                        </a:spcAft>
                        <a:buNone/>
                      </a:pPr>
                      <a:endParaRPr sz="1800"/>
                    </a:p>
                  </a:txBody>
                  <a:tcPr marL="91450" marR="91450" marT="45725" marB="45725">
                    <a:solidFill>
                      <a:srgbClr val="92D050"/>
                    </a:solidFill>
                  </a:tcPr>
                </a:tc>
                <a:tc>
                  <a:txBody>
                    <a:bodyPr/>
                    <a:lstStyle/>
                    <a:p>
                      <a:pPr marL="0" marR="0" lvl="0" indent="0" algn="l" rtl="0">
                        <a:spcBef>
                          <a:spcPts val="0"/>
                        </a:spcBef>
                        <a:spcAft>
                          <a:spcPts val="0"/>
                        </a:spcAft>
                        <a:buNone/>
                      </a:pPr>
                      <a:endParaRPr sz="1800"/>
                    </a:p>
                  </a:txBody>
                  <a:tcPr marL="91450" marR="91450" marT="45725" marB="45725">
                    <a:solidFill>
                      <a:srgbClr val="92D050"/>
                    </a:solidFill>
                  </a:tcPr>
                </a:tc>
                <a:tc>
                  <a:txBody>
                    <a:bodyPr/>
                    <a:lstStyle/>
                    <a:p>
                      <a:pPr marL="0" marR="0" lvl="0" indent="0" algn="l" rtl="0">
                        <a:spcBef>
                          <a:spcPts val="0"/>
                        </a:spcBef>
                        <a:spcAft>
                          <a:spcPts val="0"/>
                        </a:spcAft>
                        <a:buNone/>
                      </a:pPr>
                      <a:r>
                        <a:rPr lang="en-US" sz="1800"/>
                        <a:t>0</a:t>
                      </a:r>
                      <a:endParaRPr sz="1800"/>
                    </a:p>
                  </a:txBody>
                  <a:tcPr marL="91450" marR="91450" marT="45725" marB="45725">
                    <a:solidFill>
                      <a:srgbClr val="92D050"/>
                    </a:solidFill>
                  </a:tcPr>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US" sz="1800"/>
                        <a:t>8</a:t>
                      </a:r>
                      <a:endParaRPr sz="1800"/>
                    </a:p>
                  </a:txBody>
                  <a:tcPr marL="91450" marR="91450" marT="45725" marB="45725">
                    <a:solidFill>
                      <a:srgbClr val="92D050"/>
                    </a:solidFill>
                  </a:tcPr>
                </a:tc>
                <a:tc>
                  <a:txBody>
                    <a:bodyPr/>
                    <a:lstStyle/>
                    <a:p>
                      <a:pPr marL="0" marR="0" lvl="0" indent="0" algn="l" rtl="0">
                        <a:spcBef>
                          <a:spcPts val="0"/>
                        </a:spcBef>
                        <a:spcAft>
                          <a:spcPts val="0"/>
                        </a:spcAft>
                        <a:buNone/>
                      </a:pPr>
                      <a:endParaRPr sz="1800"/>
                    </a:p>
                  </a:txBody>
                  <a:tcPr marL="91450" marR="91450" marT="45725" marB="45725">
                    <a:solidFill>
                      <a:srgbClr val="92D050"/>
                    </a:solidFill>
                  </a:tcPr>
                </a:tc>
                <a:tc>
                  <a:txBody>
                    <a:bodyPr/>
                    <a:lstStyle/>
                    <a:p>
                      <a:pPr marL="0" marR="0" lvl="0" indent="0" algn="l" rtl="0">
                        <a:spcBef>
                          <a:spcPts val="0"/>
                        </a:spcBef>
                        <a:spcAft>
                          <a:spcPts val="0"/>
                        </a:spcAft>
                        <a:buNone/>
                      </a:pPr>
                      <a:endParaRPr sz="1800"/>
                    </a:p>
                  </a:txBody>
                  <a:tcPr marL="91450" marR="91450" marT="45725" marB="45725">
                    <a:solidFill>
                      <a:srgbClr val="92D050"/>
                    </a:solidFill>
                  </a:tcPr>
                </a:tc>
                <a:tc>
                  <a:txBody>
                    <a:bodyPr/>
                    <a:lstStyle/>
                    <a:p>
                      <a:pPr marL="0" marR="0" lvl="0" indent="0" algn="l" rtl="0">
                        <a:spcBef>
                          <a:spcPts val="0"/>
                        </a:spcBef>
                        <a:spcAft>
                          <a:spcPts val="0"/>
                        </a:spcAft>
                        <a:buNone/>
                      </a:pPr>
                      <a:r>
                        <a:rPr lang="en-US" sz="1800"/>
                        <a:t>0</a:t>
                      </a:r>
                      <a:endParaRPr sz="1800"/>
                    </a:p>
                  </a:txBody>
                  <a:tcPr marL="91450" marR="91450" marT="45725" marB="45725">
                    <a:solidFill>
                      <a:srgbClr val="92D050"/>
                    </a:solidFill>
                  </a:tcPr>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r>
                        <a:rPr lang="en-US" sz="1800"/>
                        <a:t>9</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extLst>
                  <a:ext uri="{0D108BD9-81ED-4DB2-BD59-A6C34878D82A}">
                    <a16:rowId xmlns:a16="http://schemas.microsoft.com/office/drawing/2014/main" val="10009"/>
                  </a:ext>
                </a:extLst>
              </a:tr>
              <a:tr h="370850">
                <a:tc>
                  <a:txBody>
                    <a:bodyPr/>
                    <a:lstStyle/>
                    <a:p>
                      <a:pPr marL="0" marR="0" lvl="0" indent="0" algn="l" rtl="0">
                        <a:spcBef>
                          <a:spcPts val="0"/>
                        </a:spcBef>
                        <a:spcAft>
                          <a:spcPts val="0"/>
                        </a:spcAft>
                        <a:buNone/>
                      </a:pPr>
                      <a:r>
                        <a:rPr lang="en-US" sz="1800"/>
                        <a:t>10</a:t>
                      </a:r>
                      <a:endParaRPr sz="1800"/>
                    </a:p>
                  </a:txBody>
                  <a:tcPr marL="91450" marR="91450" marT="45725" marB="45725">
                    <a:solidFill>
                      <a:srgbClr val="92D050"/>
                    </a:solidFill>
                  </a:tcPr>
                </a:tc>
                <a:tc>
                  <a:txBody>
                    <a:bodyPr/>
                    <a:lstStyle/>
                    <a:p>
                      <a:pPr marL="0" marR="0" lvl="0" indent="0" algn="l" rtl="0">
                        <a:spcBef>
                          <a:spcPts val="0"/>
                        </a:spcBef>
                        <a:spcAft>
                          <a:spcPts val="0"/>
                        </a:spcAft>
                        <a:buNone/>
                      </a:pPr>
                      <a:endParaRPr sz="1800"/>
                    </a:p>
                  </a:txBody>
                  <a:tcPr marL="91450" marR="91450" marT="45725" marB="45725">
                    <a:solidFill>
                      <a:srgbClr val="92D050"/>
                    </a:solidFill>
                  </a:tcPr>
                </a:tc>
                <a:tc>
                  <a:txBody>
                    <a:bodyPr/>
                    <a:lstStyle/>
                    <a:p>
                      <a:pPr marL="0" marR="0" lvl="0" indent="0" algn="l" rtl="0">
                        <a:spcBef>
                          <a:spcPts val="0"/>
                        </a:spcBef>
                        <a:spcAft>
                          <a:spcPts val="0"/>
                        </a:spcAft>
                        <a:buNone/>
                      </a:pPr>
                      <a:endParaRPr sz="1800"/>
                    </a:p>
                  </a:txBody>
                  <a:tcPr marL="91450" marR="91450" marT="45725" marB="45725">
                    <a:solidFill>
                      <a:srgbClr val="92D050"/>
                    </a:solidFill>
                  </a:tcPr>
                </a:tc>
                <a:tc>
                  <a:txBody>
                    <a:bodyPr/>
                    <a:lstStyle/>
                    <a:p>
                      <a:pPr marL="0" marR="0" lvl="0" indent="0" algn="l" rtl="0">
                        <a:spcBef>
                          <a:spcPts val="0"/>
                        </a:spcBef>
                        <a:spcAft>
                          <a:spcPts val="0"/>
                        </a:spcAft>
                        <a:buNone/>
                      </a:pPr>
                      <a:r>
                        <a:rPr lang="en-US" sz="1800"/>
                        <a:t>0</a:t>
                      </a:r>
                      <a:endParaRPr sz="1800"/>
                    </a:p>
                  </a:txBody>
                  <a:tcPr marL="91450" marR="91450" marT="45725" marB="45725">
                    <a:solidFill>
                      <a:srgbClr val="92D050"/>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Stratified Training and Testing split</a:t>
            </a:r>
            <a:endParaRPr/>
          </a:p>
        </p:txBody>
      </p:sp>
      <p:sp>
        <p:nvSpPr>
          <p:cNvPr id="174" name="Google Shape;174;p12"/>
          <p:cNvSpPr txBox="1">
            <a:spLocks noGrp="1"/>
          </p:cNvSpPr>
          <p:nvPr>
            <p:ph type="body" idx="1"/>
          </p:nvPr>
        </p:nvSpPr>
        <p:spPr>
          <a:xfrm>
            <a:off x="838200" y="1481070"/>
            <a:ext cx="6477000" cy="4958367"/>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a:t>Balances the target class in training and test data</a:t>
            </a:r>
            <a:endParaRPr/>
          </a:p>
          <a:p>
            <a:pPr marL="228600" lvl="0" indent="-77470" algn="l" rtl="0">
              <a:lnSpc>
                <a:spcPct val="90000"/>
              </a:lnSpc>
              <a:spcBef>
                <a:spcPts val="1000"/>
              </a:spcBef>
              <a:spcAft>
                <a:spcPts val="0"/>
              </a:spcAft>
              <a:buClr>
                <a:schemeClr val="dk1"/>
              </a:buClr>
              <a:buSzPct val="100000"/>
              <a:buNone/>
            </a:pPr>
            <a:endParaRPr/>
          </a:p>
          <a:p>
            <a:pPr marL="228600" lvl="0" indent="-228600" algn="l" rtl="0">
              <a:lnSpc>
                <a:spcPct val="90000"/>
              </a:lnSpc>
              <a:spcBef>
                <a:spcPts val="1000"/>
              </a:spcBef>
              <a:spcAft>
                <a:spcPts val="0"/>
              </a:spcAft>
              <a:buClr>
                <a:schemeClr val="dk1"/>
              </a:buClr>
              <a:buSzPct val="100000"/>
              <a:buChar char="•"/>
            </a:pPr>
            <a:r>
              <a:rPr lang="en-US"/>
              <a:t>Example: we have 10 records</a:t>
            </a:r>
            <a:endParaRPr/>
          </a:p>
          <a:p>
            <a:pPr marL="228600" lvl="0" indent="-228600" algn="l" rtl="0">
              <a:lnSpc>
                <a:spcPct val="90000"/>
              </a:lnSpc>
              <a:spcBef>
                <a:spcPts val="1000"/>
              </a:spcBef>
              <a:spcAft>
                <a:spcPts val="0"/>
              </a:spcAft>
              <a:buClr>
                <a:schemeClr val="dk1"/>
              </a:buClr>
              <a:buSzPct val="100000"/>
              <a:buChar char="•"/>
            </a:pPr>
            <a:r>
              <a:rPr lang="en-US"/>
              <a:t>Y== 0</a:t>
            </a:r>
            <a:endParaRPr/>
          </a:p>
          <a:p>
            <a:pPr marL="228600" lvl="0" indent="-228600" algn="l" rtl="0">
              <a:lnSpc>
                <a:spcPct val="90000"/>
              </a:lnSpc>
              <a:spcBef>
                <a:spcPts val="1000"/>
              </a:spcBef>
              <a:spcAft>
                <a:spcPts val="0"/>
              </a:spcAft>
              <a:buClr>
                <a:schemeClr val="dk1"/>
              </a:buClr>
              <a:buSzPct val="100000"/>
              <a:buChar char="•"/>
            </a:pPr>
            <a:r>
              <a:rPr lang="en-US"/>
              <a:t>Training - 60% - random 3 records</a:t>
            </a:r>
            <a:br>
              <a:rPr lang="en-US"/>
            </a:br>
            <a:r>
              <a:rPr lang="en-US"/>
              <a:t>testing - 40% - random 2 records</a:t>
            </a:r>
            <a:endParaRPr/>
          </a:p>
          <a:p>
            <a:pPr marL="228600" lvl="0" indent="-77470" algn="l" rtl="0">
              <a:lnSpc>
                <a:spcPct val="90000"/>
              </a:lnSpc>
              <a:spcBef>
                <a:spcPts val="1000"/>
              </a:spcBef>
              <a:spcAft>
                <a:spcPts val="0"/>
              </a:spcAft>
              <a:buClr>
                <a:schemeClr val="dk1"/>
              </a:buClr>
              <a:buSzPct val="100000"/>
              <a:buNone/>
            </a:pPr>
            <a:endParaRPr/>
          </a:p>
          <a:p>
            <a:pPr marL="228600" lvl="0" indent="-228600" algn="l" rtl="0">
              <a:lnSpc>
                <a:spcPct val="90000"/>
              </a:lnSpc>
              <a:spcBef>
                <a:spcPts val="1000"/>
              </a:spcBef>
              <a:spcAft>
                <a:spcPts val="0"/>
              </a:spcAft>
              <a:buClr>
                <a:schemeClr val="dk1"/>
              </a:buClr>
              <a:buSzPct val="100000"/>
              <a:buChar char="•"/>
            </a:pPr>
            <a:r>
              <a:rPr lang="en-US"/>
              <a:t>Y==1</a:t>
            </a:r>
            <a:endParaRPr/>
          </a:p>
          <a:p>
            <a:pPr marL="228600" lvl="0" indent="-228600" algn="l" rtl="0">
              <a:lnSpc>
                <a:spcPct val="90000"/>
              </a:lnSpc>
              <a:spcBef>
                <a:spcPts val="1000"/>
              </a:spcBef>
              <a:spcAft>
                <a:spcPts val="0"/>
              </a:spcAft>
              <a:buClr>
                <a:schemeClr val="dk1"/>
              </a:buClr>
              <a:buSzPct val="100000"/>
              <a:buChar char="•"/>
            </a:pPr>
            <a:r>
              <a:rPr lang="en-US"/>
              <a:t>Training - 60% - random 3 records</a:t>
            </a:r>
            <a:br>
              <a:rPr lang="en-US"/>
            </a:br>
            <a:r>
              <a:rPr lang="en-US"/>
              <a:t>testing - 40% - random 2 records</a:t>
            </a:r>
            <a:endParaRPr/>
          </a:p>
          <a:p>
            <a:pPr marL="228600" lvl="0" indent="-77470" algn="l" rtl="0">
              <a:lnSpc>
                <a:spcPct val="90000"/>
              </a:lnSpc>
              <a:spcBef>
                <a:spcPts val="1000"/>
              </a:spcBef>
              <a:spcAft>
                <a:spcPts val="0"/>
              </a:spcAft>
              <a:buClr>
                <a:schemeClr val="dk1"/>
              </a:buClr>
              <a:buSzPct val="100000"/>
              <a:buNone/>
            </a:pPr>
            <a:endParaRPr/>
          </a:p>
          <a:p>
            <a:pPr marL="228600" lvl="0" indent="-228600" algn="l" rtl="0">
              <a:lnSpc>
                <a:spcPct val="90000"/>
              </a:lnSpc>
              <a:spcBef>
                <a:spcPts val="1000"/>
              </a:spcBef>
              <a:spcAft>
                <a:spcPts val="0"/>
              </a:spcAft>
              <a:buClr>
                <a:schemeClr val="dk1"/>
              </a:buClr>
              <a:buSzPct val="100000"/>
              <a:buChar char="•"/>
            </a:pPr>
            <a:r>
              <a:rPr lang="en-US" u="sng"/>
              <a:t>Dis advantage: </a:t>
            </a:r>
            <a:r>
              <a:rPr lang="en-US"/>
              <a:t>Model performance depends on patterns of data in training and testing</a:t>
            </a:r>
            <a:endParaRPr/>
          </a:p>
        </p:txBody>
      </p:sp>
      <p:graphicFrame>
        <p:nvGraphicFramePr>
          <p:cNvPr id="175" name="Google Shape;175;p12"/>
          <p:cNvGraphicFramePr/>
          <p:nvPr/>
        </p:nvGraphicFramePr>
        <p:xfrm>
          <a:off x="8423661" y="2002415"/>
          <a:ext cx="3000000" cy="3000000"/>
        </p:xfrm>
        <a:graphic>
          <a:graphicData uri="http://schemas.openxmlformats.org/drawingml/2006/table">
            <a:tbl>
              <a:tblPr firstRow="1" bandRow="1">
                <a:noFill/>
                <a:tableStyleId>{DA69C3A7-CB41-451B-93CA-68B10983C4BA}</a:tableStyleId>
              </a:tblPr>
              <a:tblGrid>
                <a:gridCol w="688650">
                  <a:extLst>
                    <a:ext uri="{9D8B030D-6E8A-4147-A177-3AD203B41FA5}">
                      <a16:colId xmlns:a16="http://schemas.microsoft.com/office/drawing/2014/main" val="20000"/>
                    </a:ext>
                  </a:extLst>
                </a:gridCol>
                <a:gridCol w="688650">
                  <a:extLst>
                    <a:ext uri="{9D8B030D-6E8A-4147-A177-3AD203B41FA5}">
                      <a16:colId xmlns:a16="http://schemas.microsoft.com/office/drawing/2014/main" val="20001"/>
                    </a:ext>
                  </a:extLst>
                </a:gridCol>
                <a:gridCol w="688650">
                  <a:extLst>
                    <a:ext uri="{9D8B030D-6E8A-4147-A177-3AD203B41FA5}">
                      <a16:colId xmlns:a16="http://schemas.microsoft.com/office/drawing/2014/main" val="20002"/>
                    </a:ext>
                  </a:extLst>
                </a:gridCol>
                <a:gridCol w="688650">
                  <a:extLst>
                    <a:ext uri="{9D8B030D-6E8A-4147-A177-3AD203B41FA5}">
                      <a16:colId xmlns:a16="http://schemas.microsoft.com/office/drawing/2014/main" val="20003"/>
                    </a:ext>
                  </a:extLst>
                </a:gridCol>
              </a:tblGrid>
              <a:tr h="370850">
                <a:tc>
                  <a:txBody>
                    <a:bodyPr/>
                    <a:lstStyle/>
                    <a:p>
                      <a:pPr marL="0" marR="0" lvl="0" indent="0" algn="l" rtl="0">
                        <a:spcBef>
                          <a:spcPts val="0"/>
                        </a:spcBef>
                        <a:spcAft>
                          <a:spcPts val="0"/>
                        </a:spcAft>
                        <a:buNone/>
                      </a:pPr>
                      <a:r>
                        <a:rPr lang="en-US" sz="1800"/>
                        <a:t>No</a:t>
                      </a:r>
                      <a:endParaRPr sz="1800"/>
                    </a:p>
                  </a:txBody>
                  <a:tcPr marL="91450" marR="91450" marT="45725" marB="45725"/>
                </a:tc>
                <a:tc>
                  <a:txBody>
                    <a:bodyPr/>
                    <a:lstStyle/>
                    <a:p>
                      <a:pPr marL="0" marR="0" lvl="0" indent="0" algn="l" rtl="0">
                        <a:spcBef>
                          <a:spcPts val="0"/>
                        </a:spcBef>
                        <a:spcAft>
                          <a:spcPts val="0"/>
                        </a:spcAft>
                        <a:buNone/>
                      </a:pPr>
                      <a:r>
                        <a:rPr lang="en-US" sz="1800"/>
                        <a:t>F1</a:t>
                      </a:r>
                      <a:endParaRPr sz="1800"/>
                    </a:p>
                  </a:txBody>
                  <a:tcPr marL="91450" marR="91450" marT="45725" marB="45725"/>
                </a:tc>
                <a:tc>
                  <a:txBody>
                    <a:bodyPr/>
                    <a:lstStyle/>
                    <a:p>
                      <a:pPr marL="0" marR="0" lvl="0" indent="0" algn="l" rtl="0">
                        <a:spcBef>
                          <a:spcPts val="0"/>
                        </a:spcBef>
                        <a:spcAft>
                          <a:spcPts val="0"/>
                        </a:spcAft>
                        <a:buNone/>
                      </a:pPr>
                      <a:r>
                        <a:rPr lang="en-US" sz="1800"/>
                        <a:t>F2</a:t>
                      </a:r>
                      <a:endParaRPr sz="1800"/>
                    </a:p>
                  </a:txBody>
                  <a:tcPr marL="91450" marR="91450" marT="45725" marB="45725"/>
                </a:tc>
                <a:tc>
                  <a:txBody>
                    <a:bodyPr/>
                    <a:lstStyle/>
                    <a:p>
                      <a:pPr marL="0" marR="0" lvl="0" indent="0" algn="l" rtl="0">
                        <a:spcBef>
                          <a:spcPts val="0"/>
                        </a:spcBef>
                        <a:spcAft>
                          <a:spcPts val="0"/>
                        </a:spcAft>
                        <a:buNone/>
                      </a:pPr>
                      <a:r>
                        <a:rPr lang="en-US" sz="1800"/>
                        <a:t>Y</a:t>
                      </a:r>
                      <a:endParaRPr sz="1800"/>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spcBef>
                          <a:spcPts val="0"/>
                        </a:spcBef>
                        <a:spcAft>
                          <a:spcPts val="0"/>
                        </a:spcAft>
                        <a:buNone/>
                      </a:pPr>
                      <a:r>
                        <a:rPr lang="en-US" sz="1800"/>
                        <a:t>1</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spcBef>
                          <a:spcPts val="0"/>
                        </a:spcBef>
                        <a:spcAft>
                          <a:spcPts val="0"/>
                        </a:spcAft>
                        <a:buNone/>
                      </a:pPr>
                      <a:r>
                        <a:rPr lang="en-US" sz="1800"/>
                        <a:t>2</a:t>
                      </a:r>
                      <a:endParaRPr sz="1800"/>
                    </a:p>
                  </a:txBody>
                  <a:tcPr marL="91450" marR="91450" marT="45725" marB="45725">
                    <a:solidFill>
                      <a:srgbClr val="F4B081"/>
                    </a:solidFill>
                  </a:tcPr>
                </a:tc>
                <a:tc>
                  <a:txBody>
                    <a:bodyPr/>
                    <a:lstStyle/>
                    <a:p>
                      <a:pPr marL="0" marR="0" lvl="0" indent="0" algn="l" rtl="0">
                        <a:spcBef>
                          <a:spcPts val="0"/>
                        </a:spcBef>
                        <a:spcAft>
                          <a:spcPts val="0"/>
                        </a:spcAft>
                        <a:buNone/>
                      </a:pPr>
                      <a:endParaRPr sz="1800"/>
                    </a:p>
                  </a:txBody>
                  <a:tcPr marL="91450" marR="91450" marT="45725" marB="45725">
                    <a:solidFill>
                      <a:srgbClr val="F4B081"/>
                    </a:solidFill>
                  </a:tcPr>
                </a:tc>
                <a:tc>
                  <a:txBody>
                    <a:bodyPr/>
                    <a:lstStyle/>
                    <a:p>
                      <a:pPr marL="0" marR="0" lvl="0" indent="0" algn="l" rtl="0">
                        <a:spcBef>
                          <a:spcPts val="0"/>
                        </a:spcBef>
                        <a:spcAft>
                          <a:spcPts val="0"/>
                        </a:spcAft>
                        <a:buNone/>
                      </a:pPr>
                      <a:endParaRPr sz="1800"/>
                    </a:p>
                  </a:txBody>
                  <a:tcPr marL="91450" marR="91450" marT="45725" marB="45725">
                    <a:solidFill>
                      <a:srgbClr val="F4B081"/>
                    </a:solidFill>
                  </a:tcPr>
                </a:tc>
                <a:tc>
                  <a:txBody>
                    <a:bodyPr/>
                    <a:lstStyle/>
                    <a:p>
                      <a:pPr marL="0" marR="0" lvl="0" indent="0" algn="l" rtl="0">
                        <a:spcBef>
                          <a:spcPts val="0"/>
                        </a:spcBef>
                        <a:spcAft>
                          <a:spcPts val="0"/>
                        </a:spcAft>
                        <a:buNone/>
                      </a:pPr>
                      <a:r>
                        <a:rPr lang="en-US" sz="1800"/>
                        <a:t>1</a:t>
                      </a:r>
                      <a:endParaRPr sz="1800"/>
                    </a:p>
                  </a:txBody>
                  <a:tcPr marL="91450" marR="91450" marT="45725" marB="45725">
                    <a:solidFill>
                      <a:srgbClr val="F4B081"/>
                    </a:solidFill>
                  </a:tcPr>
                </a:tc>
                <a:extLst>
                  <a:ext uri="{0D108BD9-81ED-4DB2-BD59-A6C34878D82A}">
                    <a16:rowId xmlns:a16="http://schemas.microsoft.com/office/drawing/2014/main" val="10002"/>
                  </a:ext>
                </a:extLst>
              </a:tr>
              <a:tr h="370850">
                <a:tc>
                  <a:txBody>
                    <a:bodyPr/>
                    <a:lstStyle/>
                    <a:p>
                      <a:pPr marL="0" marR="0" lvl="0" indent="0" algn="l" rtl="0">
                        <a:spcBef>
                          <a:spcPts val="0"/>
                        </a:spcBef>
                        <a:spcAft>
                          <a:spcPts val="0"/>
                        </a:spcAft>
                        <a:buNone/>
                      </a:pPr>
                      <a:r>
                        <a:rPr lang="en-US" sz="1800"/>
                        <a:t>3</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spcBef>
                          <a:spcPts val="0"/>
                        </a:spcBef>
                        <a:spcAft>
                          <a:spcPts val="0"/>
                        </a:spcAft>
                        <a:buNone/>
                      </a:pPr>
                      <a:r>
                        <a:rPr lang="en-US" sz="1800"/>
                        <a:t>4</a:t>
                      </a:r>
                      <a:endParaRPr sz="1800"/>
                    </a:p>
                  </a:txBody>
                  <a:tcPr marL="91450" marR="91450" marT="45725" marB="45725">
                    <a:solidFill>
                      <a:srgbClr val="F4B081"/>
                    </a:solidFill>
                  </a:tcPr>
                </a:tc>
                <a:tc>
                  <a:txBody>
                    <a:bodyPr/>
                    <a:lstStyle/>
                    <a:p>
                      <a:pPr marL="0" marR="0" lvl="0" indent="0" algn="l" rtl="0">
                        <a:spcBef>
                          <a:spcPts val="0"/>
                        </a:spcBef>
                        <a:spcAft>
                          <a:spcPts val="0"/>
                        </a:spcAft>
                        <a:buNone/>
                      </a:pPr>
                      <a:endParaRPr sz="1800"/>
                    </a:p>
                  </a:txBody>
                  <a:tcPr marL="91450" marR="91450" marT="45725" marB="45725">
                    <a:solidFill>
                      <a:srgbClr val="F4B081"/>
                    </a:solidFill>
                  </a:tcPr>
                </a:tc>
                <a:tc>
                  <a:txBody>
                    <a:bodyPr/>
                    <a:lstStyle/>
                    <a:p>
                      <a:pPr marL="0" marR="0" lvl="0" indent="0" algn="l" rtl="0">
                        <a:spcBef>
                          <a:spcPts val="0"/>
                        </a:spcBef>
                        <a:spcAft>
                          <a:spcPts val="0"/>
                        </a:spcAft>
                        <a:buNone/>
                      </a:pPr>
                      <a:endParaRPr sz="1800"/>
                    </a:p>
                  </a:txBody>
                  <a:tcPr marL="91450" marR="91450" marT="45725" marB="45725">
                    <a:solidFill>
                      <a:srgbClr val="F4B081"/>
                    </a:solidFill>
                  </a:tcPr>
                </a:tc>
                <a:tc>
                  <a:txBody>
                    <a:bodyPr/>
                    <a:lstStyle/>
                    <a:p>
                      <a:pPr marL="0" marR="0" lvl="0" indent="0" algn="l" rtl="0">
                        <a:spcBef>
                          <a:spcPts val="0"/>
                        </a:spcBef>
                        <a:spcAft>
                          <a:spcPts val="0"/>
                        </a:spcAft>
                        <a:buNone/>
                      </a:pPr>
                      <a:r>
                        <a:rPr lang="en-US" sz="1800"/>
                        <a:t>1</a:t>
                      </a:r>
                      <a:endParaRPr sz="1800"/>
                    </a:p>
                  </a:txBody>
                  <a:tcPr marL="91450" marR="91450" marT="45725" marB="45725">
                    <a:solidFill>
                      <a:srgbClr val="F4B081"/>
                    </a:solidFill>
                  </a:tcPr>
                </a:tc>
                <a:extLst>
                  <a:ext uri="{0D108BD9-81ED-4DB2-BD59-A6C34878D82A}">
                    <a16:rowId xmlns:a16="http://schemas.microsoft.com/office/drawing/2014/main" val="10004"/>
                  </a:ext>
                </a:extLst>
              </a:tr>
              <a:tr h="370850">
                <a:tc>
                  <a:txBody>
                    <a:bodyPr/>
                    <a:lstStyle/>
                    <a:p>
                      <a:pPr marL="0" marR="0" lvl="0" indent="0" algn="l" rtl="0">
                        <a:spcBef>
                          <a:spcPts val="0"/>
                        </a:spcBef>
                        <a:spcAft>
                          <a:spcPts val="0"/>
                        </a:spcAft>
                        <a:buNone/>
                      </a:pPr>
                      <a:r>
                        <a:rPr lang="en-US" sz="1800"/>
                        <a:t>5</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1</a:t>
                      </a:r>
                      <a:endParaRPr sz="1800"/>
                    </a:p>
                  </a:txBody>
                  <a:tcPr marL="91450" marR="91450" marT="45725" marB="45725"/>
                </a:tc>
                <a:extLst>
                  <a:ext uri="{0D108BD9-81ED-4DB2-BD59-A6C34878D82A}">
                    <a16:rowId xmlns:a16="http://schemas.microsoft.com/office/drawing/2014/main" val="10005"/>
                  </a:ext>
                </a:extLst>
              </a:tr>
              <a:tr h="370850">
                <a:tc>
                  <a:txBody>
                    <a:bodyPr/>
                    <a:lstStyle/>
                    <a:p>
                      <a:pPr marL="0" marR="0" lvl="0" indent="0" algn="l" rtl="0">
                        <a:spcBef>
                          <a:spcPts val="0"/>
                        </a:spcBef>
                        <a:spcAft>
                          <a:spcPts val="0"/>
                        </a:spcAft>
                        <a:buNone/>
                      </a:pPr>
                      <a:r>
                        <a:rPr lang="en-US" sz="1800"/>
                        <a:t>6</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extLst>
                  <a:ext uri="{0D108BD9-81ED-4DB2-BD59-A6C34878D82A}">
                    <a16:rowId xmlns:a16="http://schemas.microsoft.com/office/drawing/2014/main" val="10006"/>
                  </a:ext>
                </a:extLst>
              </a:tr>
              <a:tr h="370850">
                <a:tc>
                  <a:txBody>
                    <a:bodyPr/>
                    <a:lstStyle/>
                    <a:p>
                      <a:pPr marL="0" marR="0" lvl="0" indent="0" algn="l" rtl="0">
                        <a:spcBef>
                          <a:spcPts val="0"/>
                        </a:spcBef>
                        <a:spcAft>
                          <a:spcPts val="0"/>
                        </a:spcAft>
                        <a:buNone/>
                      </a:pPr>
                      <a:r>
                        <a:rPr lang="en-US" sz="1800"/>
                        <a:t>7</a:t>
                      </a:r>
                      <a:endParaRPr sz="1800"/>
                    </a:p>
                  </a:txBody>
                  <a:tcPr marL="91450" marR="91450" marT="45725" marB="45725">
                    <a:solidFill>
                      <a:srgbClr val="FFFF00"/>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l" rtl="0">
                        <a:spcBef>
                          <a:spcPts val="0"/>
                        </a:spcBef>
                        <a:spcAft>
                          <a:spcPts val="0"/>
                        </a:spcAft>
                        <a:buNone/>
                      </a:pPr>
                      <a:r>
                        <a:rPr lang="en-US" sz="1800"/>
                        <a:t>0</a:t>
                      </a:r>
                      <a:endParaRPr sz="1800"/>
                    </a:p>
                  </a:txBody>
                  <a:tcPr marL="91450" marR="91450" marT="45725" marB="45725">
                    <a:solidFill>
                      <a:srgbClr val="FFFF00"/>
                    </a:solidFill>
                  </a:tcPr>
                </a:tc>
                <a:extLst>
                  <a:ext uri="{0D108BD9-81ED-4DB2-BD59-A6C34878D82A}">
                    <a16:rowId xmlns:a16="http://schemas.microsoft.com/office/drawing/2014/main" val="10007"/>
                  </a:ext>
                </a:extLst>
              </a:tr>
              <a:tr h="370850">
                <a:tc>
                  <a:txBody>
                    <a:bodyPr/>
                    <a:lstStyle/>
                    <a:p>
                      <a:pPr marL="0" marR="0" lvl="0" indent="0" algn="l" rtl="0">
                        <a:spcBef>
                          <a:spcPts val="0"/>
                        </a:spcBef>
                        <a:spcAft>
                          <a:spcPts val="0"/>
                        </a:spcAft>
                        <a:buNone/>
                      </a:pPr>
                      <a:r>
                        <a:rPr lang="en-US" sz="1800"/>
                        <a:t>8</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extLst>
                  <a:ext uri="{0D108BD9-81ED-4DB2-BD59-A6C34878D82A}">
                    <a16:rowId xmlns:a16="http://schemas.microsoft.com/office/drawing/2014/main" val="10008"/>
                  </a:ext>
                </a:extLst>
              </a:tr>
              <a:tr h="370850">
                <a:tc>
                  <a:txBody>
                    <a:bodyPr/>
                    <a:lstStyle/>
                    <a:p>
                      <a:pPr marL="0" marR="0" lvl="0" indent="0" algn="l" rtl="0">
                        <a:spcBef>
                          <a:spcPts val="0"/>
                        </a:spcBef>
                        <a:spcAft>
                          <a:spcPts val="0"/>
                        </a:spcAft>
                        <a:buNone/>
                      </a:pPr>
                      <a:r>
                        <a:rPr lang="en-US" sz="1800"/>
                        <a:t>9</a:t>
                      </a:r>
                      <a:endParaRPr sz="1800"/>
                    </a:p>
                  </a:txBody>
                  <a:tcPr marL="91450" marR="91450" marT="45725" marB="45725">
                    <a:solidFill>
                      <a:srgbClr val="FFFF00"/>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l" rtl="0">
                        <a:spcBef>
                          <a:spcPts val="0"/>
                        </a:spcBef>
                        <a:spcAft>
                          <a:spcPts val="0"/>
                        </a:spcAft>
                        <a:buNone/>
                      </a:pPr>
                      <a:endParaRPr sz="1800"/>
                    </a:p>
                  </a:txBody>
                  <a:tcPr marL="91450" marR="91450" marT="45725" marB="45725">
                    <a:solidFill>
                      <a:srgbClr val="FFFF00"/>
                    </a:solidFill>
                  </a:tcPr>
                </a:tc>
                <a:tc>
                  <a:txBody>
                    <a:bodyPr/>
                    <a:lstStyle/>
                    <a:p>
                      <a:pPr marL="0" marR="0" lvl="0" indent="0" algn="l" rtl="0">
                        <a:spcBef>
                          <a:spcPts val="0"/>
                        </a:spcBef>
                        <a:spcAft>
                          <a:spcPts val="0"/>
                        </a:spcAft>
                        <a:buNone/>
                      </a:pPr>
                      <a:r>
                        <a:rPr lang="en-US" sz="1800"/>
                        <a:t>0</a:t>
                      </a:r>
                      <a:endParaRPr sz="1800"/>
                    </a:p>
                  </a:txBody>
                  <a:tcPr marL="91450" marR="91450" marT="45725" marB="45725">
                    <a:solidFill>
                      <a:srgbClr val="FFFF00"/>
                    </a:solidFill>
                  </a:tcPr>
                </a:tc>
                <a:extLst>
                  <a:ext uri="{0D108BD9-81ED-4DB2-BD59-A6C34878D82A}">
                    <a16:rowId xmlns:a16="http://schemas.microsoft.com/office/drawing/2014/main" val="10009"/>
                  </a:ext>
                </a:extLst>
              </a:tr>
              <a:tr h="370850">
                <a:tc>
                  <a:txBody>
                    <a:bodyPr/>
                    <a:lstStyle/>
                    <a:p>
                      <a:pPr marL="0" marR="0" lvl="0" indent="0" algn="l" rtl="0">
                        <a:spcBef>
                          <a:spcPts val="0"/>
                        </a:spcBef>
                        <a:spcAft>
                          <a:spcPts val="0"/>
                        </a:spcAft>
                        <a:buNone/>
                      </a:pPr>
                      <a:r>
                        <a:rPr lang="en-US" sz="1800"/>
                        <a:t>10</a:t>
                      </a: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0</a:t>
                      </a:r>
                      <a:endParaRPr sz="1800"/>
                    </a:p>
                  </a:txBody>
                  <a:tcPr marL="91450" marR="91450" marT="45725" marB="45725"/>
                </a:tc>
                <a:extLst>
                  <a:ext uri="{0D108BD9-81ED-4DB2-BD59-A6C34878D82A}">
                    <a16:rowId xmlns:a16="http://schemas.microsoft.com/office/drawing/2014/main" val="10010"/>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K fold cross validation &amp; Stratified K-fold</a:t>
            </a:r>
            <a:endParaRPr/>
          </a:p>
        </p:txBody>
      </p:sp>
      <p:sp>
        <p:nvSpPr>
          <p:cNvPr id="181" name="Google Shape;181;p13"/>
          <p:cNvSpPr txBox="1">
            <a:spLocks noGrp="1"/>
          </p:cNvSpPr>
          <p:nvPr>
            <p:ph type="body" idx="1"/>
          </p:nvPr>
        </p:nvSpPr>
        <p:spPr>
          <a:xfrm>
            <a:off x="838200" y="1690700"/>
            <a:ext cx="5987700" cy="4942500"/>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92831"/>
              <a:buChar char="•"/>
            </a:pPr>
            <a:r>
              <a:rPr lang="en-US" sz="3016" b="1">
                <a:solidFill>
                  <a:srgbClr val="0000FF"/>
                </a:solidFill>
              </a:rPr>
              <a:t>In K-fold</a:t>
            </a:r>
            <a:r>
              <a:rPr lang="en-US"/>
              <a:t>, total data is split in k parts</a:t>
            </a:r>
            <a:endParaRPr/>
          </a:p>
          <a:p>
            <a:pPr marL="228600" lvl="0" indent="-228600" algn="l" rtl="0">
              <a:lnSpc>
                <a:spcPct val="90000"/>
              </a:lnSpc>
              <a:spcBef>
                <a:spcPts val="1000"/>
              </a:spcBef>
              <a:spcAft>
                <a:spcPts val="0"/>
              </a:spcAft>
              <a:buClr>
                <a:schemeClr val="dk1"/>
              </a:buClr>
              <a:buSzPct val="100000"/>
              <a:buChar char="•"/>
            </a:pPr>
            <a:r>
              <a:rPr lang="en-US"/>
              <a:t>Means k=5 then 5 parts</a:t>
            </a:r>
            <a:endParaRPr/>
          </a:p>
          <a:p>
            <a:pPr marL="228600" lvl="0" indent="-228600" algn="l" rtl="0">
              <a:lnSpc>
                <a:spcPct val="90000"/>
              </a:lnSpc>
              <a:spcBef>
                <a:spcPts val="1000"/>
              </a:spcBef>
              <a:spcAft>
                <a:spcPts val="0"/>
              </a:spcAft>
              <a:buClr>
                <a:schemeClr val="dk1"/>
              </a:buClr>
              <a:buSzPct val="100000"/>
              <a:buChar char="•"/>
            </a:pPr>
            <a:r>
              <a:rPr lang="en-US"/>
              <a:t>Training and testing is done iteratively k number of times</a:t>
            </a:r>
            <a:endParaRPr/>
          </a:p>
          <a:p>
            <a:pPr marL="228600" lvl="0" indent="-228600" algn="l" rtl="0">
              <a:lnSpc>
                <a:spcPct val="90000"/>
              </a:lnSpc>
              <a:spcBef>
                <a:spcPts val="1000"/>
              </a:spcBef>
              <a:spcAft>
                <a:spcPts val="0"/>
              </a:spcAft>
              <a:buClr>
                <a:schemeClr val="dk1"/>
              </a:buClr>
              <a:buSzPct val="100000"/>
              <a:buChar char="•"/>
            </a:pPr>
            <a:r>
              <a:rPr lang="en-US"/>
              <a:t>In each iteration k-1 parts are training and one randomly selected part is testing</a:t>
            </a:r>
            <a:endParaRPr/>
          </a:p>
          <a:p>
            <a:pPr marL="228600" lvl="0" indent="-228600" algn="l" rtl="0">
              <a:lnSpc>
                <a:spcPct val="90000"/>
              </a:lnSpc>
              <a:spcBef>
                <a:spcPts val="1000"/>
              </a:spcBef>
              <a:spcAft>
                <a:spcPts val="0"/>
              </a:spcAft>
              <a:buClr>
                <a:schemeClr val="dk1"/>
              </a:buClr>
              <a:buSzPct val="100000"/>
              <a:buChar char="•"/>
            </a:pPr>
            <a:r>
              <a:rPr lang="en-US"/>
              <a:t>Testing will happen on all parts one by one</a:t>
            </a:r>
            <a:endParaRPr/>
          </a:p>
          <a:p>
            <a:pPr marL="228600" lvl="0" indent="-228600" algn="l" rtl="0">
              <a:lnSpc>
                <a:spcPct val="90000"/>
              </a:lnSpc>
              <a:spcBef>
                <a:spcPts val="1000"/>
              </a:spcBef>
              <a:spcAft>
                <a:spcPts val="0"/>
              </a:spcAft>
              <a:buClr>
                <a:schemeClr val="dk1"/>
              </a:buClr>
              <a:buSzPct val="100000"/>
              <a:buChar char="•"/>
            </a:pPr>
            <a:r>
              <a:rPr lang="en-US"/>
              <a:t>Final result is average of all k iterations of testing</a:t>
            </a:r>
            <a:endParaRPr/>
          </a:p>
          <a:p>
            <a:pPr marL="228600" lvl="0" indent="-169863" algn="l" rtl="0">
              <a:lnSpc>
                <a:spcPct val="90000"/>
              </a:lnSpc>
              <a:spcBef>
                <a:spcPts val="1000"/>
              </a:spcBef>
              <a:spcAft>
                <a:spcPts val="0"/>
              </a:spcAft>
              <a:buSzPct val="64286"/>
              <a:buChar char="•"/>
            </a:pPr>
            <a:r>
              <a:rPr lang="en-US"/>
              <a:t>K is given by user (5 or 10 generally)</a:t>
            </a:r>
            <a:endParaRPr/>
          </a:p>
          <a:p>
            <a:pPr marL="228600" lvl="0" indent="-169863" algn="l" rtl="0">
              <a:lnSpc>
                <a:spcPct val="90000"/>
              </a:lnSpc>
              <a:spcBef>
                <a:spcPts val="1000"/>
              </a:spcBef>
              <a:spcAft>
                <a:spcPts val="0"/>
              </a:spcAft>
              <a:buSzPct val="59677"/>
              <a:buChar char="•"/>
            </a:pPr>
            <a:r>
              <a:rPr lang="en-US" sz="3016" b="1">
                <a:solidFill>
                  <a:srgbClr val="0000FF"/>
                </a:solidFill>
              </a:rPr>
              <a:t>In Stratified K-fold</a:t>
            </a:r>
            <a:r>
              <a:rPr lang="en-US"/>
              <a:t>, in each split distribution of classes from original data is maintained like stratified random split</a:t>
            </a:r>
            <a:endParaRPr/>
          </a:p>
        </p:txBody>
      </p:sp>
      <p:graphicFrame>
        <p:nvGraphicFramePr>
          <p:cNvPr id="182" name="Google Shape;182;p13"/>
          <p:cNvGraphicFramePr/>
          <p:nvPr/>
        </p:nvGraphicFramePr>
        <p:xfrm>
          <a:off x="7762011" y="2049702"/>
          <a:ext cx="3000000" cy="3000000"/>
        </p:xfrm>
        <a:graphic>
          <a:graphicData uri="http://schemas.openxmlformats.org/drawingml/2006/table">
            <a:tbl>
              <a:tblPr firstRow="1" bandRow="1">
                <a:noFill/>
                <a:tableStyleId>{DA69C3A7-CB41-451B-93CA-68B10983C4BA}</a:tableStyleId>
              </a:tblPr>
              <a:tblGrid>
                <a:gridCol w="641700">
                  <a:extLst>
                    <a:ext uri="{9D8B030D-6E8A-4147-A177-3AD203B41FA5}">
                      <a16:colId xmlns:a16="http://schemas.microsoft.com/office/drawing/2014/main" val="20000"/>
                    </a:ext>
                  </a:extLst>
                </a:gridCol>
                <a:gridCol w="641700">
                  <a:extLst>
                    <a:ext uri="{9D8B030D-6E8A-4147-A177-3AD203B41FA5}">
                      <a16:colId xmlns:a16="http://schemas.microsoft.com/office/drawing/2014/main" val="20001"/>
                    </a:ext>
                  </a:extLst>
                </a:gridCol>
                <a:gridCol w="641700">
                  <a:extLst>
                    <a:ext uri="{9D8B030D-6E8A-4147-A177-3AD203B41FA5}">
                      <a16:colId xmlns:a16="http://schemas.microsoft.com/office/drawing/2014/main" val="20002"/>
                    </a:ext>
                  </a:extLst>
                </a:gridCol>
                <a:gridCol w="641700">
                  <a:extLst>
                    <a:ext uri="{9D8B030D-6E8A-4147-A177-3AD203B41FA5}">
                      <a16:colId xmlns:a16="http://schemas.microsoft.com/office/drawing/2014/main" val="20003"/>
                    </a:ext>
                  </a:extLst>
                </a:gridCol>
                <a:gridCol w="641700">
                  <a:extLst>
                    <a:ext uri="{9D8B030D-6E8A-4147-A177-3AD203B41FA5}">
                      <a16:colId xmlns:a16="http://schemas.microsoft.com/office/drawing/2014/main" val="20004"/>
                    </a:ext>
                  </a:extLst>
                </a:gridCol>
              </a:tblGrid>
              <a:tr h="626475">
                <a:tc>
                  <a:txBody>
                    <a:bodyPr/>
                    <a:lstStyle/>
                    <a:p>
                      <a:pPr marL="0" marR="0" lvl="0" indent="0" algn="l" rtl="0">
                        <a:spcBef>
                          <a:spcPts val="0"/>
                        </a:spcBef>
                        <a:spcAft>
                          <a:spcPts val="0"/>
                        </a:spcAft>
                        <a:buNone/>
                      </a:pPr>
                      <a:r>
                        <a:rPr lang="en-US" sz="1800"/>
                        <a:t>Itr1</a:t>
                      </a:r>
                      <a:endParaRPr sz="1800"/>
                    </a:p>
                  </a:txBody>
                  <a:tcPr marL="91450" marR="91450" marT="45725" marB="45725"/>
                </a:tc>
                <a:tc>
                  <a:txBody>
                    <a:bodyPr/>
                    <a:lstStyle/>
                    <a:p>
                      <a:pPr marL="0" marR="0" lvl="0" indent="0" algn="l" rtl="0">
                        <a:spcBef>
                          <a:spcPts val="0"/>
                        </a:spcBef>
                        <a:spcAft>
                          <a:spcPts val="0"/>
                        </a:spcAft>
                        <a:buNone/>
                      </a:pPr>
                      <a:r>
                        <a:rPr lang="en-US" sz="1800"/>
                        <a:t>Itr2</a:t>
                      </a:r>
                      <a:endParaRPr sz="1800"/>
                    </a:p>
                  </a:txBody>
                  <a:tcPr marL="91450" marR="91450" marT="45725" marB="45725"/>
                </a:tc>
                <a:tc>
                  <a:txBody>
                    <a:bodyPr/>
                    <a:lstStyle/>
                    <a:p>
                      <a:pPr marL="0" marR="0" lvl="0" indent="0" algn="l" rtl="0">
                        <a:spcBef>
                          <a:spcPts val="0"/>
                        </a:spcBef>
                        <a:spcAft>
                          <a:spcPts val="0"/>
                        </a:spcAft>
                        <a:buNone/>
                      </a:pPr>
                      <a:r>
                        <a:rPr lang="en-US" sz="1800"/>
                        <a:t>itr3</a:t>
                      </a:r>
                      <a:endParaRPr sz="1800"/>
                    </a:p>
                  </a:txBody>
                  <a:tcPr marL="91450" marR="91450" marT="45725" marB="45725"/>
                </a:tc>
                <a:tc>
                  <a:txBody>
                    <a:bodyPr/>
                    <a:lstStyle/>
                    <a:p>
                      <a:pPr marL="0" marR="0" lvl="0" indent="0" algn="l" rtl="0">
                        <a:spcBef>
                          <a:spcPts val="0"/>
                        </a:spcBef>
                        <a:spcAft>
                          <a:spcPts val="0"/>
                        </a:spcAft>
                        <a:buNone/>
                      </a:pPr>
                      <a:r>
                        <a:rPr lang="en-US" sz="1800"/>
                        <a:t>Itr4</a:t>
                      </a:r>
                      <a:endParaRPr sz="1800"/>
                    </a:p>
                  </a:txBody>
                  <a:tcPr marL="91450" marR="91450" marT="45725" marB="45725"/>
                </a:tc>
                <a:tc>
                  <a:txBody>
                    <a:bodyPr/>
                    <a:lstStyle/>
                    <a:p>
                      <a:pPr marL="0" marR="0" lvl="0" indent="0" algn="l" rtl="0">
                        <a:spcBef>
                          <a:spcPts val="0"/>
                        </a:spcBef>
                        <a:spcAft>
                          <a:spcPts val="0"/>
                        </a:spcAft>
                        <a:buNone/>
                      </a:pPr>
                      <a:r>
                        <a:rPr lang="en-US" sz="1800"/>
                        <a:t>Itr5</a:t>
                      </a:r>
                      <a:endParaRPr sz="1800"/>
                    </a:p>
                  </a:txBody>
                  <a:tcPr marL="91450" marR="91450" marT="45725" marB="45725"/>
                </a:tc>
                <a:extLst>
                  <a:ext uri="{0D108BD9-81ED-4DB2-BD59-A6C34878D82A}">
                    <a16:rowId xmlns:a16="http://schemas.microsoft.com/office/drawing/2014/main" val="10000"/>
                  </a:ext>
                </a:extLst>
              </a:tr>
              <a:tr h="6264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Test</a:t>
                      </a:r>
                      <a:endParaRPr sz="1800"/>
                    </a:p>
                  </a:txBody>
                  <a:tcPr marL="91450" marR="91450" marT="45725" marB="45725">
                    <a:solidFill>
                      <a:srgbClr val="FFFF00"/>
                    </a:solidFill>
                  </a:tcPr>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1"/>
                  </a:ext>
                </a:extLst>
              </a:tr>
              <a:tr h="626475">
                <a:tc>
                  <a:txBody>
                    <a:bodyPr/>
                    <a:lstStyle/>
                    <a:p>
                      <a:pPr marL="0" marR="0" lvl="0" indent="0" algn="l" rtl="0">
                        <a:spcBef>
                          <a:spcPts val="0"/>
                        </a:spcBef>
                        <a:spcAft>
                          <a:spcPts val="0"/>
                        </a:spcAft>
                        <a:buNone/>
                      </a:pPr>
                      <a:r>
                        <a:rPr lang="en-US" sz="1800"/>
                        <a:t>Test</a:t>
                      </a:r>
                      <a:endParaRPr sz="1800"/>
                    </a:p>
                  </a:txBody>
                  <a:tcPr marL="91450" marR="91450" marT="45725" marB="45725">
                    <a:solidFill>
                      <a:srgbClr val="FFFF00"/>
                    </a:solidFill>
                  </a:tcPr>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2"/>
                  </a:ext>
                </a:extLst>
              </a:tr>
              <a:tr h="6264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Test</a:t>
                      </a:r>
                      <a:endParaRPr sz="1800"/>
                    </a:p>
                  </a:txBody>
                  <a:tcPr marL="91450" marR="91450" marT="45725" marB="45725">
                    <a:solidFill>
                      <a:srgbClr val="FFFF00"/>
                    </a:solidFill>
                  </a:tcPr>
                </a:tc>
                <a:extLst>
                  <a:ext uri="{0D108BD9-81ED-4DB2-BD59-A6C34878D82A}">
                    <a16:rowId xmlns:a16="http://schemas.microsoft.com/office/drawing/2014/main" val="10003"/>
                  </a:ext>
                </a:extLst>
              </a:tr>
              <a:tr h="6264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Test</a:t>
                      </a:r>
                      <a:endParaRPr sz="1800"/>
                    </a:p>
                  </a:txBody>
                  <a:tcPr marL="91450" marR="91450" marT="45725" marB="45725">
                    <a:solidFill>
                      <a:srgbClr val="FFFF00"/>
                    </a:solidFill>
                  </a:tcPr>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4"/>
                  </a:ext>
                </a:extLst>
              </a:tr>
              <a:tr h="626475">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endParaRPr sz="1800"/>
                    </a:p>
                  </a:txBody>
                  <a:tcPr marL="91450" marR="91450" marT="45725" marB="45725"/>
                </a:tc>
                <a:tc>
                  <a:txBody>
                    <a:bodyPr/>
                    <a:lstStyle/>
                    <a:p>
                      <a:pPr marL="0" marR="0" lvl="0" indent="0" algn="l" rtl="0">
                        <a:spcBef>
                          <a:spcPts val="0"/>
                        </a:spcBef>
                        <a:spcAft>
                          <a:spcPts val="0"/>
                        </a:spcAft>
                        <a:buNone/>
                      </a:pPr>
                      <a:r>
                        <a:rPr lang="en-US" sz="1800"/>
                        <a:t>Test</a:t>
                      </a:r>
                      <a:endParaRPr sz="1800"/>
                    </a:p>
                  </a:txBody>
                  <a:tcPr marL="91450" marR="91450" marT="45725" marB="45725">
                    <a:solidFill>
                      <a:srgbClr val="FFFF00"/>
                    </a:solidFill>
                  </a:tcPr>
                </a:tc>
                <a:tc>
                  <a:txBody>
                    <a:bodyPr/>
                    <a:lstStyle/>
                    <a:p>
                      <a:pPr marL="0" marR="0" lvl="0" indent="0" algn="l" rtl="0">
                        <a:spcBef>
                          <a:spcPts val="0"/>
                        </a:spcBef>
                        <a:spcAft>
                          <a:spcPts val="0"/>
                        </a:spcAft>
                        <a:buNone/>
                      </a:pPr>
                      <a:endParaRPr sz="1800"/>
                    </a:p>
                  </a:txBody>
                  <a:tcPr marL="91450" marR="91450" marT="45725" marB="45725"/>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e1c838bfde_0_0"/>
          <p:cNvSpPr txBox="1">
            <a:spLocks noGrp="1"/>
          </p:cNvSpPr>
          <p:nvPr>
            <p:ph type="title"/>
          </p:nvPr>
        </p:nvSpPr>
        <p:spPr>
          <a:xfrm>
            <a:off x="838200" y="365125"/>
            <a:ext cx="9318600" cy="699000"/>
          </a:xfrm>
          <a:prstGeom prst="rect">
            <a:avLst/>
          </a:prstGeom>
        </p:spPr>
        <p:txBody>
          <a:bodyPr spcFirstLastPara="1" wrap="square" lIns="91425" tIns="45700" rIns="91425" bIns="45700" anchor="ctr" anchorCtr="0">
            <a:normAutofit fontScale="90000"/>
          </a:bodyPr>
          <a:lstStyle/>
          <a:p>
            <a:pPr marL="0" lvl="0" indent="0" algn="l" rtl="0">
              <a:lnSpc>
                <a:spcPct val="115000"/>
              </a:lnSpc>
              <a:spcBef>
                <a:spcPts val="2400"/>
              </a:spcBef>
              <a:spcAft>
                <a:spcPts val="600"/>
              </a:spcAft>
              <a:buNone/>
            </a:pPr>
            <a:r>
              <a:rPr lang="en-US"/>
              <a:t>Leave One Out Cross Validation (LOOCV)</a:t>
            </a:r>
            <a:endParaRPr/>
          </a:p>
        </p:txBody>
      </p:sp>
      <p:sp>
        <p:nvSpPr>
          <p:cNvPr id="188" name="Google Shape;188;g3e1c838bfde_0_0"/>
          <p:cNvSpPr txBox="1">
            <a:spLocks noGrp="1"/>
          </p:cNvSpPr>
          <p:nvPr>
            <p:ph type="body" idx="1"/>
          </p:nvPr>
        </p:nvSpPr>
        <p:spPr>
          <a:xfrm>
            <a:off x="719950" y="1241525"/>
            <a:ext cx="9318600" cy="52263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a:t>Each sample is used once as a test set, while the remaining samples form the training set. </a:t>
            </a:r>
            <a:endParaRPr/>
          </a:p>
          <a:p>
            <a:pPr marL="0" lvl="0" indent="0" algn="l" rtl="0">
              <a:spcBef>
                <a:spcPts val="1000"/>
              </a:spcBef>
              <a:spcAft>
                <a:spcPts val="0"/>
              </a:spcAft>
              <a:buNone/>
            </a:pPr>
            <a:endParaRPr/>
          </a:p>
          <a:p>
            <a:pPr marL="0" lvl="0" indent="0" algn="l" rtl="0">
              <a:spcBef>
                <a:spcPts val="1000"/>
              </a:spcBef>
              <a:spcAft>
                <a:spcPts val="0"/>
              </a:spcAft>
              <a:buNone/>
            </a:pPr>
            <a:r>
              <a:rPr lang="en-US"/>
              <a:t>Number of iterations = No of training samples (rows)</a:t>
            </a:r>
            <a:endParaRPr/>
          </a:p>
          <a:p>
            <a:pPr marL="0" lvl="0" indent="0" algn="l" rtl="0">
              <a:spcBef>
                <a:spcPts val="1000"/>
              </a:spcBef>
              <a:spcAft>
                <a:spcPts val="0"/>
              </a:spcAft>
              <a:buNone/>
            </a:pPr>
            <a:endParaRPr/>
          </a:p>
          <a:p>
            <a:pPr marL="0" lvl="0" indent="0" algn="l" rtl="0">
              <a:spcBef>
                <a:spcPts val="1000"/>
              </a:spcBef>
              <a:spcAft>
                <a:spcPts val="0"/>
              </a:spcAft>
              <a:buNone/>
            </a:pPr>
            <a:r>
              <a:rPr lang="en-US" b="1" u="sng"/>
              <a:t>Example</a:t>
            </a:r>
            <a:r>
              <a:rPr lang="en-US"/>
              <a:t>: If we have dataset of 100 rows, then first iteration one random row will be test data and 99 rows in training, like this there will be 100 iterations</a:t>
            </a:r>
            <a:endParaRPr/>
          </a:p>
          <a:p>
            <a:pPr marL="0" lvl="0" indent="0" algn="l" rtl="0">
              <a:spcBef>
                <a:spcPts val="1000"/>
              </a:spcBef>
              <a:spcAft>
                <a:spcPts val="0"/>
              </a:spcAft>
              <a:buNone/>
            </a:pPr>
            <a:endParaRPr/>
          </a:p>
          <a:p>
            <a:pPr marL="0" lvl="0" indent="0" algn="l" rtl="0">
              <a:spcBef>
                <a:spcPts val="1000"/>
              </a:spcBef>
              <a:spcAft>
                <a:spcPts val="0"/>
              </a:spcAft>
              <a:buNone/>
            </a:pPr>
            <a:r>
              <a:rPr lang="en-US" b="1" i="1" u="sng"/>
              <a:t>Limitation</a:t>
            </a:r>
            <a:r>
              <a:rPr lang="en-US"/>
              <a:t>: </a:t>
            </a:r>
            <a:r>
              <a:rPr lang="en-US" sz="2600"/>
              <a:t>Due to the high number of test sets (which is the same as the number of samples) this cross validation method can be very costly. For large datasets one should favor KFold, StratifiedKFold or ShuffleSplit. </a:t>
            </a:r>
            <a:endParaRPr sz="26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g3e1c838bfde_0_9"/>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Shuffle Split</a:t>
            </a:r>
            <a:endParaRPr/>
          </a:p>
        </p:txBody>
      </p:sp>
      <p:sp>
        <p:nvSpPr>
          <p:cNvPr id="194" name="Google Shape;194;g3e1c838bfde_0_9"/>
          <p:cNvSpPr txBox="1">
            <a:spLocks noGrp="1"/>
          </p:cNvSpPr>
          <p:nvPr>
            <p:ph type="body" idx="1"/>
          </p:nvPr>
        </p:nvSpPr>
        <p:spPr>
          <a:xfrm>
            <a:off x="838200" y="1825625"/>
            <a:ext cx="10515600" cy="4351200"/>
          </a:xfrm>
          <a:prstGeom prst="rect">
            <a:avLst/>
          </a:prstGeom>
        </p:spPr>
        <p:txBody>
          <a:bodyPr spcFirstLastPara="1" wrap="square" lIns="91425" tIns="45700" rIns="91425" bIns="45700" anchor="t" anchorCtr="0">
            <a:normAutofit lnSpcReduction="10000"/>
          </a:bodyPr>
          <a:lstStyle/>
          <a:p>
            <a:pPr marL="0" lvl="0" indent="0" algn="l" rtl="0">
              <a:spcBef>
                <a:spcPts val="1000"/>
              </a:spcBef>
              <a:spcAft>
                <a:spcPts val="0"/>
              </a:spcAft>
              <a:buNone/>
            </a:pPr>
            <a:r>
              <a:rPr lang="en-US"/>
              <a:t>It is Repeated random splitting</a:t>
            </a:r>
            <a:endParaRPr/>
          </a:p>
          <a:p>
            <a:pPr marL="0" lvl="0" indent="0" algn="l" rtl="0">
              <a:spcBef>
                <a:spcPts val="1000"/>
              </a:spcBef>
              <a:spcAft>
                <a:spcPts val="0"/>
              </a:spcAft>
              <a:buNone/>
            </a:pPr>
            <a:r>
              <a:rPr lang="en-US"/>
              <a:t>Data is split in training and testing ‘n’ times </a:t>
            </a:r>
            <a:endParaRPr/>
          </a:p>
          <a:p>
            <a:pPr marL="0" lvl="0" indent="0" algn="l" rtl="0">
              <a:spcBef>
                <a:spcPts val="1000"/>
              </a:spcBef>
              <a:spcAft>
                <a:spcPts val="0"/>
              </a:spcAft>
              <a:buClr>
                <a:schemeClr val="dk1"/>
              </a:buClr>
              <a:buSzPts val="1100"/>
              <a:buFont typeface="Arial"/>
              <a:buNone/>
            </a:pPr>
            <a:r>
              <a:rPr lang="en-US"/>
              <a:t>There is possibility of overlap</a:t>
            </a:r>
            <a:endParaRPr/>
          </a:p>
          <a:p>
            <a:pPr marL="0" lvl="0" indent="0" algn="l" rtl="0">
              <a:spcBef>
                <a:spcPts val="1000"/>
              </a:spcBef>
              <a:spcAft>
                <a:spcPts val="0"/>
              </a:spcAft>
              <a:buNone/>
            </a:pPr>
            <a:r>
              <a:rPr lang="en-US"/>
              <a:t>‘n’ is given by user</a:t>
            </a:r>
            <a:endParaRPr/>
          </a:p>
          <a:p>
            <a:pPr marL="0" lvl="0" indent="0" algn="l" rtl="0">
              <a:spcBef>
                <a:spcPts val="1000"/>
              </a:spcBef>
              <a:spcAft>
                <a:spcPts val="0"/>
              </a:spcAft>
              <a:buNone/>
            </a:pPr>
            <a:endParaRPr/>
          </a:p>
          <a:p>
            <a:pPr marL="0" lvl="0" indent="0" algn="l" rtl="0">
              <a:spcBef>
                <a:spcPts val="1000"/>
              </a:spcBef>
              <a:spcAft>
                <a:spcPts val="0"/>
              </a:spcAft>
              <a:buNone/>
            </a:pPr>
            <a:r>
              <a:rPr lang="en-US"/>
              <a:t>Example:</a:t>
            </a:r>
            <a:endParaRPr/>
          </a:p>
          <a:p>
            <a:pPr marL="0" lvl="0" indent="0" algn="l" rtl="0">
              <a:spcBef>
                <a:spcPts val="1000"/>
              </a:spcBef>
              <a:spcAft>
                <a:spcPts val="0"/>
              </a:spcAft>
              <a:buNone/>
            </a:pPr>
            <a:r>
              <a:rPr lang="en-US"/>
              <a:t>If we have 20 samples and n=5, training size = 60% and test size 40%</a:t>
            </a:r>
            <a:endParaRPr/>
          </a:p>
          <a:p>
            <a:pPr marL="0" lvl="0" indent="0" algn="l" rtl="0">
              <a:spcBef>
                <a:spcPts val="1000"/>
              </a:spcBef>
              <a:spcAft>
                <a:spcPts val="0"/>
              </a:spcAft>
              <a:buNone/>
            </a:pPr>
            <a:r>
              <a:rPr lang="en-US"/>
              <a:t>Then there will be 10 iterations. In each iteration training data and test data will be given.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How a Machine Learns?</a:t>
            </a:r>
            <a:endParaRPr/>
          </a:p>
        </p:txBody>
      </p:sp>
      <p:sp>
        <p:nvSpPr>
          <p:cNvPr id="200" name="Google Shape;200;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Where do you see learning taking place?</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Can a machine learn on its own ?</a:t>
            </a:r>
            <a:endParaRPr/>
          </a:p>
          <a:p>
            <a:pPr marL="685800" lvl="1" indent="-228600" algn="l" rtl="0">
              <a:lnSpc>
                <a:spcPct val="90000"/>
              </a:lnSpc>
              <a:spcBef>
                <a:spcPts val="500"/>
              </a:spcBef>
              <a:spcAft>
                <a:spcPts val="0"/>
              </a:spcAft>
              <a:buClr>
                <a:schemeClr val="dk1"/>
              </a:buClr>
              <a:buSzPts val="2400"/>
              <a:buChar char="•"/>
            </a:pPr>
            <a:r>
              <a:rPr lang="en-US"/>
              <a:t>Supervised </a:t>
            </a:r>
            <a:endParaRPr/>
          </a:p>
          <a:p>
            <a:pPr marL="685800" lvl="1" indent="-228600" algn="l" rtl="0">
              <a:lnSpc>
                <a:spcPct val="90000"/>
              </a:lnSpc>
              <a:spcBef>
                <a:spcPts val="500"/>
              </a:spcBef>
              <a:spcAft>
                <a:spcPts val="0"/>
              </a:spcAft>
              <a:buClr>
                <a:schemeClr val="dk1"/>
              </a:buClr>
              <a:buSzPts val="2400"/>
              <a:buChar char="•"/>
            </a:pPr>
            <a:r>
              <a:rPr lang="en-US"/>
              <a:t>Un-Supervised </a:t>
            </a:r>
            <a:endParaRPr/>
          </a:p>
          <a:p>
            <a:pPr marL="685800" lvl="1" indent="-190500" algn="l" rtl="0">
              <a:lnSpc>
                <a:spcPct val="90000"/>
              </a:lnSpc>
              <a:spcBef>
                <a:spcPts val="500"/>
              </a:spcBef>
              <a:spcAft>
                <a:spcPts val="0"/>
              </a:spcAft>
              <a:buSzPts val="1800"/>
              <a:buChar char="•"/>
            </a:pPr>
            <a:r>
              <a:rPr lang="en-US"/>
              <a:t>Reinforcement</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Machine Learning Tasks</a:t>
            </a:r>
            <a:endParaRPr/>
          </a:p>
        </p:txBody>
      </p:sp>
      <p:sp>
        <p:nvSpPr>
          <p:cNvPr id="206" name="Google Shape;206;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Prediction (Supervised)</a:t>
            </a:r>
            <a:endParaRPr/>
          </a:p>
          <a:p>
            <a:pPr marL="685800" lvl="1" indent="-228600" algn="l" rtl="0">
              <a:lnSpc>
                <a:spcPct val="90000"/>
              </a:lnSpc>
              <a:spcBef>
                <a:spcPts val="500"/>
              </a:spcBef>
              <a:spcAft>
                <a:spcPts val="0"/>
              </a:spcAft>
              <a:buClr>
                <a:schemeClr val="dk1"/>
              </a:buClr>
              <a:buSzPts val="2400"/>
              <a:buChar char="•"/>
            </a:pPr>
            <a:r>
              <a:rPr lang="en-US"/>
              <a:t>Regression – predict a number</a:t>
            </a:r>
            <a:endParaRPr/>
          </a:p>
          <a:p>
            <a:pPr marL="1143000" lvl="2" indent="-228600" algn="l" rtl="0">
              <a:lnSpc>
                <a:spcPct val="90000"/>
              </a:lnSpc>
              <a:spcBef>
                <a:spcPts val="500"/>
              </a:spcBef>
              <a:spcAft>
                <a:spcPts val="0"/>
              </a:spcAft>
              <a:buClr>
                <a:schemeClr val="dk1"/>
              </a:buClr>
              <a:buSzPts val="2000"/>
              <a:buChar char="•"/>
            </a:pPr>
            <a:r>
              <a:rPr lang="en-US"/>
              <a:t>Ex. Predict product price based on raw material </a:t>
            </a:r>
            <a:endParaRPr/>
          </a:p>
          <a:p>
            <a:pPr marL="1143000" lvl="2" indent="-228600" algn="l" rtl="0">
              <a:lnSpc>
                <a:spcPct val="90000"/>
              </a:lnSpc>
              <a:spcBef>
                <a:spcPts val="500"/>
              </a:spcBef>
              <a:spcAft>
                <a:spcPts val="0"/>
              </a:spcAft>
              <a:buClr>
                <a:schemeClr val="dk1"/>
              </a:buClr>
              <a:buSzPts val="2000"/>
              <a:buChar char="•"/>
            </a:pPr>
            <a:r>
              <a:rPr lang="en-US"/>
              <a:t>Linear, Multivariate, Decision Tree and many other Regression methods are used.</a:t>
            </a:r>
            <a:endParaRPr/>
          </a:p>
          <a:p>
            <a:pPr marL="685800" lvl="1" indent="-228600" algn="l" rtl="0">
              <a:lnSpc>
                <a:spcPct val="90000"/>
              </a:lnSpc>
              <a:spcBef>
                <a:spcPts val="500"/>
              </a:spcBef>
              <a:spcAft>
                <a:spcPts val="0"/>
              </a:spcAft>
              <a:buClr>
                <a:schemeClr val="dk1"/>
              </a:buClr>
              <a:buSzPts val="2400"/>
              <a:buChar char="•"/>
            </a:pPr>
            <a:r>
              <a:rPr lang="en-US"/>
              <a:t>Classification – predict a label / class</a:t>
            </a:r>
            <a:endParaRPr/>
          </a:p>
          <a:p>
            <a:pPr marL="1143000" lvl="2" indent="-228600" algn="l" rtl="0">
              <a:lnSpc>
                <a:spcPct val="90000"/>
              </a:lnSpc>
              <a:spcBef>
                <a:spcPts val="500"/>
              </a:spcBef>
              <a:spcAft>
                <a:spcPts val="0"/>
              </a:spcAft>
              <a:buClr>
                <a:schemeClr val="dk1"/>
              </a:buClr>
              <a:buSzPts val="2000"/>
              <a:buChar char="•"/>
            </a:pPr>
            <a:r>
              <a:rPr lang="en-US"/>
              <a:t>Ex. Predict Bank Loan Customer’s class either defaulter / regular</a:t>
            </a:r>
            <a:endParaRPr b="1" i="1"/>
          </a:p>
          <a:p>
            <a:pPr marL="1143000" lvl="2" indent="-228600" algn="l" rtl="0">
              <a:lnSpc>
                <a:spcPct val="90000"/>
              </a:lnSpc>
              <a:spcBef>
                <a:spcPts val="500"/>
              </a:spcBef>
              <a:spcAft>
                <a:spcPts val="0"/>
              </a:spcAft>
              <a:buClr>
                <a:schemeClr val="dk1"/>
              </a:buClr>
              <a:buSzPts val="2000"/>
              <a:buChar char="•"/>
            </a:pPr>
            <a:r>
              <a:rPr lang="en-US"/>
              <a:t>Naive Bayes, SVM, Decision Tree and many other methods are used</a:t>
            </a:r>
            <a:endParaRPr/>
          </a:p>
          <a:p>
            <a:pPr marL="228600" lvl="0" indent="-228600" algn="l" rtl="0">
              <a:lnSpc>
                <a:spcPct val="90000"/>
              </a:lnSpc>
              <a:spcBef>
                <a:spcPts val="1000"/>
              </a:spcBef>
              <a:spcAft>
                <a:spcPts val="0"/>
              </a:spcAft>
              <a:buClr>
                <a:schemeClr val="dk1"/>
              </a:buClr>
              <a:buSzPts val="2800"/>
              <a:buChar char="•"/>
            </a:pPr>
            <a:r>
              <a:rPr lang="en-US"/>
              <a:t>Forecasting (Supervised)</a:t>
            </a:r>
            <a:endParaRPr/>
          </a:p>
          <a:p>
            <a:pPr marL="685800" lvl="1" indent="-228600" algn="l" rtl="0">
              <a:lnSpc>
                <a:spcPct val="90000"/>
              </a:lnSpc>
              <a:spcBef>
                <a:spcPts val="500"/>
              </a:spcBef>
              <a:spcAft>
                <a:spcPts val="0"/>
              </a:spcAft>
              <a:buClr>
                <a:schemeClr val="dk1"/>
              </a:buClr>
              <a:buSzPts val="2400"/>
              <a:buChar char="•"/>
            </a:pPr>
            <a:r>
              <a:rPr lang="en-US"/>
              <a:t>Predict future values – mostly numbers Ex. Share Market forecast</a:t>
            </a:r>
            <a:endParaRPr/>
          </a:p>
          <a:p>
            <a:pPr marL="685800" lvl="1" indent="-228600" algn="l" rtl="0">
              <a:lnSpc>
                <a:spcPct val="90000"/>
              </a:lnSpc>
              <a:spcBef>
                <a:spcPts val="500"/>
              </a:spcBef>
              <a:spcAft>
                <a:spcPts val="0"/>
              </a:spcAft>
              <a:buClr>
                <a:schemeClr val="dk1"/>
              </a:buClr>
              <a:buSzPts val="2400"/>
              <a:buChar char="•"/>
            </a:pPr>
            <a:r>
              <a:rPr lang="en-US"/>
              <a:t>Can be seen as regression task</a:t>
            </a:r>
            <a:endParaRPr/>
          </a:p>
          <a:p>
            <a:pPr marL="685800" lvl="1" indent="-228600" algn="l" rtl="0">
              <a:lnSpc>
                <a:spcPct val="90000"/>
              </a:lnSpc>
              <a:spcBef>
                <a:spcPts val="500"/>
              </a:spcBef>
              <a:spcAft>
                <a:spcPts val="0"/>
              </a:spcAft>
              <a:buClr>
                <a:schemeClr val="dk1"/>
              </a:buClr>
              <a:buSzPts val="2400"/>
              <a:buChar char="•"/>
            </a:pPr>
            <a:r>
              <a:rPr lang="en-US"/>
              <a:t>Models like ARIMA , and regression models are used</a:t>
            </a:r>
            <a:endParaRPr/>
          </a:p>
          <a:p>
            <a:pPr marL="685800" lvl="1" indent="-76200" algn="l" rtl="0">
              <a:lnSpc>
                <a:spcPct val="90000"/>
              </a:lnSpc>
              <a:spcBef>
                <a:spcPts val="500"/>
              </a:spcBef>
              <a:spcAft>
                <a:spcPts val="0"/>
              </a:spcAft>
              <a:buClr>
                <a:schemeClr val="dk1"/>
              </a:buClr>
              <a:buSzPts val="2400"/>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a:spLocks noGrp="1"/>
          </p:cNvSpPr>
          <p:nvPr>
            <p:ph type="title"/>
          </p:nvPr>
        </p:nvSpPr>
        <p:spPr>
          <a:xfrm>
            <a:off x="838200" y="365125"/>
            <a:ext cx="10515600" cy="729897"/>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Machine Learning Tasks</a:t>
            </a:r>
            <a:endParaRPr/>
          </a:p>
        </p:txBody>
      </p:sp>
      <p:sp>
        <p:nvSpPr>
          <p:cNvPr id="212" name="Google Shape;212;p16"/>
          <p:cNvSpPr txBox="1">
            <a:spLocks noGrp="1"/>
          </p:cNvSpPr>
          <p:nvPr>
            <p:ph type="body" idx="1"/>
          </p:nvPr>
        </p:nvSpPr>
        <p:spPr>
          <a:xfrm>
            <a:off x="838200" y="1185333"/>
            <a:ext cx="10515600" cy="5508977"/>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Recommendation Systems (Supervised)</a:t>
            </a:r>
            <a:endParaRPr/>
          </a:p>
          <a:p>
            <a:pPr marL="685800" lvl="1" indent="-228600" algn="l" rtl="0">
              <a:lnSpc>
                <a:spcPct val="90000"/>
              </a:lnSpc>
              <a:spcBef>
                <a:spcPts val="500"/>
              </a:spcBef>
              <a:spcAft>
                <a:spcPts val="0"/>
              </a:spcAft>
              <a:buClr>
                <a:schemeClr val="dk1"/>
              </a:buClr>
              <a:buSzPts val="2400"/>
              <a:buChar char="•"/>
            </a:pPr>
            <a:r>
              <a:rPr lang="en-US"/>
              <a:t>Recommend best options possible</a:t>
            </a:r>
            <a:endParaRPr/>
          </a:p>
          <a:p>
            <a:pPr marL="685800" lvl="1" indent="-228600" algn="l" rtl="0">
              <a:lnSpc>
                <a:spcPct val="90000"/>
              </a:lnSpc>
              <a:spcBef>
                <a:spcPts val="500"/>
              </a:spcBef>
              <a:spcAft>
                <a:spcPts val="0"/>
              </a:spcAft>
              <a:buClr>
                <a:schemeClr val="dk1"/>
              </a:buClr>
              <a:buSzPts val="2400"/>
              <a:buChar char="•"/>
            </a:pPr>
            <a:r>
              <a:rPr lang="en-US"/>
              <a:t>Methods like Collaborative Filtering are used</a:t>
            </a:r>
            <a:endParaRPr/>
          </a:p>
          <a:p>
            <a:pPr marL="228600" lvl="0" indent="-50800" algn="l" rtl="0">
              <a:lnSpc>
                <a:spcPct val="90000"/>
              </a:lnSpc>
              <a:spcBef>
                <a:spcPts val="100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Clustering (Un-Supervised)</a:t>
            </a:r>
            <a:endParaRPr/>
          </a:p>
          <a:p>
            <a:pPr marL="685800" lvl="1" indent="-228600" algn="l" rtl="0">
              <a:lnSpc>
                <a:spcPct val="90000"/>
              </a:lnSpc>
              <a:spcBef>
                <a:spcPts val="500"/>
              </a:spcBef>
              <a:spcAft>
                <a:spcPts val="0"/>
              </a:spcAft>
              <a:buClr>
                <a:schemeClr val="dk1"/>
              </a:buClr>
              <a:buSzPts val="2400"/>
              <a:buChar char="•"/>
            </a:pPr>
            <a:r>
              <a:rPr lang="en-US"/>
              <a:t>Grouping Similar Items</a:t>
            </a:r>
            <a:endParaRPr/>
          </a:p>
          <a:p>
            <a:pPr marL="1143000" lvl="2" indent="-228600" algn="l" rtl="0">
              <a:lnSpc>
                <a:spcPct val="90000"/>
              </a:lnSpc>
              <a:spcBef>
                <a:spcPts val="500"/>
              </a:spcBef>
              <a:spcAft>
                <a:spcPts val="0"/>
              </a:spcAft>
              <a:buClr>
                <a:schemeClr val="dk1"/>
              </a:buClr>
              <a:buSzPts val="2000"/>
              <a:buChar char="•"/>
            </a:pPr>
            <a:r>
              <a:rPr lang="en-US"/>
              <a:t>Ex. Group movies of similar theme</a:t>
            </a:r>
            <a:endParaRPr/>
          </a:p>
          <a:p>
            <a:pPr marL="1143000" lvl="2" indent="-228600" algn="l" rtl="0">
              <a:lnSpc>
                <a:spcPct val="90000"/>
              </a:lnSpc>
              <a:spcBef>
                <a:spcPts val="500"/>
              </a:spcBef>
              <a:spcAft>
                <a:spcPts val="0"/>
              </a:spcAft>
              <a:buClr>
                <a:schemeClr val="dk1"/>
              </a:buClr>
              <a:buSzPts val="2000"/>
              <a:buChar char="•"/>
            </a:pPr>
            <a:r>
              <a:rPr lang="en-US"/>
              <a:t>Algorithms like k-means &amp; DBSCAN clustering are used.</a:t>
            </a:r>
            <a:endParaRPr/>
          </a:p>
          <a:p>
            <a:pPr marL="1143000" lvl="2" indent="-101600" algn="l" rtl="0">
              <a:lnSpc>
                <a:spcPct val="90000"/>
              </a:lnSpc>
              <a:spcBef>
                <a:spcPts val="500"/>
              </a:spcBef>
              <a:spcAft>
                <a:spcPts val="0"/>
              </a:spcAft>
              <a:buClr>
                <a:schemeClr val="dk1"/>
              </a:buClr>
              <a:buSzPts val="2000"/>
              <a:buNone/>
            </a:pPr>
            <a:endParaRPr/>
          </a:p>
          <a:p>
            <a:pPr marL="228600" lvl="0" indent="-228600" algn="l" rtl="0">
              <a:lnSpc>
                <a:spcPct val="90000"/>
              </a:lnSpc>
              <a:spcBef>
                <a:spcPts val="1000"/>
              </a:spcBef>
              <a:spcAft>
                <a:spcPts val="0"/>
              </a:spcAft>
              <a:buClr>
                <a:schemeClr val="dk1"/>
              </a:buClr>
              <a:buSzPts val="2800"/>
              <a:buChar char="•"/>
            </a:pPr>
            <a:r>
              <a:rPr lang="en-US"/>
              <a:t>Outlier Detection / Fraud Detection ( Un-Supervised / Supervised)</a:t>
            </a:r>
            <a:endParaRPr/>
          </a:p>
          <a:p>
            <a:pPr marL="685800" lvl="1" indent="-228600" algn="l" rtl="0">
              <a:lnSpc>
                <a:spcPct val="90000"/>
              </a:lnSpc>
              <a:spcBef>
                <a:spcPts val="500"/>
              </a:spcBef>
              <a:spcAft>
                <a:spcPts val="0"/>
              </a:spcAft>
              <a:buClr>
                <a:schemeClr val="dk1"/>
              </a:buClr>
              <a:buSzPts val="2400"/>
              <a:buChar char="•"/>
            </a:pPr>
            <a:r>
              <a:rPr lang="en-US"/>
              <a:t>Find the extreme values / outliers from data</a:t>
            </a:r>
            <a:endParaRPr/>
          </a:p>
          <a:p>
            <a:pPr marL="685800" lvl="1" indent="-228600" algn="l" rtl="0">
              <a:lnSpc>
                <a:spcPct val="90000"/>
              </a:lnSpc>
              <a:spcBef>
                <a:spcPts val="500"/>
              </a:spcBef>
              <a:spcAft>
                <a:spcPts val="0"/>
              </a:spcAft>
              <a:buClr>
                <a:schemeClr val="dk1"/>
              </a:buClr>
              <a:buSzPts val="2400"/>
              <a:buChar char="•"/>
            </a:pPr>
            <a:r>
              <a:rPr lang="en-US"/>
              <a:t>Can be considered as classification / clustering task based on data</a:t>
            </a:r>
            <a:endParaRPr/>
          </a:p>
          <a:p>
            <a:pPr marL="685800" lvl="1" indent="-228600" algn="l" rtl="0">
              <a:lnSpc>
                <a:spcPct val="90000"/>
              </a:lnSpc>
              <a:spcBef>
                <a:spcPts val="500"/>
              </a:spcBef>
              <a:spcAft>
                <a:spcPts val="0"/>
              </a:spcAft>
              <a:buClr>
                <a:schemeClr val="dk1"/>
              </a:buClr>
              <a:buSzPts val="2400"/>
              <a:buChar char="•"/>
            </a:pPr>
            <a:r>
              <a:rPr lang="en-US"/>
              <a:t>Algorithms like DBSCAN are used</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Machine Learning Tasks</a:t>
            </a:r>
            <a:endParaRPr/>
          </a:p>
        </p:txBody>
      </p:sp>
      <p:sp>
        <p:nvSpPr>
          <p:cNvPr id="218" name="Google Shape;218;p17"/>
          <p:cNvSpPr txBox="1">
            <a:spLocks noGrp="1"/>
          </p:cNvSpPr>
          <p:nvPr>
            <p:ph type="body" idx="1"/>
          </p:nvPr>
        </p:nvSpPr>
        <p:spPr>
          <a:xfrm>
            <a:off x="838200" y="1571224"/>
            <a:ext cx="10515600" cy="4855334"/>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Descriptive Tasks</a:t>
            </a:r>
            <a:endParaRPr/>
          </a:p>
          <a:p>
            <a:pPr marL="685800" lvl="1" indent="-228600" algn="l" rtl="0">
              <a:lnSpc>
                <a:spcPct val="90000"/>
              </a:lnSpc>
              <a:spcBef>
                <a:spcPts val="500"/>
              </a:spcBef>
              <a:spcAft>
                <a:spcPts val="0"/>
              </a:spcAft>
              <a:buClr>
                <a:schemeClr val="dk1"/>
              </a:buClr>
              <a:buSzPts val="2400"/>
              <a:buChar char="•"/>
            </a:pPr>
            <a:r>
              <a:rPr lang="en-US"/>
              <a:t>Subgroup Discovery (Supervised Learning)</a:t>
            </a:r>
            <a:endParaRPr/>
          </a:p>
          <a:p>
            <a:pPr marL="1143000" lvl="2" indent="-228600" algn="l" rtl="0">
              <a:lnSpc>
                <a:spcPct val="90000"/>
              </a:lnSpc>
              <a:spcBef>
                <a:spcPts val="500"/>
              </a:spcBef>
              <a:spcAft>
                <a:spcPts val="0"/>
              </a:spcAft>
              <a:buClr>
                <a:schemeClr val="dk1"/>
              </a:buClr>
              <a:buSzPts val="2000"/>
              <a:buChar char="•"/>
            </a:pPr>
            <a:r>
              <a:rPr lang="en-US"/>
              <a:t>Sub part tagging</a:t>
            </a:r>
            <a:endParaRPr/>
          </a:p>
          <a:p>
            <a:pPr marL="1143000" lvl="2" indent="-228600" algn="l" rtl="0">
              <a:lnSpc>
                <a:spcPct val="90000"/>
              </a:lnSpc>
              <a:spcBef>
                <a:spcPts val="500"/>
              </a:spcBef>
              <a:spcAft>
                <a:spcPts val="0"/>
              </a:spcAft>
              <a:buClr>
                <a:schemeClr val="dk1"/>
              </a:buClr>
              <a:buSzPts val="2000"/>
              <a:buChar char="•"/>
            </a:pPr>
            <a:r>
              <a:rPr lang="en-US" b="1" u="sng"/>
              <a:t>Example</a:t>
            </a:r>
            <a:r>
              <a:rPr lang="en-US"/>
              <a:t> </a:t>
            </a:r>
            <a:endParaRPr/>
          </a:p>
          <a:p>
            <a:pPr marL="1143000" lvl="2" indent="-228600" algn="l" rtl="0">
              <a:lnSpc>
                <a:spcPct val="90000"/>
              </a:lnSpc>
              <a:spcBef>
                <a:spcPts val="500"/>
              </a:spcBef>
              <a:spcAft>
                <a:spcPts val="0"/>
              </a:spcAft>
              <a:buClr>
                <a:schemeClr val="dk1"/>
              </a:buClr>
              <a:buSzPts val="2000"/>
              <a:buChar char="•"/>
            </a:pPr>
            <a:r>
              <a:rPr lang="en-US"/>
              <a:t>multiple object detection in one scene</a:t>
            </a:r>
            <a:endParaRPr/>
          </a:p>
          <a:p>
            <a:pPr marL="1143000" lvl="2" indent="-228600" algn="l" rtl="0">
              <a:lnSpc>
                <a:spcPct val="90000"/>
              </a:lnSpc>
              <a:spcBef>
                <a:spcPts val="500"/>
              </a:spcBef>
              <a:spcAft>
                <a:spcPts val="0"/>
              </a:spcAft>
              <a:buClr>
                <a:schemeClr val="dk1"/>
              </a:buClr>
              <a:buSzPts val="2000"/>
              <a:buChar char="•"/>
            </a:pPr>
            <a:r>
              <a:rPr lang="en-US"/>
              <a:t>Part of Speech tagging</a:t>
            </a:r>
            <a:endParaRPr/>
          </a:p>
          <a:p>
            <a:pPr marL="1143000" lvl="2" indent="-101600" algn="l" rtl="0">
              <a:lnSpc>
                <a:spcPct val="90000"/>
              </a:lnSpc>
              <a:spcBef>
                <a:spcPts val="500"/>
              </a:spcBef>
              <a:spcAft>
                <a:spcPts val="0"/>
              </a:spcAft>
              <a:buClr>
                <a:schemeClr val="dk1"/>
              </a:buClr>
              <a:buSzPts val="2000"/>
              <a:buNone/>
            </a:pPr>
            <a:endParaRPr/>
          </a:p>
          <a:p>
            <a:pPr marL="685800" lvl="1" indent="-228600" algn="l" rtl="0">
              <a:lnSpc>
                <a:spcPct val="90000"/>
              </a:lnSpc>
              <a:spcBef>
                <a:spcPts val="500"/>
              </a:spcBef>
              <a:spcAft>
                <a:spcPts val="0"/>
              </a:spcAft>
              <a:buClr>
                <a:schemeClr val="dk1"/>
              </a:buClr>
              <a:buSzPts val="2400"/>
              <a:buChar char="•"/>
            </a:pPr>
            <a:r>
              <a:rPr lang="en-US"/>
              <a:t>Association Rule Discovery (Un-Supervised Learning)</a:t>
            </a:r>
            <a:endParaRPr/>
          </a:p>
          <a:p>
            <a:pPr marL="1143000" lvl="2" indent="-228600" algn="l" rtl="0">
              <a:lnSpc>
                <a:spcPct val="90000"/>
              </a:lnSpc>
              <a:spcBef>
                <a:spcPts val="500"/>
              </a:spcBef>
              <a:spcAft>
                <a:spcPts val="0"/>
              </a:spcAft>
              <a:buClr>
                <a:schemeClr val="dk1"/>
              </a:buClr>
              <a:buSzPts val="2000"/>
              <a:buChar char="•"/>
            </a:pPr>
            <a:r>
              <a:rPr lang="en-US"/>
              <a:t>Find the pattern of frequently occurring objects / things </a:t>
            </a:r>
            <a:endParaRPr/>
          </a:p>
          <a:p>
            <a:pPr marL="1143000" lvl="2" indent="-228600" algn="l" rtl="0">
              <a:lnSpc>
                <a:spcPct val="90000"/>
              </a:lnSpc>
              <a:spcBef>
                <a:spcPts val="500"/>
              </a:spcBef>
              <a:spcAft>
                <a:spcPts val="0"/>
              </a:spcAft>
              <a:buClr>
                <a:schemeClr val="dk1"/>
              </a:buClr>
              <a:buSzPts val="2000"/>
              <a:buChar char="•"/>
            </a:pPr>
            <a:r>
              <a:rPr lang="en-US" b="1" u="sng"/>
              <a:t>Example</a:t>
            </a:r>
            <a:endParaRPr/>
          </a:p>
          <a:p>
            <a:pPr marL="1143000" lvl="2" indent="-228600" algn="l" rtl="0">
              <a:lnSpc>
                <a:spcPct val="90000"/>
              </a:lnSpc>
              <a:spcBef>
                <a:spcPts val="500"/>
              </a:spcBef>
              <a:spcAft>
                <a:spcPts val="0"/>
              </a:spcAft>
              <a:buClr>
                <a:schemeClr val="dk1"/>
              </a:buClr>
              <a:buSzPts val="2000"/>
              <a:buChar char="•"/>
            </a:pPr>
            <a:r>
              <a:rPr lang="en-US"/>
              <a:t>Find the rules from purchase data of a shop</a:t>
            </a:r>
            <a:endParaRPr/>
          </a:p>
          <a:p>
            <a:pPr marL="1143000" lvl="2" indent="-228600" algn="l" rtl="0">
              <a:lnSpc>
                <a:spcPct val="90000"/>
              </a:lnSpc>
              <a:spcBef>
                <a:spcPts val="500"/>
              </a:spcBef>
              <a:spcAft>
                <a:spcPts val="0"/>
              </a:spcAft>
              <a:buClr>
                <a:schemeClr val="dk1"/>
              </a:buClr>
              <a:buSzPts val="2000"/>
              <a:buChar char="•"/>
            </a:pPr>
            <a:r>
              <a:rPr lang="en-US"/>
              <a:t>Rule 1: Toothpaste and brush are purchased together</a:t>
            </a:r>
            <a:endParaRPr/>
          </a:p>
          <a:p>
            <a:pPr marL="1143000" lvl="2" indent="-228600" algn="l" rtl="0">
              <a:lnSpc>
                <a:spcPct val="90000"/>
              </a:lnSpc>
              <a:spcBef>
                <a:spcPts val="500"/>
              </a:spcBef>
              <a:spcAft>
                <a:spcPts val="0"/>
              </a:spcAft>
              <a:buClr>
                <a:schemeClr val="dk1"/>
              </a:buClr>
              <a:buSzPts val="2000"/>
              <a:buChar char="•"/>
            </a:pPr>
            <a:r>
              <a:rPr lang="en-US"/>
              <a:t>Rule 2: Honey and sugar and not bought together</a:t>
            </a:r>
            <a:endParaRPr/>
          </a:p>
          <a:p>
            <a:pPr marL="1143000" lvl="2" indent="-101600" algn="l" rtl="0">
              <a:lnSpc>
                <a:spcPct val="90000"/>
              </a:lnSpc>
              <a:spcBef>
                <a:spcPts val="500"/>
              </a:spcBef>
              <a:spcAft>
                <a:spcPts val="0"/>
              </a:spcAft>
              <a:buClr>
                <a:schemeClr val="dk1"/>
              </a:buClr>
              <a:buSzPts val="2000"/>
              <a:buNone/>
            </a:pPr>
            <a:endParaRPr/>
          </a:p>
          <a:p>
            <a:pPr marL="685800" lvl="1" indent="-76200" algn="l" rtl="0">
              <a:lnSpc>
                <a:spcPct val="90000"/>
              </a:lnSpc>
              <a:spcBef>
                <a:spcPts val="500"/>
              </a:spcBef>
              <a:spcAft>
                <a:spcPts val="0"/>
              </a:spcAft>
              <a:buClr>
                <a:schemeClr val="dk1"/>
              </a:buClr>
              <a:buSzPts val="24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How to Approach a ML project?</a:t>
            </a:r>
            <a:endParaRPr/>
          </a:p>
        </p:txBody>
      </p:sp>
      <p:sp>
        <p:nvSpPr>
          <p:cNvPr id="224" name="Google Shape;224;p18"/>
          <p:cNvSpPr txBox="1">
            <a:spLocks noGrp="1"/>
          </p:cNvSpPr>
          <p:nvPr>
            <p:ph type="body" idx="1"/>
          </p:nvPr>
        </p:nvSpPr>
        <p:spPr>
          <a:xfrm>
            <a:off x="838200" y="1444978"/>
            <a:ext cx="10515600" cy="473198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What is the question / problem being solved?</a:t>
            </a:r>
            <a:endParaRPr/>
          </a:p>
          <a:p>
            <a:pPr marL="685800" lvl="1" indent="-228600" algn="l" rtl="0">
              <a:lnSpc>
                <a:spcPct val="90000"/>
              </a:lnSpc>
              <a:spcBef>
                <a:spcPts val="500"/>
              </a:spcBef>
              <a:spcAft>
                <a:spcPts val="0"/>
              </a:spcAft>
              <a:buClr>
                <a:schemeClr val="dk1"/>
              </a:buClr>
              <a:buSzPts val="2400"/>
              <a:buChar char="•"/>
            </a:pPr>
            <a:r>
              <a:rPr lang="en-US"/>
              <a:t>What is the target?</a:t>
            </a:r>
            <a:endParaRPr/>
          </a:p>
          <a:p>
            <a:pPr marL="685800" lvl="1" indent="-228600" algn="l" rtl="0">
              <a:lnSpc>
                <a:spcPct val="90000"/>
              </a:lnSpc>
              <a:spcBef>
                <a:spcPts val="500"/>
              </a:spcBef>
              <a:spcAft>
                <a:spcPts val="0"/>
              </a:spcAft>
              <a:buClr>
                <a:schemeClr val="dk1"/>
              </a:buClr>
              <a:buSzPts val="2400"/>
              <a:buChar char="•"/>
            </a:pPr>
            <a:r>
              <a:rPr lang="en-US"/>
              <a:t>Which ML task to select?</a:t>
            </a:r>
            <a:endParaRPr/>
          </a:p>
          <a:p>
            <a:pPr marL="228600" lvl="0" indent="-228600" algn="l" rtl="0">
              <a:lnSpc>
                <a:spcPct val="90000"/>
              </a:lnSpc>
              <a:spcBef>
                <a:spcPts val="1000"/>
              </a:spcBef>
              <a:spcAft>
                <a:spcPts val="0"/>
              </a:spcAft>
              <a:buClr>
                <a:schemeClr val="dk1"/>
              </a:buClr>
              <a:buSzPts val="2800"/>
              <a:buChar char="•"/>
            </a:pPr>
            <a:r>
              <a:rPr lang="en-US"/>
              <a:t>Can data collected solve this?</a:t>
            </a:r>
            <a:endParaRPr/>
          </a:p>
          <a:p>
            <a:pPr marL="685800" lvl="1" indent="-228600" algn="l" rtl="0">
              <a:lnSpc>
                <a:spcPct val="90000"/>
              </a:lnSpc>
              <a:spcBef>
                <a:spcPts val="500"/>
              </a:spcBef>
              <a:spcAft>
                <a:spcPts val="0"/>
              </a:spcAft>
              <a:buClr>
                <a:schemeClr val="dk1"/>
              </a:buClr>
              <a:buSzPts val="2400"/>
              <a:buChar char="•"/>
            </a:pPr>
            <a:r>
              <a:rPr lang="en-US"/>
              <a:t>Feature Selection</a:t>
            </a:r>
            <a:endParaRPr/>
          </a:p>
          <a:p>
            <a:pPr marL="228600" lvl="0" indent="-228600" algn="l" rtl="0">
              <a:lnSpc>
                <a:spcPct val="90000"/>
              </a:lnSpc>
              <a:spcBef>
                <a:spcPts val="1000"/>
              </a:spcBef>
              <a:spcAft>
                <a:spcPts val="0"/>
              </a:spcAft>
              <a:buClr>
                <a:schemeClr val="dk1"/>
              </a:buClr>
              <a:buSzPts val="2800"/>
              <a:buChar char="•"/>
            </a:pPr>
            <a:r>
              <a:rPr lang="en-US"/>
              <a:t>Is the data, no of samples and features, enough?</a:t>
            </a:r>
            <a:endParaRPr/>
          </a:p>
          <a:p>
            <a:pPr marL="685800" lvl="1" indent="-228600" algn="l" rtl="0">
              <a:lnSpc>
                <a:spcPct val="90000"/>
              </a:lnSpc>
              <a:spcBef>
                <a:spcPts val="500"/>
              </a:spcBef>
              <a:spcAft>
                <a:spcPts val="0"/>
              </a:spcAft>
              <a:buClr>
                <a:schemeClr val="dk1"/>
              </a:buClr>
              <a:buSzPts val="2400"/>
              <a:buChar char="•"/>
            </a:pPr>
            <a:r>
              <a:rPr lang="en-US"/>
              <a:t>Feature selection</a:t>
            </a:r>
            <a:endParaRPr/>
          </a:p>
          <a:p>
            <a:pPr marL="228600" lvl="0" indent="-228600" algn="l" rtl="0">
              <a:lnSpc>
                <a:spcPct val="90000"/>
              </a:lnSpc>
              <a:spcBef>
                <a:spcPts val="1000"/>
              </a:spcBef>
              <a:spcAft>
                <a:spcPts val="0"/>
              </a:spcAft>
              <a:buClr>
                <a:schemeClr val="dk1"/>
              </a:buClr>
              <a:buSzPts val="2800"/>
              <a:buChar char="•"/>
            </a:pPr>
            <a:r>
              <a:rPr lang="en-US"/>
              <a:t>How to measure success of the project?</a:t>
            </a:r>
            <a:endParaRPr/>
          </a:p>
          <a:p>
            <a:pPr marL="685800" lvl="1" indent="-228600" algn="l" rtl="0">
              <a:lnSpc>
                <a:spcPct val="90000"/>
              </a:lnSpc>
              <a:spcBef>
                <a:spcPts val="500"/>
              </a:spcBef>
              <a:spcAft>
                <a:spcPts val="0"/>
              </a:spcAft>
              <a:buClr>
                <a:schemeClr val="dk1"/>
              </a:buClr>
              <a:buSzPts val="2400"/>
              <a:buChar char="•"/>
            </a:pPr>
            <a:r>
              <a:rPr lang="en-US"/>
              <a:t>Evaluation Measures</a:t>
            </a:r>
            <a:endParaRPr/>
          </a:p>
          <a:p>
            <a:pPr marL="228600" lvl="0" indent="-228600" algn="l" rtl="0">
              <a:lnSpc>
                <a:spcPct val="90000"/>
              </a:lnSpc>
              <a:spcBef>
                <a:spcPts val="1000"/>
              </a:spcBef>
              <a:spcAft>
                <a:spcPts val="0"/>
              </a:spcAft>
              <a:buClr>
                <a:schemeClr val="dk1"/>
              </a:buClr>
              <a:buSzPts val="2800"/>
              <a:buChar char="•"/>
            </a:pPr>
            <a:r>
              <a:rPr lang="en-US"/>
              <a:t>How this project interact with other parts / users?</a:t>
            </a:r>
            <a:endParaRPr/>
          </a:p>
          <a:p>
            <a:pPr marL="685800" lvl="1" indent="-228600" algn="l" rtl="0">
              <a:lnSpc>
                <a:spcPct val="90000"/>
              </a:lnSpc>
              <a:spcBef>
                <a:spcPts val="500"/>
              </a:spcBef>
              <a:spcAft>
                <a:spcPts val="0"/>
              </a:spcAft>
              <a:buClr>
                <a:schemeClr val="dk1"/>
              </a:buClr>
              <a:buSzPts val="2400"/>
              <a:buChar char="•"/>
            </a:pPr>
            <a:r>
              <a:rPr lang="en-US"/>
              <a:t>UI / Web Application / API</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g39fb11a83d8_0_80"/>
          <p:cNvSpPr txBox="1">
            <a:spLocks noGrp="1"/>
          </p:cNvSpPr>
          <p:nvPr>
            <p:ph type="title"/>
          </p:nvPr>
        </p:nvSpPr>
        <p:spPr>
          <a:xfrm>
            <a:off x="838200" y="365125"/>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US"/>
              <a:t>Adversarial Attacks on AI</a:t>
            </a:r>
            <a:endParaRPr/>
          </a:p>
        </p:txBody>
      </p:sp>
      <p:pic>
        <p:nvPicPr>
          <p:cNvPr id="230" name="Google Shape;230;g39fb11a83d8_0_80" descr="https://cdn.arstechnica.net/wp-content/uploads/2020/03/goldstein_shirt.png"/>
          <p:cNvPicPr preferRelativeResize="0"/>
          <p:nvPr/>
        </p:nvPicPr>
        <p:blipFill rotWithShape="1">
          <a:blip r:embed="rId3">
            <a:alphaModFix/>
          </a:blip>
          <a:srcRect/>
          <a:stretch/>
        </p:blipFill>
        <p:spPr>
          <a:xfrm>
            <a:off x="838200" y="1548384"/>
            <a:ext cx="10719816" cy="509625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g39fb11a83d8_0_86"/>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Normal working of Deep Learning / AI</a:t>
            </a:r>
            <a:endParaRPr/>
          </a:p>
        </p:txBody>
      </p:sp>
      <p:sp>
        <p:nvSpPr>
          <p:cNvPr id="236" name="Google Shape;236;g39fb11a83d8_0_86"/>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237" name="Google Shape;237;g39fb11a83d8_0_86"/>
          <p:cNvPicPr preferRelativeResize="0"/>
          <p:nvPr/>
        </p:nvPicPr>
        <p:blipFill rotWithShape="1">
          <a:blip r:embed="rId3">
            <a:alphaModFix/>
          </a:blip>
          <a:srcRect/>
          <a:stretch/>
        </p:blipFill>
        <p:spPr>
          <a:xfrm>
            <a:off x="838200" y="1572768"/>
            <a:ext cx="10515599" cy="484022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9fb11a83d8_0_92"/>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Adversarial working of Deep Learning / AI</a:t>
            </a:r>
            <a:endParaRPr/>
          </a:p>
        </p:txBody>
      </p:sp>
      <p:sp>
        <p:nvSpPr>
          <p:cNvPr id="243" name="Google Shape;243;g39fb11a83d8_0_92"/>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244" name="Google Shape;244;g39fb11a83d8_0_92"/>
          <p:cNvPicPr preferRelativeResize="0"/>
          <p:nvPr/>
        </p:nvPicPr>
        <p:blipFill rotWithShape="1">
          <a:blip r:embed="rId3">
            <a:alphaModFix/>
          </a:blip>
          <a:srcRect/>
          <a:stretch/>
        </p:blipFill>
        <p:spPr>
          <a:xfrm>
            <a:off x="838201" y="1438656"/>
            <a:ext cx="10515599" cy="488543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g39fb11a83d8_0_173"/>
          <p:cNvSpPr txBox="1">
            <a:spLocks noGrp="1"/>
          </p:cNvSpPr>
          <p:nvPr>
            <p:ph type="title"/>
          </p:nvPr>
        </p:nvSpPr>
        <p:spPr>
          <a:xfrm>
            <a:off x="777240" y="3157093"/>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AI needs Regulation!</a:t>
            </a:r>
            <a:endParaRPr b="1"/>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113</TotalTime>
  <Words>1232</Words>
  <Application>Microsoft Office PowerPoint</Application>
  <PresentationFormat>Widescreen</PresentationFormat>
  <Paragraphs>247</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Intro to Dr. Shantanu Pathak</vt:lpstr>
      <vt:lpstr>Machine Learning</vt:lpstr>
      <vt:lpstr>Machine Learning</vt:lpstr>
      <vt:lpstr>Introduction</vt:lpstr>
      <vt:lpstr>Why Machine Learning?</vt:lpstr>
      <vt:lpstr>Machine Learning Applications</vt:lpstr>
      <vt:lpstr>AI vs ML vs DL</vt:lpstr>
      <vt:lpstr>ML / DL Model Building Flow</vt:lpstr>
      <vt:lpstr>Training and Testing</vt:lpstr>
      <vt:lpstr>Types of Data Splitting</vt:lpstr>
      <vt:lpstr>Random Training and Testing split</vt:lpstr>
      <vt:lpstr>Stratified Training and Testing split</vt:lpstr>
      <vt:lpstr>K fold cross validation &amp; Stratified K-fold</vt:lpstr>
      <vt:lpstr>Leave One Out Cross Validation (LOOCV)</vt:lpstr>
      <vt:lpstr>Shuffle Split</vt:lpstr>
      <vt:lpstr>How a Machine Learns?</vt:lpstr>
      <vt:lpstr>Machine Learning Tasks</vt:lpstr>
      <vt:lpstr>Machine Learning Tasks</vt:lpstr>
      <vt:lpstr>Machine Learning Tasks</vt:lpstr>
      <vt:lpstr>How to Approach a ML project?</vt:lpstr>
      <vt:lpstr>Adversarial Attacks on AI</vt:lpstr>
      <vt:lpstr>Normal working of Deep Learning / AI</vt:lpstr>
      <vt:lpstr>Adversarial working of Deep Learning / AI</vt:lpstr>
      <vt:lpstr>AI needs Regulation!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lastModifiedBy>Ashish Nalawade</cp:lastModifiedBy>
  <cp:revision>1</cp:revision>
  <dcterms:created xsi:type="dcterms:W3CDTF">2020-02-08T08:15:44Z</dcterms:created>
  <dcterms:modified xsi:type="dcterms:W3CDTF">2026-06-26T06:12:05Z</dcterms:modified>
</cp:coreProperties>
</file>