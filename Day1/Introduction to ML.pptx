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2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0" roundtripDataSignature="AMtx7mhoJvtPem1AoFCBHoafFnJ2vnIIn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A69C3A7-CB41-451B-93CA-68B10983C4BA}">
  <a:tblStyle styleId="{DA69C3A7-CB41-451B-93CA-68B10983C4BA}"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9EFF7"/>
          </a:solidFill>
        </a:fill>
      </a:tcStyle>
    </a:wholeTbl>
    <a:band1H>
      <a:tcTxStyle/>
      <a:tcStyle>
        <a:fill>
          <a:solidFill>
            <a:srgbClr val="D0DEEF"/>
          </a:solidFill>
        </a:fill>
      </a:tcStyle>
    </a:band1H>
    <a:band2H>
      <a:tcTxStyle/>
    </a:band2H>
    <a:band1V>
      <a:tcTxStyle/>
      <a:tcStyle>
        <a:fill>
          <a:solidFill>
            <a:srgbClr val="D0DEEF"/>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0" Type="http://customschemas.google.com/relationships/presentationmetadata" Target="meta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e1c838bfde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3e1c838bfd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e1c838bfde_0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e1c838bfde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39fb11a83d8_0_8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39fb11a83d8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9fb11a83d8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g39fb11a83d8_0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9fb11a83d8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g39fb11a83d8_0_9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9fb11a83d8_0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g39fb11a83d8_0_17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 name="Shape 11"/>
        <p:cNvGrpSpPr/>
        <p:nvPr/>
      </p:nvGrpSpPr>
      <p:grpSpPr>
        <a:xfrm>
          <a:off x="0" y="0"/>
          <a:ext cx="0" cy="0"/>
          <a:chOff x="0" y="0"/>
          <a:chExt cx="0" cy="0"/>
        </a:xfrm>
      </p:grpSpPr>
      <p:sp>
        <p:nvSpPr>
          <p:cNvPr id="12" name="Google Shape;12;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0"/>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4" name="Google Shape;14;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7" name="Shape 17"/>
        <p:cNvGrpSpPr/>
        <p:nvPr/>
      </p:nvGrpSpPr>
      <p:grpSpPr>
        <a:xfrm>
          <a:off x="0" y="0"/>
          <a:ext cx="0" cy="0"/>
          <a:chOff x="0" y="0"/>
          <a:chExt cx="0" cy="0"/>
        </a:xfrm>
      </p:grpSpPr>
      <p:sp>
        <p:nvSpPr>
          <p:cNvPr id="18" name="Google Shape;18;p21"/>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21"/>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0" name="Google Shape;20;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22"/>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22"/>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6" name="Google Shape;26;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9" name="Shape 29"/>
        <p:cNvGrpSpPr/>
        <p:nvPr/>
      </p:nvGrpSpPr>
      <p:grpSpPr>
        <a:xfrm>
          <a:off x="0" y="0"/>
          <a:ext cx="0" cy="0"/>
          <a:chOff x="0" y="0"/>
          <a:chExt cx="0" cy="0"/>
        </a:xfrm>
      </p:grpSpPr>
      <p:sp>
        <p:nvSpPr>
          <p:cNvPr id="30" name="Google Shape;30;p2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23"/>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23"/>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 name="Google Shape;33;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24"/>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24"/>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9" name="Google Shape;39;p24"/>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24"/>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1" name="Google Shape;41;p24"/>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2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2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7"/>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7"/>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7" name="Google Shape;57;p27"/>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8" name="Google Shape;58;p2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8"/>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8"/>
          <p:cNvSpPr/>
          <p:nvPr>
            <p:ph idx="2" type="pic"/>
          </p:nvPr>
        </p:nvSpPr>
        <p:spPr>
          <a:xfrm>
            <a:off x="5183188" y="987425"/>
            <a:ext cx="6172200" cy="4873625"/>
          </a:xfrm>
          <a:prstGeom prst="rect">
            <a:avLst/>
          </a:prstGeom>
          <a:noFill/>
          <a:ln>
            <a:noFill/>
          </a:ln>
        </p:spPr>
      </p:sp>
      <p:sp>
        <p:nvSpPr>
          <p:cNvPr id="64" name="Google Shape;64;p28"/>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5" name="Google Shape;65;p2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9"/>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2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0"/>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0"/>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3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mailto:shantanu.s.Pathak@gmail.com" TargetMode="External"/><Relationship Id="rId4" Type="http://schemas.openxmlformats.org/officeDocument/2006/relationships/hyperlink" Target="https://www.linkedin.com/in/pathakshantanu/"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
          <p:cNvSpPr txBox="1"/>
          <p:nvPr>
            <p:ph type="title"/>
          </p:nvPr>
        </p:nvSpPr>
        <p:spPr>
          <a:xfrm>
            <a:off x="838200" y="184821"/>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Intro to Dr. Shantanu Pathak</a:t>
            </a:r>
            <a:endParaRPr/>
          </a:p>
        </p:txBody>
      </p:sp>
      <p:sp>
        <p:nvSpPr>
          <p:cNvPr id="85" name="Google Shape;85;p1"/>
          <p:cNvSpPr txBox="1"/>
          <p:nvPr>
            <p:ph idx="1" type="body"/>
          </p:nvPr>
        </p:nvSpPr>
        <p:spPr>
          <a:xfrm>
            <a:off x="838200" y="1510384"/>
            <a:ext cx="10515600" cy="5006326"/>
          </a:xfrm>
          <a:prstGeom prst="rect">
            <a:avLst/>
          </a:prstGeom>
          <a:noFill/>
          <a:ln>
            <a:noFill/>
          </a:ln>
        </p:spPr>
        <p:txBody>
          <a:bodyPr anchorCtr="0" anchor="t" bIns="45700" lIns="91425" spcFirstLastPara="1" rIns="91425" wrap="square" tIns="45700">
            <a:normAutofit lnSpcReduction="20000"/>
          </a:bodyPr>
          <a:lstStyle/>
          <a:p>
            <a:pPr indent="-228600" lvl="0" marL="228600" rtl="0" algn="l">
              <a:lnSpc>
                <a:spcPct val="90000"/>
              </a:lnSpc>
              <a:spcBef>
                <a:spcPts val="0"/>
              </a:spcBef>
              <a:spcAft>
                <a:spcPts val="0"/>
              </a:spcAft>
              <a:buClr>
                <a:schemeClr val="dk1"/>
              </a:buClr>
              <a:buSzPts val="2800"/>
              <a:buChar char="•"/>
            </a:pPr>
            <a:r>
              <a:rPr lang="en-US"/>
              <a:t>PhD CSE (Machine Learning), ME-IT, BE-IT</a:t>
            </a:r>
            <a:endParaRPr/>
          </a:p>
          <a:p>
            <a:pPr indent="-228600" lvl="0" marL="228600" rtl="0" algn="l">
              <a:lnSpc>
                <a:spcPct val="90000"/>
              </a:lnSpc>
              <a:spcBef>
                <a:spcPts val="1000"/>
              </a:spcBef>
              <a:spcAft>
                <a:spcPts val="0"/>
              </a:spcAft>
              <a:buClr>
                <a:schemeClr val="dk1"/>
              </a:buClr>
              <a:buSzPts val="2800"/>
              <a:buChar char="•"/>
            </a:pPr>
            <a:r>
              <a:rPr lang="en-US"/>
              <a:t>Worked with IT leaders like </a:t>
            </a:r>
            <a:endParaRPr/>
          </a:p>
          <a:p>
            <a:pPr indent="0" lvl="1" marL="457200" rtl="0" algn="l">
              <a:lnSpc>
                <a:spcPct val="90000"/>
              </a:lnSpc>
              <a:spcBef>
                <a:spcPts val="500"/>
              </a:spcBef>
              <a:spcAft>
                <a:spcPts val="0"/>
              </a:spcAft>
              <a:buClr>
                <a:schemeClr val="dk1"/>
              </a:buClr>
              <a:buSzPts val="2600"/>
              <a:buNone/>
            </a:pPr>
            <a:r>
              <a:rPr lang="en-US" sz="2600"/>
              <a:t>Tech-Mahindra, Amdocs, Honeywell, Sibros,CAT (Caterpillar), Varroc, Envestnet, etc</a:t>
            </a:r>
            <a:endParaRPr sz="2600"/>
          </a:p>
          <a:p>
            <a:pPr indent="-228600" lvl="0" marL="228600" rtl="0" algn="l">
              <a:lnSpc>
                <a:spcPct val="90000"/>
              </a:lnSpc>
              <a:spcBef>
                <a:spcPts val="1000"/>
              </a:spcBef>
              <a:spcAft>
                <a:spcPts val="0"/>
              </a:spcAft>
              <a:buClr>
                <a:schemeClr val="dk1"/>
              </a:buClr>
              <a:buSzPts val="2800"/>
              <a:buChar char="•"/>
            </a:pPr>
            <a:r>
              <a:rPr lang="en-US"/>
              <a:t>Total 20+ years of experience as a Developer + Trainer</a:t>
            </a:r>
            <a:endParaRPr/>
          </a:p>
          <a:p>
            <a:pPr indent="-228600" lvl="0" marL="228600" rtl="0" algn="l">
              <a:lnSpc>
                <a:spcPct val="90000"/>
              </a:lnSpc>
              <a:spcBef>
                <a:spcPts val="1000"/>
              </a:spcBef>
              <a:spcAft>
                <a:spcPts val="0"/>
              </a:spcAft>
              <a:buClr>
                <a:schemeClr val="dk1"/>
              </a:buClr>
              <a:buSzPts val="2800"/>
              <a:buChar char="•"/>
            </a:pPr>
            <a:r>
              <a:rPr lang="en-US"/>
              <a:t>Holds 1 patent</a:t>
            </a:r>
            <a:endParaRPr/>
          </a:p>
          <a:p>
            <a:pPr indent="-228600" lvl="0" marL="228600" rtl="0" algn="l">
              <a:lnSpc>
                <a:spcPct val="90000"/>
              </a:lnSpc>
              <a:spcBef>
                <a:spcPts val="1000"/>
              </a:spcBef>
              <a:spcAft>
                <a:spcPts val="0"/>
              </a:spcAft>
              <a:buClr>
                <a:schemeClr val="dk1"/>
              </a:buClr>
              <a:buSzPts val="2800"/>
              <a:buChar char="•"/>
            </a:pPr>
            <a:r>
              <a:rPr lang="en-US"/>
              <a:t>Author (3 books + more than 10 publications)</a:t>
            </a:r>
            <a:endParaRPr/>
          </a:p>
          <a:p>
            <a:pPr indent="-228600" lvl="0" marL="228600" rtl="0" algn="l">
              <a:lnSpc>
                <a:spcPct val="90000"/>
              </a:lnSpc>
              <a:spcBef>
                <a:spcPts val="1000"/>
              </a:spcBef>
              <a:spcAft>
                <a:spcPts val="0"/>
              </a:spcAft>
              <a:buClr>
                <a:schemeClr val="dk1"/>
              </a:buClr>
              <a:buSzPts val="2800"/>
              <a:buChar char="•"/>
            </a:pPr>
            <a:r>
              <a:rPr lang="en-US" u="sng">
                <a:solidFill>
                  <a:schemeClr val="hlink"/>
                </a:solidFill>
                <a:hlinkClick r:id="rId3"/>
              </a:rPr>
              <a:t>shantanu.s.pathak@gmail.com</a:t>
            </a:r>
            <a:endParaRPr/>
          </a:p>
          <a:p>
            <a:pPr indent="-50800" lvl="0" marL="228600" rtl="0" algn="l">
              <a:lnSpc>
                <a:spcPct val="90000"/>
              </a:lnSpc>
              <a:spcBef>
                <a:spcPts val="1000"/>
              </a:spcBef>
              <a:spcAft>
                <a:spcPts val="0"/>
              </a:spcAft>
              <a:buClr>
                <a:schemeClr val="dk1"/>
              </a:buClr>
              <a:buSzPts val="2800"/>
              <a:buNone/>
            </a:pPr>
            <a:r>
              <a:t/>
            </a:r>
            <a:endParaRPr/>
          </a:p>
          <a:p>
            <a:pPr indent="-228600" lvl="0" marL="228600" rtl="0" algn="l">
              <a:lnSpc>
                <a:spcPct val="90000"/>
              </a:lnSpc>
              <a:spcBef>
                <a:spcPts val="1000"/>
              </a:spcBef>
              <a:spcAft>
                <a:spcPts val="0"/>
              </a:spcAft>
              <a:buClr>
                <a:schemeClr val="dk1"/>
              </a:buClr>
              <a:buSzPts val="2800"/>
              <a:buChar char="•"/>
            </a:pPr>
            <a:r>
              <a:rPr lang="en-US"/>
              <a:t>Linked in : </a:t>
            </a:r>
            <a:r>
              <a:rPr lang="en-US" u="sng">
                <a:solidFill>
                  <a:schemeClr val="hlink"/>
                </a:solidFill>
                <a:hlinkClick r:id="rId4"/>
              </a:rPr>
              <a:t>https://www.linkedin.com/in/pathakshantanu/</a:t>
            </a:r>
            <a:endParaRPr/>
          </a:p>
          <a:p>
            <a:pPr indent="-50800" lvl="0" marL="228600" rtl="0" algn="l">
              <a:lnSpc>
                <a:spcPct val="90000"/>
              </a:lnSpc>
              <a:spcBef>
                <a:spcPts val="1000"/>
              </a:spcBef>
              <a:spcAft>
                <a:spcPts val="0"/>
              </a:spcAft>
              <a:buClr>
                <a:schemeClr val="dk1"/>
              </a:buClr>
              <a:buSzPts val="2800"/>
              <a:buNone/>
            </a:pPr>
            <a:r>
              <a:t/>
            </a:r>
            <a:endParaRPr/>
          </a:p>
          <a:p>
            <a:pPr indent="-50800" lvl="0" marL="228600" rtl="0" algn="l">
              <a:lnSpc>
                <a:spcPct val="90000"/>
              </a:lnSpc>
              <a:spcBef>
                <a:spcPts val="1000"/>
              </a:spcBef>
              <a:spcAft>
                <a:spcPts val="0"/>
              </a:spcAft>
              <a:buClr>
                <a:schemeClr val="dk1"/>
              </a:buClr>
              <a:buSzPts val="2800"/>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6000"/>
              <a:buFont typeface="Calibri"/>
              <a:buNone/>
            </a:pPr>
            <a:r>
              <a:rPr lang="en-US"/>
              <a:t>Machine Learning</a:t>
            </a:r>
            <a:endParaRPr/>
          </a:p>
        </p:txBody>
      </p:sp>
      <p:sp>
        <p:nvSpPr>
          <p:cNvPr id="91" name="Google Shape;91;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chemeClr val="dk1"/>
              </a:buClr>
              <a:buSzPts val="2400"/>
              <a:buNone/>
            </a:pPr>
            <a:r>
              <a:rPr lang="en-US"/>
              <a:t>By Dr Shantanu Pathak</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Machine Learning</a:t>
            </a:r>
            <a:endParaRPr/>
          </a:p>
        </p:txBody>
      </p:sp>
      <p:sp>
        <p:nvSpPr>
          <p:cNvPr id="97" name="Google Shape;97;p3"/>
          <p:cNvSpPr txBox="1"/>
          <p:nvPr>
            <p:ph idx="1" type="body"/>
          </p:nvPr>
        </p:nvSpPr>
        <p:spPr>
          <a:xfrm>
            <a:off x="838200" y="1825625"/>
            <a:ext cx="10515600" cy="4876258"/>
          </a:xfrm>
          <a:prstGeom prst="rect">
            <a:avLst/>
          </a:prstGeom>
          <a:noFill/>
          <a:ln>
            <a:noFill/>
          </a:ln>
        </p:spPr>
        <p:txBody>
          <a:bodyPr anchorCtr="0" anchor="t" bIns="45700" lIns="91425" spcFirstLastPara="1" rIns="91425" wrap="square" tIns="45700">
            <a:normAutofit lnSpcReduction="10000"/>
          </a:bodyPr>
          <a:lstStyle/>
          <a:p>
            <a:pPr indent="-228600" lvl="0" marL="228600" rtl="0" algn="l">
              <a:lnSpc>
                <a:spcPct val="90000"/>
              </a:lnSpc>
              <a:spcBef>
                <a:spcPts val="0"/>
              </a:spcBef>
              <a:spcAft>
                <a:spcPts val="0"/>
              </a:spcAft>
              <a:buClr>
                <a:schemeClr val="dk1"/>
              </a:buClr>
              <a:buSzPts val="2800"/>
              <a:buChar char="•"/>
            </a:pPr>
            <a:r>
              <a:rPr lang="en-US"/>
              <a:t>"Field of study that gives computers the ability to learn without being explicitly programmed"  defined by Prof. Arthur Samuel in 1959  </a:t>
            </a:r>
            <a:endParaRPr/>
          </a:p>
          <a:p>
            <a:pPr indent="-228600" lvl="0" marL="228600" rtl="0" algn="l">
              <a:lnSpc>
                <a:spcPct val="90000"/>
              </a:lnSpc>
              <a:spcBef>
                <a:spcPts val="1000"/>
              </a:spcBef>
              <a:spcAft>
                <a:spcPts val="0"/>
              </a:spcAft>
              <a:buClr>
                <a:schemeClr val="dk1"/>
              </a:buClr>
              <a:buSzPts val="2800"/>
              <a:buChar char="•"/>
            </a:pPr>
            <a:r>
              <a:rPr lang="en-US"/>
              <a:t>Software learns the patterns in Data</a:t>
            </a:r>
            <a:endParaRPr/>
          </a:p>
          <a:p>
            <a:pPr indent="-50800" lvl="0" marL="228600" rtl="0" algn="l">
              <a:lnSpc>
                <a:spcPct val="90000"/>
              </a:lnSpc>
              <a:spcBef>
                <a:spcPts val="1000"/>
              </a:spcBef>
              <a:spcAft>
                <a:spcPts val="0"/>
              </a:spcAft>
              <a:buClr>
                <a:schemeClr val="dk1"/>
              </a:buClr>
              <a:buSzPts val="2800"/>
              <a:buNone/>
            </a:pPr>
            <a:r>
              <a:t/>
            </a:r>
            <a:endParaRPr/>
          </a:p>
          <a:p>
            <a:pPr indent="-228600" lvl="0" marL="228600" rtl="0" algn="l">
              <a:lnSpc>
                <a:spcPct val="90000"/>
              </a:lnSpc>
              <a:spcBef>
                <a:spcPts val="1000"/>
              </a:spcBef>
              <a:spcAft>
                <a:spcPts val="0"/>
              </a:spcAft>
              <a:buClr>
                <a:schemeClr val="dk1"/>
              </a:buClr>
              <a:buSzPts val="2800"/>
              <a:buChar char="•"/>
            </a:pPr>
            <a:r>
              <a:rPr lang="en-US"/>
              <a:t>Classical Programming:: </a:t>
            </a:r>
            <a:endParaRPr/>
          </a:p>
          <a:p>
            <a:pPr indent="-228600" lvl="1" marL="685800" rtl="0" algn="l">
              <a:lnSpc>
                <a:spcPct val="90000"/>
              </a:lnSpc>
              <a:spcBef>
                <a:spcPts val="500"/>
              </a:spcBef>
              <a:spcAft>
                <a:spcPts val="0"/>
              </a:spcAft>
              <a:buClr>
                <a:schemeClr val="dk1"/>
              </a:buClr>
              <a:buSzPts val="2400"/>
              <a:buChar char="•"/>
            </a:pPr>
            <a:r>
              <a:rPr lang="en-US"/>
              <a:t>I/P :: Rules and Sample Data </a:t>
            </a:r>
            <a:endParaRPr/>
          </a:p>
          <a:p>
            <a:pPr indent="-228600" lvl="1" marL="685800" rtl="0" algn="l">
              <a:lnSpc>
                <a:spcPct val="90000"/>
              </a:lnSpc>
              <a:spcBef>
                <a:spcPts val="500"/>
              </a:spcBef>
              <a:spcAft>
                <a:spcPts val="0"/>
              </a:spcAft>
              <a:buClr>
                <a:schemeClr val="dk1"/>
              </a:buClr>
              <a:buSzPts val="2400"/>
              <a:buChar char="•"/>
            </a:pPr>
            <a:r>
              <a:rPr lang="en-US"/>
              <a:t>O/P :: Answers</a:t>
            </a:r>
            <a:endParaRPr/>
          </a:p>
          <a:p>
            <a:pPr indent="-50800" lvl="0" marL="228600" rtl="0" algn="l">
              <a:lnSpc>
                <a:spcPct val="90000"/>
              </a:lnSpc>
              <a:spcBef>
                <a:spcPts val="1000"/>
              </a:spcBef>
              <a:spcAft>
                <a:spcPts val="0"/>
              </a:spcAft>
              <a:buClr>
                <a:schemeClr val="dk1"/>
              </a:buClr>
              <a:buSzPts val="2800"/>
              <a:buNone/>
            </a:pPr>
            <a:r>
              <a:t/>
            </a:r>
            <a:endParaRPr/>
          </a:p>
          <a:p>
            <a:pPr indent="-228600" lvl="0" marL="228600" rtl="0" algn="l">
              <a:lnSpc>
                <a:spcPct val="90000"/>
              </a:lnSpc>
              <a:spcBef>
                <a:spcPts val="1000"/>
              </a:spcBef>
              <a:spcAft>
                <a:spcPts val="0"/>
              </a:spcAft>
              <a:buClr>
                <a:schemeClr val="dk1"/>
              </a:buClr>
              <a:buSzPts val="2800"/>
              <a:buChar char="•"/>
            </a:pPr>
            <a:r>
              <a:rPr lang="en-US"/>
              <a:t>Machine Learning</a:t>
            </a:r>
            <a:endParaRPr/>
          </a:p>
          <a:p>
            <a:pPr indent="-228600" lvl="1" marL="685800" rtl="0" algn="l">
              <a:lnSpc>
                <a:spcPct val="90000"/>
              </a:lnSpc>
              <a:spcBef>
                <a:spcPts val="500"/>
              </a:spcBef>
              <a:spcAft>
                <a:spcPts val="0"/>
              </a:spcAft>
              <a:buClr>
                <a:schemeClr val="dk1"/>
              </a:buClr>
              <a:buSzPts val="2400"/>
              <a:buChar char="•"/>
            </a:pPr>
            <a:r>
              <a:rPr lang="en-US"/>
              <a:t>I/P :: Huge Data and Answers</a:t>
            </a:r>
            <a:endParaRPr/>
          </a:p>
          <a:p>
            <a:pPr indent="-228600" lvl="1" marL="685800" rtl="0" algn="l">
              <a:lnSpc>
                <a:spcPct val="90000"/>
              </a:lnSpc>
              <a:spcBef>
                <a:spcPts val="500"/>
              </a:spcBef>
              <a:spcAft>
                <a:spcPts val="0"/>
              </a:spcAft>
              <a:buClr>
                <a:schemeClr val="dk1"/>
              </a:buClr>
              <a:buSzPts val="2400"/>
              <a:buChar char="•"/>
            </a:pPr>
            <a:r>
              <a:rPr lang="en-US"/>
              <a:t>O/P :: Patterns / Rules</a:t>
            </a:r>
            <a:endParaRPr/>
          </a:p>
          <a:p>
            <a:pPr indent="-76200" lvl="1" marL="685800" rtl="0" algn="l">
              <a:lnSpc>
                <a:spcPct val="90000"/>
              </a:lnSpc>
              <a:spcBef>
                <a:spcPts val="500"/>
              </a:spcBef>
              <a:spcAft>
                <a:spcPts val="0"/>
              </a:spcAft>
              <a:buClr>
                <a:schemeClr val="dk1"/>
              </a:buClr>
              <a:buSzPts val="2400"/>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4"/>
          <p:cNvSpPr txBox="1"/>
          <p:nvPr>
            <p:ph type="title"/>
          </p:nvPr>
        </p:nvSpPr>
        <p:spPr>
          <a:xfrm>
            <a:off x="838200" y="365125"/>
            <a:ext cx="10515600" cy="79763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Introduction</a:t>
            </a:r>
            <a:endParaRPr/>
          </a:p>
        </p:txBody>
      </p:sp>
      <p:sp>
        <p:nvSpPr>
          <p:cNvPr id="103" name="Google Shape;103;p4"/>
          <p:cNvSpPr txBox="1"/>
          <p:nvPr>
            <p:ph idx="1" type="body"/>
          </p:nvPr>
        </p:nvSpPr>
        <p:spPr>
          <a:xfrm>
            <a:off x="838200" y="1354667"/>
            <a:ext cx="10515600" cy="4822296"/>
          </a:xfrm>
          <a:prstGeom prst="rect">
            <a:avLst/>
          </a:prstGeom>
          <a:noFill/>
          <a:ln>
            <a:noFill/>
          </a:ln>
        </p:spPr>
        <p:txBody>
          <a:bodyPr anchorCtr="0" anchor="t" bIns="45700" lIns="91425" spcFirstLastPara="1" rIns="91425" wrap="square" tIns="45700">
            <a:normAutofit fontScale="92500" lnSpcReduction="20000"/>
          </a:bodyPr>
          <a:lstStyle/>
          <a:p>
            <a:pPr indent="-228600" lvl="0" marL="228600" rtl="0" algn="l">
              <a:lnSpc>
                <a:spcPct val="90000"/>
              </a:lnSpc>
              <a:spcBef>
                <a:spcPts val="0"/>
              </a:spcBef>
              <a:spcAft>
                <a:spcPts val="0"/>
              </a:spcAft>
              <a:buClr>
                <a:schemeClr val="dk1"/>
              </a:buClr>
              <a:buSzPct val="100000"/>
              <a:buChar char="•"/>
            </a:pPr>
            <a:r>
              <a:rPr lang="en-US"/>
              <a:t>Machine Learning : </a:t>
            </a:r>
            <a:endParaRPr/>
          </a:p>
          <a:p>
            <a:pPr indent="-228600" lvl="1" marL="685800" rtl="0" algn="l">
              <a:lnSpc>
                <a:spcPct val="90000"/>
              </a:lnSpc>
              <a:spcBef>
                <a:spcPts val="500"/>
              </a:spcBef>
              <a:spcAft>
                <a:spcPts val="0"/>
              </a:spcAft>
              <a:buClr>
                <a:schemeClr val="dk1"/>
              </a:buClr>
              <a:buSzPct val="100000"/>
              <a:buChar char="•"/>
            </a:pPr>
            <a:r>
              <a:rPr lang="en-US"/>
              <a:t>machines find the pattern in input data. </a:t>
            </a:r>
            <a:endParaRPr/>
          </a:p>
          <a:p>
            <a:pPr indent="-228600" lvl="1" marL="685800" rtl="0" algn="l">
              <a:lnSpc>
                <a:spcPct val="90000"/>
              </a:lnSpc>
              <a:spcBef>
                <a:spcPts val="500"/>
              </a:spcBef>
              <a:spcAft>
                <a:spcPts val="0"/>
              </a:spcAft>
              <a:buClr>
                <a:schemeClr val="dk1"/>
              </a:buClr>
              <a:buSzPct val="100000"/>
              <a:buChar char="•"/>
            </a:pPr>
            <a:r>
              <a:rPr lang="en-US"/>
              <a:t>This pattern is mapped to certain output.</a:t>
            </a:r>
            <a:endParaRPr/>
          </a:p>
          <a:p>
            <a:pPr indent="-228600" lvl="1" marL="685800" rtl="0" algn="l">
              <a:lnSpc>
                <a:spcPct val="90000"/>
              </a:lnSpc>
              <a:spcBef>
                <a:spcPts val="500"/>
              </a:spcBef>
              <a:spcAft>
                <a:spcPts val="0"/>
              </a:spcAft>
              <a:buClr>
                <a:schemeClr val="dk1"/>
              </a:buClr>
              <a:buSzPct val="100000"/>
              <a:buChar char="•"/>
            </a:pPr>
            <a:r>
              <a:rPr lang="en-US"/>
              <a:t>Then using this pattern and mapping machine can predict the output for new inputs</a:t>
            </a:r>
            <a:endParaRPr/>
          </a:p>
          <a:p>
            <a:pPr indent="-228600" lvl="1" marL="685800" rtl="0" algn="l">
              <a:lnSpc>
                <a:spcPct val="90000"/>
              </a:lnSpc>
              <a:spcBef>
                <a:spcPts val="500"/>
              </a:spcBef>
              <a:spcAft>
                <a:spcPts val="0"/>
              </a:spcAft>
              <a:buClr>
                <a:schemeClr val="dk1"/>
              </a:buClr>
              <a:buSzPct val="100000"/>
              <a:buChar char="•"/>
            </a:pPr>
            <a:r>
              <a:rPr lang="en-US"/>
              <a:t>This pattern and mapping is knowledge!</a:t>
            </a:r>
            <a:endParaRPr/>
          </a:p>
          <a:p>
            <a:pPr indent="-87630" lvl="1" marL="685800" rtl="0" algn="l">
              <a:lnSpc>
                <a:spcPct val="90000"/>
              </a:lnSpc>
              <a:spcBef>
                <a:spcPts val="500"/>
              </a:spcBef>
              <a:spcAft>
                <a:spcPts val="0"/>
              </a:spcAft>
              <a:buClr>
                <a:schemeClr val="dk1"/>
              </a:buClr>
              <a:buSzPct val="100000"/>
              <a:buNone/>
            </a:pPr>
            <a:r>
              <a:t/>
            </a:r>
            <a:endParaRPr/>
          </a:p>
          <a:p>
            <a:pPr indent="-228600" lvl="0" marL="228600" rtl="0" algn="l">
              <a:lnSpc>
                <a:spcPct val="90000"/>
              </a:lnSpc>
              <a:spcBef>
                <a:spcPts val="1000"/>
              </a:spcBef>
              <a:spcAft>
                <a:spcPts val="0"/>
              </a:spcAft>
              <a:buClr>
                <a:schemeClr val="dk1"/>
              </a:buClr>
              <a:buSzPct val="100000"/>
              <a:buChar char="•"/>
            </a:pPr>
            <a:r>
              <a:rPr lang="en-US"/>
              <a:t>Example : </a:t>
            </a:r>
            <a:endParaRPr/>
          </a:p>
          <a:p>
            <a:pPr indent="-228600" lvl="1" marL="685800" rtl="0" algn="l">
              <a:lnSpc>
                <a:spcPct val="90000"/>
              </a:lnSpc>
              <a:spcBef>
                <a:spcPts val="500"/>
              </a:spcBef>
              <a:spcAft>
                <a:spcPts val="0"/>
              </a:spcAft>
              <a:buClr>
                <a:schemeClr val="dk1"/>
              </a:buClr>
              <a:buSzPct val="100000"/>
              <a:buChar char="•"/>
            </a:pPr>
            <a:r>
              <a:rPr lang="en-US"/>
              <a:t>Machine finds patterns in images of dogs and cats. </a:t>
            </a:r>
            <a:endParaRPr/>
          </a:p>
          <a:p>
            <a:pPr indent="-228600" lvl="1" marL="685800" rtl="0" algn="l">
              <a:lnSpc>
                <a:spcPct val="90000"/>
              </a:lnSpc>
              <a:spcBef>
                <a:spcPts val="500"/>
              </a:spcBef>
              <a:spcAft>
                <a:spcPts val="0"/>
              </a:spcAft>
              <a:buClr>
                <a:schemeClr val="dk1"/>
              </a:buClr>
              <a:buSzPct val="100000"/>
              <a:buChar char="•"/>
            </a:pPr>
            <a:r>
              <a:rPr lang="en-US"/>
              <a:t>Also it maps patterns with output that whether it is dog or cat</a:t>
            </a:r>
            <a:endParaRPr/>
          </a:p>
          <a:p>
            <a:pPr indent="-87630" lvl="1" marL="685800" rtl="0" algn="l">
              <a:lnSpc>
                <a:spcPct val="90000"/>
              </a:lnSpc>
              <a:spcBef>
                <a:spcPts val="500"/>
              </a:spcBef>
              <a:spcAft>
                <a:spcPts val="0"/>
              </a:spcAft>
              <a:buClr>
                <a:schemeClr val="dk1"/>
              </a:buClr>
              <a:buSzPct val="100000"/>
              <a:buNone/>
            </a:pPr>
            <a:r>
              <a:t/>
            </a:r>
            <a:endParaRPr/>
          </a:p>
          <a:p>
            <a:pPr indent="-228600" lvl="0" marL="228600" rtl="0" algn="l">
              <a:lnSpc>
                <a:spcPct val="90000"/>
              </a:lnSpc>
              <a:spcBef>
                <a:spcPts val="1000"/>
              </a:spcBef>
              <a:spcAft>
                <a:spcPts val="0"/>
              </a:spcAft>
              <a:buClr>
                <a:schemeClr val="dk1"/>
              </a:buClr>
              <a:buSzPct val="100000"/>
              <a:buChar char="•"/>
            </a:pPr>
            <a:r>
              <a:rPr lang="en-US"/>
              <a:t>Another example :</a:t>
            </a:r>
            <a:endParaRPr/>
          </a:p>
          <a:p>
            <a:pPr indent="-228600" lvl="1" marL="685800" rtl="0" algn="l">
              <a:lnSpc>
                <a:spcPct val="90000"/>
              </a:lnSpc>
              <a:spcBef>
                <a:spcPts val="500"/>
              </a:spcBef>
              <a:spcAft>
                <a:spcPts val="0"/>
              </a:spcAft>
              <a:buClr>
                <a:schemeClr val="dk1"/>
              </a:buClr>
              <a:buSzPct val="100000"/>
              <a:buChar char="•"/>
            </a:pPr>
            <a:r>
              <a:rPr lang="en-US"/>
              <a:t>If diabetic patient data is available</a:t>
            </a:r>
            <a:endParaRPr/>
          </a:p>
          <a:p>
            <a:pPr indent="-228600" lvl="1" marL="685800" rtl="0" algn="l">
              <a:lnSpc>
                <a:spcPct val="90000"/>
              </a:lnSpc>
              <a:spcBef>
                <a:spcPts val="500"/>
              </a:spcBef>
              <a:spcAft>
                <a:spcPts val="0"/>
              </a:spcAft>
              <a:buClr>
                <a:schemeClr val="dk1"/>
              </a:buClr>
              <a:buSzPct val="100000"/>
              <a:buChar char="•"/>
            </a:pPr>
            <a:r>
              <a:rPr lang="en-US"/>
              <a:t>Then machine will find pattern in age, BP , sugar level</a:t>
            </a:r>
            <a:endParaRPr/>
          </a:p>
          <a:p>
            <a:pPr indent="-228600" lvl="1" marL="685800" rtl="0" algn="l">
              <a:lnSpc>
                <a:spcPct val="90000"/>
              </a:lnSpc>
              <a:spcBef>
                <a:spcPts val="500"/>
              </a:spcBef>
              <a:spcAft>
                <a:spcPts val="0"/>
              </a:spcAft>
              <a:buClr>
                <a:schemeClr val="dk1"/>
              </a:buClr>
              <a:buSzPct val="100000"/>
              <a:buChar char="•"/>
            </a:pPr>
            <a:r>
              <a:rPr lang="en-US"/>
              <a:t>Then map this pattern to class (diabetic / non-diabetic)</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Why Machine Learning?</a:t>
            </a:r>
            <a:endParaRPr/>
          </a:p>
        </p:txBody>
      </p:sp>
      <p:sp>
        <p:nvSpPr>
          <p:cNvPr id="109" name="Google Shape;109;p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Deterministic vs Non-deterministic Solutions</a:t>
            </a:r>
            <a:endParaRPr/>
          </a:p>
          <a:p>
            <a:pPr indent="-228600" lvl="1" marL="685800" rtl="0" algn="l">
              <a:lnSpc>
                <a:spcPct val="90000"/>
              </a:lnSpc>
              <a:spcBef>
                <a:spcPts val="500"/>
              </a:spcBef>
              <a:spcAft>
                <a:spcPts val="0"/>
              </a:spcAft>
              <a:buClr>
                <a:schemeClr val="dk1"/>
              </a:buClr>
              <a:buSzPts val="2400"/>
              <a:buChar char="•"/>
            </a:pPr>
            <a:r>
              <a:rPr lang="en-US"/>
              <a:t>100% success every time ?</a:t>
            </a:r>
            <a:endParaRPr/>
          </a:p>
          <a:p>
            <a:pPr indent="-50800" lvl="0" marL="228600" rtl="0" algn="l">
              <a:lnSpc>
                <a:spcPct val="90000"/>
              </a:lnSpc>
              <a:spcBef>
                <a:spcPts val="1000"/>
              </a:spcBef>
              <a:spcAft>
                <a:spcPts val="0"/>
              </a:spcAft>
              <a:buClr>
                <a:schemeClr val="dk1"/>
              </a:buClr>
              <a:buSzPts val="2800"/>
              <a:buNone/>
            </a:pPr>
            <a:r>
              <a:t/>
            </a:r>
            <a:endParaRPr/>
          </a:p>
          <a:p>
            <a:pPr indent="-228600" lvl="0" marL="228600" rtl="0" algn="l">
              <a:lnSpc>
                <a:spcPct val="90000"/>
              </a:lnSpc>
              <a:spcBef>
                <a:spcPts val="1000"/>
              </a:spcBef>
              <a:spcAft>
                <a:spcPts val="0"/>
              </a:spcAft>
              <a:buClr>
                <a:schemeClr val="dk1"/>
              </a:buClr>
              <a:buSzPts val="2800"/>
              <a:buChar char="•"/>
            </a:pPr>
            <a:r>
              <a:rPr lang="en-US"/>
              <a:t>Why Statistics ?</a:t>
            </a:r>
            <a:endParaRPr/>
          </a:p>
          <a:p>
            <a:pPr indent="-50800" lvl="0" marL="228600" rtl="0" algn="l">
              <a:lnSpc>
                <a:spcPct val="90000"/>
              </a:lnSpc>
              <a:spcBef>
                <a:spcPts val="1000"/>
              </a:spcBef>
              <a:spcAft>
                <a:spcPts val="0"/>
              </a:spcAft>
              <a:buClr>
                <a:schemeClr val="dk1"/>
              </a:buClr>
              <a:buSzPts val="2800"/>
              <a:buNone/>
            </a:pPr>
            <a:r>
              <a:t/>
            </a:r>
            <a:endParaRPr/>
          </a:p>
          <a:p>
            <a:pPr indent="-228600" lvl="0" marL="228600" rtl="0" algn="l">
              <a:lnSpc>
                <a:spcPct val="90000"/>
              </a:lnSpc>
              <a:spcBef>
                <a:spcPts val="1000"/>
              </a:spcBef>
              <a:spcAft>
                <a:spcPts val="0"/>
              </a:spcAft>
              <a:buClr>
                <a:schemeClr val="dk1"/>
              </a:buClr>
              <a:buSzPts val="2800"/>
              <a:buChar char="•"/>
            </a:pPr>
            <a:r>
              <a:rPr lang="en-US"/>
              <a:t>Ex. Face Detection , Finger print scanner</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Machine Learning Applications</a:t>
            </a:r>
            <a:endParaRPr/>
          </a:p>
        </p:txBody>
      </p:sp>
      <p:sp>
        <p:nvSpPr>
          <p:cNvPr id="115" name="Google Shape;115;p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Finger print scanner</a:t>
            </a:r>
            <a:endParaRPr/>
          </a:p>
          <a:p>
            <a:pPr indent="-228600" lvl="0" marL="228600" rtl="0" algn="l">
              <a:lnSpc>
                <a:spcPct val="90000"/>
              </a:lnSpc>
              <a:spcBef>
                <a:spcPts val="1000"/>
              </a:spcBef>
              <a:spcAft>
                <a:spcPts val="0"/>
              </a:spcAft>
              <a:buClr>
                <a:schemeClr val="dk1"/>
              </a:buClr>
              <a:buSzPts val="2800"/>
              <a:buChar char="•"/>
            </a:pPr>
            <a:r>
              <a:rPr lang="en-US"/>
              <a:t>Share market analysis</a:t>
            </a:r>
            <a:endParaRPr/>
          </a:p>
          <a:p>
            <a:pPr indent="-228600" lvl="0" marL="228600" rtl="0" algn="l">
              <a:lnSpc>
                <a:spcPct val="90000"/>
              </a:lnSpc>
              <a:spcBef>
                <a:spcPts val="1000"/>
              </a:spcBef>
              <a:spcAft>
                <a:spcPts val="0"/>
              </a:spcAft>
              <a:buClr>
                <a:schemeClr val="dk1"/>
              </a:buClr>
              <a:buSzPts val="2800"/>
              <a:buChar char="•"/>
            </a:pPr>
            <a:r>
              <a:rPr lang="en-US"/>
              <a:t>Iris scanner</a:t>
            </a:r>
            <a:endParaRPr/>
          </a:p>
          <a:p>
            <a:pPr indent="-228600" lvl="0" marL="228600" rtl="0" algn="l">
              <a:lnSpc>
                <a:spcPct val="90000"/>
              </a:lnSpc>
              <a:spcBef>
                <a:spcPts val="1000"/>
              </a:spcBef>
              <a:spcAft>
                <a:spcPts val="0"/>
              </a:spcAft>
              <a:buClr>
                <a:schemeClr val="dk1"/>
              </a:buClr>
              <a:buSzPts val="2800"/>
              <a:buChar char="•"/>
            </a:pPr>
            <a:r>
              <a:rPr lang="en-US"/>
              <a:t>Number plate detection</a:t>
            </a:r>
            <a:endParaRPr/>
          </a:p>
          <a:p>
            <a:pPr indent="-228600" lvl="0" marL="228600" rtl="0" algn="l">
              <a:lnSpc>
                <a:spcPct val="90000"/>
              </a:lnSpc>
              <a:spcBef>
                <a:spcPts val="1000"/>
              </a:spcBef>
              <a:spcAft>
                <a:spcPts val="0"/>
              </a:spcAft>
              <a:buClr>
                <a:schemeClr val="dk1"/>
              </a:buClr>
              <a:buSzPts val="2800"/>
              <a:buChar char="•"/>
            </a:pPr>
            <a:r>
              <a:rPr lang="en-US"/>
              <a:t>Diabetes detection</a:t>
            </a:r>
            <a:endParaRPr/>
          </a:p>
          <a:p>
            <a:pPr indent="-228600" lvl="0" marL="228600" rtl="0" algn="l">
              <a:lnSpc>
                <a:spcPct val="90000"/>
              </a:lnSpc>
              <a:spcBef>
                <a:spcPts val="1000"/>
              </a:spcBef>
              <a:spcAft>
                <a:spcPts val="0"/>
              </a:spcAft>
              <a:buClr>
                <a:schemeClr val="dk1"/>
              </a:buClr>
              <a:buSzPts val="2800"/>
              <a:buChar char="•"/>
            </a:pPr>
            <a:r>
              <a:rPr lang="en-US"/>
              <a:t>Recommendation system</a:t>
            </a:r>
            <a:endParaRPr/>
          </a:p>
          <a:p>
            <a:pPr indent="-228600" lvl="0" marL="228600" rtl="0" algn="l">
              <a:lnSpc>
                <a:spcPct val="90000"/>
              </a:lnSpc>
              <a:spcBef>
                <a:spcPts val="1000"/>
              </a:spcBef>
              <a:spcAft>
                <a:spcPts val="0"/>
              </a:spcAft>
              <a:buClr>
                <a:schemeClr val="dk1"/>
              </a:buClr>
              <a:buSzPts val="2800"/>
              <a:buChar char="•"/>
            </a:pPr>
            <a:r>
              <a:rPr lang="en-US"/>
              <a:t>IoT based predictive maintenance</a:t>
            </a:r>
            <a:endParaRPr/>
          </a:p>
          <a:p>
            <a:pPr indent="-228600" lvl="0" marL="228600" rtl="0" algn="l">
              <a:lnSpc>
                <a:spcPct val="90000"/>
              </a:lnSpc>
              <a:spcBef>
                <a:spcPts val="1000"/>
              </a:spcBef>
              <a:spcAft>
                <a:spcPts val="0"/>
              </a:spcAft>
              <a:buClr>
                <a:schemeClr val="dk1"/>
              </a:buClr>
              <a:buSzPts val="2800"/>
              <a:buChar char="•"/>
            </a:pPr>
            <a:r>
              <a:rPr lang="en-US"/>
              <a:t>IoT based monitoring of a manufacturing plant</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7"/>
          <p:cNvSpPr txBox="1"/>
          <p:nvPr>
            <p:ph type="title"/>
          </p:nvPr>
        </p:nvSpPr>
        <p:spPr>
          <a:xfrm>
            <a:off x="838200" y="129268"/>
            <a:ext cx="10515600" cy="8058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AI vs ML vs DL</a:t>
            </a:r>
            <a:endParaRPr/>
          </a:p>
        </p:txBody>
      </p:sp>
      <p:sp>
        <p:nvSpPr>
          <p:cNvPr id="121" name="Google Shape;121;p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pic>
        <p:nvPicPr>
          <p:cNvPr id="122" name="Google Shape;122;p7"/>
          <p:cNvPicPr preferRelativeResize="0"/>
          <p:nvPr/>
        </p:nvPicPr>
        <p:blipFill>
          <a:blip r:embed="rId3">
            <a:alphaModFix/>
          </a:blip>
          <a:stretch>
            <a:fillRect/>
          </a:stretch>
        </p:blipFill>
        <p:spPr>
          <a:xfrm>
            <a:off x="155650" y="889007"/>
            <a:ext cx="11909351" cy="586740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8"/>
          <p:cNvSpPr txBox="1"/>
          <p:nvPr>
            <p:ph type="title"/>
          </p:nvPr>
        </p:nvSpPr>
        <p:spPr>
          <a:xfrm>
            <a:off x="881742" y="130285"/>
            <a:ext cx="10515600" cy="917167"/>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4400"/>
              <a:buFont typeface="Calibri"/>
              <a:buNone/>
            </a:pPr>
            <a:r>
              <a:rPr lang="en-US"/>
              <a:t>ML / DL Model Building Flow</a:t>
            </a:r>
            <a:endParaRPr/>
          </a:p>
        </p:txBody>
      </p:sp>
      <p:sp>
        <p:nvSpPr>
          <p:cNvPr id="128" name="Google Shape;128;p8"/>
          <p:cNvSpPr/>
          <p:nvPr/>
        </p:nvSpPr>
        <p:spPr>
          <a:xfrm>
            <a:off x="235131" y="2808511"/>
            <a:ext cx="1410789" cy="992778"/>
          </a:xfrm>
          <a:prstGeom prst="rect">
            <a:avLst/>
          </a:prstGeom>
          <a:gradFill>
            <a:gsLst>
              <a:gs pos="0">
                <a:srgbClr val="9A9A9A"/>
              </a:gs>
              <a:gs pos="50000">
                <a:srgbClr val="8D8D8D"/>
              </a:gs>
              <a:gs pos="100000">
                <a:srgbClr val="787878"/>
              </a:gs>
            </a:gsLst>
            <a:lin ang="5400000" scaled="0"/>
          </a:gra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US" sz="2800" u="none" cap="none" strike="noStrike">
                <a:solidFill>
                  <a:schemeClr val="dk1"/>
                </a:solidFill>
                <a:latin typeface="Calibri"/>
                <a:ea typeface="Calibri"/>
                <a:cs typeface="Calibri"/>
                <a:sym typeface="Calibri"/>
              </a:rPr>
              <a:t>Data</a:t>
            </a:r>
            <a:endParaRPr b="0" i="0" sz="1800" u="none" cap="none" strike="noStrike">
              <a:solidFill>
                <a:schemeClr val="dk1"/>
              </a:solidFill>
              <a:latin typeface="Calibri"/>
              <a:ea typeface="Calibri"/>
              <a:cs typeface="Calibri"/>
              <a:sym typeface="Calibri"/>
            </a:endParaRPr>
          </a:p>
        </p:txBody>
      </p:sp>
      <p:sp>
        <p:nvSpPr>
          <p:cNvPr id="129" name="Google Shape;129;p8"/>
          <p:cNvSpPr/>
          <p:nvPr/>
        </p:nvSpPr>
        <p:spPr>
          <a:xfrm>
            <a:off x="1889759" y="1815733"/>
            <a:ext cx="1410789" cy="992778"/>
          </a:xfrm>
          <a:prstGeom prst="rect">
            <a:avLst/>
          </a:prstGeom>
          <a:gradFill>
            <a:gsLst>
              <a:gs pos="0">
                <a:srgbClr val="B0CAE9"/>
              </a:gs>
              <a:gs pos="50000">
                <a:srgbClr val="A1C1E4"/>
              </a:gs>
              <a:gs pos="100000">
                <a:srgbClr val="90B8E4"/>
              </a:gs>
            </a:gsLst>
            <a:lin ang="5400000" scaled="0"/>
          </a:gradFill>
          <a:ln cap="flat" cmpd="sng" w="9525">
            <a:solidFill>
              <a:schemeClr val="accent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US" sz="2400" u="none" cap="none" strike="noStrike">
                <a:solidFill>
                  <a:schemeClr val="dk1"/>
                </a:solidFill>
                <a:latin typeface="Calibri"/>
                <a:ea typeface="Calibri"/>
                <a:cs typeface="Calibri"/>
                <a:sym typeface="Calibri"/>
              </a:rPr>
              <a:t>Training Data</a:t>
            </a:r>
            <a:endParaRPr b="0" i="0" sz="1800" u="none" cap="none" strike="noStrike">
              <a:solidFill>
                <a:schemeClr val="dk1"/>
              </a:solidFill>
              <a:latin typeface="Calibri"/>
              <a:ea typeface="Calibri"/>
              <a:cs typeface="Calibri"/>
              <a:sym typeface="Calibri"/>
            </a:endParaRPr>
          </a:p>
        </p:txBody>
      </p:sp>
      <p:sp>
        <p:nvSpPr>
          <p:cNvPr id="130" name="Google Shape;130;p8"/>
          <p:cNvSpPr/>
          <p:nvPr/>
        </p:nvSpPr>
        <p:spPr>
          <a:xfrm>
            <a:off x="1889758" y="3304900"/>
            <a:ext cx="1410789" cy="992778"/>
          </a:xfrm>
          <a:prstGeom prst="rect">
            <a:avLst/>
          </a:prstGeom>
          <a:gradFill>
            <a:gsLst>
              <a:gs pos="0">
                <a:srgbClr val="F7BCA2"/>
              </a:gs>
              <a:gs pos="50000">
                <a:srgbClr val="F4B093"/>
              </a:gs>
              <a:gs pos="100000">
                <a:srgbClr val="F7A47F"/>
              </a:gs>
            </a:gsLst>
            <a:lin ang="5400000" scaled="0"/>
          </a:gradFill>
          <a:ln cap="flat" cmpd="sng" w="9525">
            <a:solidFill>
              <a:schemeClr val="accent2"/>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US" sz="2400" u="none" cap="none" strike="noStrike">
                <a:solidFill>
                  <a:schemeClr val="dk1"/>
                </a:solidFill>
                <a:latin typeface="Calibri"/>
                <a:ea typeface="Calibri"/>
                <a:cs typeface="Calibri"/>
                <a:sym typeface="Calibri"/>
              </a:rPr>
              <a:t>Testing Data</a:t>
            </a:r>
            <a:endParaRPr b="0" i="0" sz="2400" u="none" cap="none" strike="noStrike">
              <a:solidFill>
                <a:schemeClr val="dk1"/>
              </a:solidFill>
              <a:latin typeface="Calibri"/>
              <a:ea typeface="Calibri"/>
              <a:cs typeface="Calibri"/>
              <a:sym typeface="Calibri"/>
            </a:endParaRPr>
          </a:p>
        </p:txBody>
      </p:sp>
      <p:sp>
        <p:nvSpPr>
          <p:cNvPr id="131" name="Google Shape;131;p8"/>
          <p:cNvSpPr/>
          <p:nvPr/>
        </p:nvSpPr>
        <p:spPr>
          <a:xfrm>
            <a:off x="3731622" y="2673528"/>
            <a:ext cx="2551612" cy="722812"/>
          </a:xfrm>
          <a:prstGeom prst="rect">
            <a:avLst/>
          </a:prstGeom>
          <a:gradFill>
            <a:gsLst>
              <a:gs pos="0">
                <a:srgbClr val="FFDC9B"/>
              </a:gs>
              <a:gs pos="50000">
                <a:srgbClr val="FFD68D"/>
              </a:gs>
              <a:gs pos="100000">
                <a:srgbClr val="FFD478"/>
              </a:gs>
            </a:gsLst>
            <a:lin ang="5400000" scaled="0"/>
          </a:gradFill>
          <a:ln cap="flat" cmpd="sng" w="9525">
            <a:solidFill>
              <a:schemeClr val="accent4"/>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US" sz="2400" u="none" cap="none" strike="noStrike">
                <a:solidFill>
                  <a:schemeClr val="dk1"/>
                </a:solidFill>
                <a:latin typeface="Calibri"/>
                <a:ea typeface="Calibri"/>
                <a:cs typeface="Calibri"/>
                <a:sym typeface="Calibri"/>
              </a:rPr>
              <a:t>Pre-processing (ETL)</a:t>
            </a:r>
            <a:endParaRPr b="0" i="0" sz="2400" u="none" cap="none" strike="noStrike">
              <a:solidFill>
                <a:schemeClr val="dk1"/>
              </a:solidFill>
              <a:latin typeface="Calibri"/>
              <a:ea typeface="Calibri"/>
              <a:cs typeface="Calibri"/>
              <a:sym typeface="Calibri"/>
            </a:endParaRPr>
          </a:p>
        </p:txBody>
      </p:sp>
      <p:sp>
        <p:nvSpPr>
          <p:cNvPr id="132" name="Google Shape;132;p8"/>
          <p:cNvSpPr/>
          <p:nvPr/>
        </p:nvSpPr>
        <p:spPr>
          <a:xfrm>
            <a:off x="6457405" y="2673528"/>
            <a:ext cx="2551612" cy="722812"/>
          </a:xfrm>
          <a:prstGeom prst="rect">
            <a:avLst/>
          </a:prstGeom>
          <a:gradFill>
            <a:gsLst>
              <a:gs pos="0">
                <a:srgbClr val="FFDC9B"/>
              </a:gs>
              <a:gs pos="50000">
                <a:srgbClr val="FFD68D"/>
              </a:gs>
              <a:gs pos="100000">
                <a:srgbClr val="FFD478"/>
              </a:gs>
            </a:gsLst>
            <a:lin ang="5400000" scaled="0"/>
          </a:gradFill>
          <a:ln cap="flat" cmpd="sng" w="9525">
            <a:solidFill>
              <a:schemeClr val="accent4"/>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US" sz="2400" u="none" cap="none" strike="noStrike">
                <a:solidFill>
                  <a:schemeClr val="dk1"/>
                </a:solidFill>
                <a:latin typeface="Calibri"/>
                <a:ea typeface="Calibri"/>
                <a:cs typeface="Calibri"/>
                <a:sym typeface="Calibri"/>
              </a:rPr>
              <a:t>Feature Selection</a:t>
            </a:r>
            <a:endParaRPr b="0" i="0" sz="2400" u="none" cap="none" strike="noStrike">
              <a:solidFill>
                <a:schemeClr val="dk1"/>
              </a:solidFill>
              <a:latin typeface="Calibri"/>
              <a:ea typeface="Calibri"/>
              <a:cs typeface="Calibri"/>
              <a:sym typeface="Calibri"/>
            </a:endParaRPr>
          </a:p>
        </p:txBody>
      </p:sp>
      <p:sp>
        <p:nvSpPr>
          <p:cNvPr id="133" name="Google Shape;133;p8"/>
          <p:cNvSpPr/>
          <p:nvPr/>
        </p:nvSpPr>
        <p:spPr>
          <a:xfrm>
            <a:off x="9511937" y="1485421"/>
            <a:ext cx="1841863" cy="1267097"/>
          </a:xfrm>
          <a:prstGeom prst="ellipse">
            <a:avLst/>
          </a:prstGeom>
          <a:gradFill>
            <a:gsLst>
              <a:gs pos="0">
                <a:srgbClr val="D1D1D1"/>
              </a:gs>
              <a:gs pos="50000">
                <a:srgbClr val="C7C7C7"/>
              </a:gs>
              <a:gs pos="100000">
                <a:srgbClr val="C0C0C0"/>
              </a:gs>
            </a:gsLst>
            <a:lin ang="5400000" scaled="0"/>
          </a:gradFill>
          <a:ln cap="flat" cmpd="sng" w="9525">
            <a:solidFill>
              <a:schemeClr val="accent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US" sz="2400" u="none" cap="none" strike="noStrike">
                <a:solidFill>
                  <a:schemeClr val="dk1"/>
                </a:solidFill>
                <a:latin typeface="Calibri"/>
                <a:ea typeface="Calibri"/>
                <a:cs typeface="Calibri"/>
                <a:sym typeface="Calibri"/>
              </a:rPr>
              <a:t>Model Training</a:t>
            </a:r>
            <a:endParaRPr b="0" i="0" sz="2400" u="none" cap="none" strike="noStrike">
              <a:solidFill>
                <a:schemeClr val="dk1"/>
              </a:solidFill>
              <a:latin typeface="Calibri"/>
              <a:ea typeface="Calibri"/>
              <a:cs typeface="Calibri"/>
              <a:sym typeface="Calibri"/>
            </a:endParaRPr>
          </a:p>
        </p:txBody>
      </p:sp>
      <p:sp>
        <p:nvSpPr>
          <p:cNvPr id="134" name="Google Shape;134;p8"/>
          <p:cNvSpPr/>
          <p:nvPr/>
        </p:nvSpPr>
        <p:spPr>
          <a:xfrm>
            <a:off x="9628413" y="3304900"/>
            <a:ext cx="1608909" cy="849086"/>
          </a:xfrm>
          <a:prstGeom prst="roundRect">
            <a:avLst>
              <a:gd fmla="val 16667" name="adj"/>
            </a:avLst>
          </a:prstGeom>
          <a:gradFill>
            <a:gsLst>
              <a:gs pos="0">
                <a:srgbClr val="AFAFAF"/>
              </a:gs>
              <a:gs pos="50000">
                <a:schemeClr val="accent3"/>
              </a:gs>
              <a:gs pos="100000">
                <a:srgbClr val="919191"/>
              </a:gs>
            </a:gsLst>
            <a:lin ang="5400000" scaled="0"/>
          </a:gradFill>
          <a:ln cap="flat" cmpd="sng" w="9525">
            <a:solidFill>
              <a:schemeClr val="accent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US" sz="2400" u="none" cap="none" strike="noStrike">
                <a:solidFill>
                  <a:schemeClr val="lt1"/>
                </a:solidFill>
                <a:latin typeface="Calibri"/>
                <a:ea typeface="Calibri"/>
                <a:cs typeface="Calibri"/>
                <a:sym typeface="Calibri"/>
              </a:rPr>
              <a:t>ML Model</a:t>
            </a:r>
            <a:endParaRPr b="0" i="0" sz="2400" u="none" cap="none" strike="noStrike">
              <a:solidFill>
                <a:schemeClr val="lt1"/>
              </a:solidFill>
              <a:latin typeface="Calibri"/>
              <a:ea typeface="Calibri"/>
              <a:cs typeface="Calibri"/>
              <a:sym typeface="Calibri"/>
            </a:endParaRPr>
          </a:p>
        </p:txBody>
      </p:sp>
      <p:sp>
        <p:nvSpPr>
          <p:cNvPr id="135" name="Google Shape;135;p8"/>
          <p:cNvSpPr/>
          <p:nvPr/>
        </p:nvSpPr>
        <p:spPr>
          <a:xfrm>
            <a:off x="1889758" y="5327767"/>
            <a:ext cx="1532711" cy="627017"/>
          </a:xfrm>
          <a:prstGeom prst="rect">
            <a:avLst/>
          </a:prstGeom>
          <a:solidFill>
            <a:schemeClr val="lt1"/>
          </a:solidFill>
          <a:ln cap="flat" cmpd="sng" w="12700">
            <a:solidFill>
              <a:schemeClr val="accent6"/>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US" sz="2400" u="none" cap="none" strike="noStrike">
                <a:solidFill>
                  <a:srgbClr val="385623"/>
                </a:solidFill>
                <a:latin typeface="Calibri"/>
                <a:ea typeface="Calibri"/>
                <a:cs typeface="Calibri"/>
                <a:sym typeface="Calibri"/>
              </a:rPr>
              <a:t>New Data</a:t>
            </a:r>
            <a:endParaRPr b="0" i="0" sz="2400" u="none" cap="none" strike="noStrike">
              <a:solidFill>
                <a:srgbClr val="385623"/>
              </a:solidFill>
              <a:latin typeface="Calibri"/>
              <a:ea typeface="Calibri"/>
              <a:cs typeface="Calibri"/>
              <a:sym typeface="Calibri"/>
            </a:endParaRPr>
          </a:p>
        </p:txBody>
      </p:sp>
      <p:sp>
        <p:nvSpPr>
          <p:cNvPr id="136" name="Google Shape;136;p8"/>
          <p:cNvSpPr/>
          <p:nvPr/>
        </p:nvSpPr>
        <p:spPr>
          <a:xfrm rot="1374004">
            <a:off x="3025193" y="1226954"/>
            <a:ext cx="1937657" cy="901337"/>
          </a:xfrm>
          <a:prstGeom prst="curvedDownArrow">
            <a:avLst>
              <a:gd fmla="val 25000" name="adj1"/>
              <a:gd fmla="val 50000" name="adj2"/>
              <a:gd fmla="val 25000" name="adj3"/>
            </a:avLst>
          </a:prstGeom>
          <a:solidFill>
            <a:schemeClr val="accent1"/>
          </a:solidFill>
          <a:ln cap="flat" cmpd="sng" w="12700">
            <a:solidFill>
              <a:srgbClr val="42719B"/>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 name="Google Shape;137;p8"/>
          <p:cNvSpPr/>
          <p:nvPr/>
        </p:nvSpPr>
        <p:spPr>
          <a:xfrm>
            <a:off x="5795554" y="1625371"/>
            <a:ext cx="1937657" cy="901337"/>
          </a:xfrm>
          <a:prstGeom prst="curvedDownArrow">
            <a:avLst>
              <a:gd fmla="val 25000" name="adj1"/>
              <a:gd fmla="val 50000" name="adj2"/>
              <a:gd fmla="val 25000" name="adj3"/>
            </a:avLst>
          </a:prstGeom>
          <a:solidFill>
            <a:schemeClr val="accent1"/>
          </a:solidFill>
          <a:ln cap="flat" cmpd="sng" w="12700">
            <a:solidFill>
              <a:srgbClr val="42719B"/>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 name="Google Shape;138;p8"/>
          <p:cNvSpPr/>
          <p:nvPr/>
        </p:nvSpPr>
        <p:spPr>
          <a:xfrm rot="-2024954">
            <a:off x="8157483" y="1536428"/>
            <a:ext cx="1683725" cy="608386"/>
          </a:xfrm>
          <a:prstGeom prst="curvedDownArrow">
            <a:avLst>
              <a:gd fmla="val 25000" name="adj1"/>
              <a:gd fmla="val 35494" name="adj2"/>
              <a:gd fmla="val 25000" name="adj3"/>
            </a:avLst>
          </a:prstGeom>
          <a:solidFill>
            <a:schemeClr val="accent1"/>
          </a:solidFill>
          <a:ln cap="flat" cmpd="sng" w="12700">
            <a:solidFill>
              <a:srgbClr val="42719B"/>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8"/>
          <p:cNvSpPr/>
          <p:nvPr/>
        </p:nvSpPr>
        <p:spPr>
          <a:xfrm rot="-1498383">
            <a:off x="3009898" y="3944042"/>
            <a:ext cx="2063932" cy="744583"/>
          </a:xfrm>
          <a:prstGeom prst="curvedUpArrow">
            <a:avLst>
              <a:gd fmla="val 25000" name="adj1"/>
              <a:gd fmla="val 50000" name="adj2"/>
              <a:gd fmla="val 25000" name="adj3"/>
            </a:avLst>
          </a:prstGeom>
          <a:solidFill>
            <a:schemeClr val="accent2"/>
          </a:solidFill>
          <a:ln cap="flat" cmpd="sng" w="12700">
            <a:solidFill>
              <a:srgbClr val="AC5B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 name="Google Shape;140;p8"/>
          <p:cNvSpPr/>
          <p:nvPr/>
        </p:nvSpPr>
        <p:spPr>
          <a:xfrm>
            <a:off x="5904412" y="3543161"/>
            <a:ext cx="1828800" cy="885145"/>
          </a:xfrm>
          <a:prstGeom prst="curvedUpArrow">
            <a:avLst>
              <a:gd fmla="val 25000" name="adj1"/>
              <a:gd fmla="val 50000" name="adj2"/>
              <a:gd fmla="val 25000" name="adj3"/>
            </a:avLst>
          </a:prstGeom>
          <a:solidFill>
            <a:schemeClr val="accent2"/>
          </a:solidFill>
          <a:ln cap="flat" cmpd="sng" w="12700">
            <a:solidFill>
              <a:srgbClr val="AC5B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 name="Google Shape;141;p8"/>
          <p:cNvSpPr/>
          <p:nvPr/>
        </p:nvSpPr>
        <p:spPr>
          <a:xfrm rot="1641528">
            <a:off x="8427755" y="3901021"/>
            <a:ext cx="1744990" cy="770708"/>
          </a:xfrm>
          <a:prstGeom prst="curvedUpArrow">
            <a:avLst>
              <a:gd fmla="val 25000" name="adj1"/>
              <a:gd fmla="val 50000" name="adj2"/>
              <a:gd fmla="val 25000" name="adj3"/>
            </a:avLst>
          </a:prstGeom>
          <a:solidFill>
            <a:schemeClr val="accent2"/>
          </a:solidFill>
          <a:ln cap="flat" cmpd="sng" w="12700">
            <a:solidFill>
              <a:srgbClr val="AC5B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 name="Google Shape;142;p8"/>
          <p:cNvSpPr/>
          <p:nvPr/>
        </p:nvSpPr>
        <p:spPr>
          <a:xfrm rot="-2508262">
            <a:off x="3461747" y="4600622"/>
            <a:ext cx="2372786" cy="981251"/>
          </a:xfrm>
          <a:prstGeom prst="curvedUpArrow">
            <a:avLst>
              <a:gd fmla="val 25000" name="adj1"/>
              <a:gd fmla="val 50000" name="adj2"/>
              <a:gd fmla="val 25000" name="adj3"/>
            </a:avLst>
          </a:prstGeom>
          <a:solidFill>
            <a:schemeClr val="accent6"/>
          </a:solidFill>
          <a:ln cap="flat" cmpd="sng" w="12700">
            <a:solidFill>
              <a:srgbClr val="517E3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 name="Google Shape;143;p8"/>
          <p:cNvSpPr/>
          <p:nvPr/>
        </p:nvSpPr>
        <p:spPr>
          <a:xfrm>
            <a:off x="5849982" y="4412793"/>
            <a:ext cx="1828800" cy="676713"/>
          </a:xfrm>
          <a:prstGeom prst="curvedUpArrow">
            <a:avLst>
              <a:gd fmla="val 25000" name="adj1"/>
              <a:gd fmla="val 50000" name="adj2"/>
              <a:gd fmla="val 25000" name="adj3"/>
            </a:avLst>
          </a:prstGeom>
          <a:solidFill>
            <a:schemeClr val="accent6"/>
          </a:solidFill>
          <a:ln cap="flat" cmpd="sng" w="12700">
            <a:solidFill>
              <a:srgbClr val="517E3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 name="Google Shape;144;p8"/>
          <p:cNvSpPr/>
          <p:nvPr/>
        </p:nvSpPr>
        <p:spPr>
          <a:xfrm rot="1641528">
            <a:off x="8136725" y="4475217"/>
            <a:ext cx="1744990" cy="677618"/>
          </a:xfrm>
          <a:prstGeom prst="curvedUpArrow">
            <a:avLst>
              <a:gd fmla="val 25000" name="adj1"/>
              <a:gd fmla="val 50000" name="adj2"/>
              <a:gd fmla="val 25000" name="adj3"/>
            </a:avLst>
          </a:prstGeom>
          <a:solidFill>
            <a:schemeClr val="accent6"/>
          </a:solidFill>
          <a:ln cap="flat" cmpd="sng" w="12700">
            <a:solidFill>
              <a:srgbClr val="517E3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 name="Google Shape;145;p8"/>
          <p:cNvSpPr/>
          <p:nvPr/>
        </p:nvSpPr>
        <p:spPr>
          <a:xfrm>
            <a:off x="10209467" y="4316333"/>
            <a:ext cx="507779" cy="1199570"/>
          </a:xfrm>
          <a:prstGeom prst="downArrow">
            <a:avLst>
              <a:gd fmla="val 50000" name="adj1"/>
              <a:gd fmla="val 50000" name="adj2"/>
            </a:avLst>
          </a:prstGeom>
          <a:solidFill>
            <a:schemeClr val="dk1"/>
          </a:solid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46" name="Google Shape;146;p8"/>
          <p:cNvSpPr/>
          <p:nvPr/>
        </p:nvSpPr>
        <p:spPr>
          <a:xfrm>
            <a:off x="9300250" y="5641275"/>
            <a:ext cx="2469384" cy="741814"/>
          </a:xfrm>
          <a:prstGeom prst="ribbon">
            <a:avLst>
              <a:gd fmla="val 16667" name="adj1"/>
              <a:gd fmla="val 73276" name="adj2"/>
            </a:avLst>
          </a:prstGeom>
          <a:solidFill>
            <a:schemeClr val="accent1"/>
          </a:solidFill>
          <a:ln cap="flat" cmpd="sng" w="12700">
            <a:solidFill>
              <a:srgbClr val="42719B"/>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US" sz="2800" u="none" cap="none" strike="noStrike">
                <a:solidFill>
                  <a:schemeClr val="lt1"/>
                </a:solidFill>
                <a:latin typeface="Calibri"/>
                <a:ea typeface="Calibri"/>
                <a:cs typeface="Calibri"/>
                <a:sym typeface="Calibri"/>
              </a:rPr>
              <a:t>Predictions</a:t>
            </a:r>
            <a:endParaRPr b="0" i="0" sz="1800" u="none" cap="none" strike="noStrike">
              <a:solidFill>
                <a:schemeClr val="lt1"/>
              </a:solidFill>
              <a:latin typeface="Calibri"/>
              <a:ea typeface="Calibri"/>
              <a:cs typeface="Calibri"/>
              <a:sym typeface="Calibri"/>
            </a:endParaRPr>
          </a:p>
        </p:txBody>
      </p:sp>
      <p:sp>
        <p:nvSpPr>
          <p:cNvPr id="147" name="Google Shape;147;p8"/>
          <p:cNvSpPr/>
          <p:nvPr/>
        </p:nvSpPr>
        <p:spPr>
          <a:xfrm>
            <a:off x="10252247" y="2913014"/>
            <a:ext cx="511547" cy="287383"/>
          </a:xfrm>
          <a:prstGeom prst="downArrow">
            <a:avLst>
              <a:gd fmla="val 50000" name="adj1"/>
              <a:gd fmla="val 50000" name="adj2"/>
            </a:avLst>
          </a:prstGeom>
          <a:solidFill>
            <a:schemeClr val="accent3"/>
          </a:solidFill>
          <a:ln cap="flat" cmpd="sng" w="19050">
            <a:solidFill>
              <a:schemeClr val="lt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48" name="Google Shape;148;p8"/>
          <p:cNvSpPr/>
          <p:nvPr/>
        </p:nvSpPr>
        <p:spPr>
          <a:xfrm rot="-2188212">
            <a:off x="634562" y="1877038"/>
            <a:ext cx="1269274" cy="608386"/>
          </a:xfrm>
          <a:prstGeom prst="curvedDownArrow">
            <a:avLst>
              <a:gd fmla="val 25000" name="adj1"/>
              <a:gd fmla="val 35494" name="adj2"/>
              <a:gd fmla="val 25000" name="adj3"/>
            </a:avLst>
          </a:prstGeom>
          <a:solidFill>
            <a:schemeClr val="accent1"/>
          </a:solidFill>
          <a:ln cap="flat" cmpd="sng" w="12700">
            <a:solidFill>
              <a:srgbClr val="42719B"/>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 name="Google Shape;149;p8"/>
          <p:cNvSpPr/>
          <p:nvPr/>
        </p:nvSpPr>
        <p:spPr>
          <a:xfrm rot="1094591">
            <a:off x="709726" y="3983562"/>
            <a:ext cx="1155919" cy="542739"/>
          </a:xfrm>
          <a:prstGeom prst="curvedUpArrow">
            <a:avLst>
              <a:gd fmla="val 25000" name="adj1"/>
              <a:gd fmla="val 50000" name="adj2"/>
              <a:gd fmla="val 25000" name="adj3"/>
            </a:avLst>
          </a:prstGeom>
          <a:solidFill>
            <a:schemeClr val="accent2"/>
          </a:solidFill>
          <a:ln cap="flat" cmpd="sng" w="12700">
            <a:solidFill>
              <a:srgbClr val="AC5B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Training and Testing</a:t>
            </a:r>
            <a:endParaRPr/>
          </a:p>
        </p:txBody>
      </p:sp>
      <p:sp>
        <p:nvSpPr>
          <p:cNvPr id="155" name="Google Shape;155;p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Training is learning</a:t>
            </a:r>
            <a:endParaRPr/>
          </a:p>
          <a:p>
            <a:pPr indent="-228600" lvl="1" marL="685800" rtl="0" algn="l">
              <a:lnSpc>
                <a:spcPct val="90000"/>
              </a:lnSpc>
              <a:spcBef>
                <a:spcPts val="500"/>
              </a:spcBef>
              <a:spcAft>
                <a:spcPts val="0"/>
              </a:spcAft>
              <a:buClr>
                <a:schemeClr val="dk1"/>
              </a:buClr>
              <a:buSzPts val="2400"/>
              <a:buChar char="•"/>
            </a:pPr>
            <a:r>
              <a:rPr lang="en-US"/>
              <a:t>Finds patterns</a:t>
            </a:r>
            <a:endParaRPr/>
          </a:p>
          <a:p>
            <a:pPr indent="-228600" lvl="1" marL="685800" rtl="0" algn="l">
              <a:lnSpc>
                <a:spcPct val="90000"/>
              </a:lnSpc>
              <a:spcBef>
                <a:spcPts val="500"/>
              </a:spcBef>
              <a:spcAft>
                <a:spcPts val="0"/>
              </a:spcAft>
              <a:buClr>
                <a:schemeClr val="dk1"/>
              </a:buClr>
              <a:buSzPts val="2400"/>
              <a:buChar char="•"/>
            </a:pPr>
            <a:r>
              <a:rPr lang="en-US"/>
              <a:t>Mapping</a:t>
            </a:r>
            <a:endParaRPr/>
          </a:p>
          <a:p>
            <a:pPr indent="0" lvl="1" marL="457200" rtl="0" algn="l">
              <a:lnSpc>
                <a:spcPct val="90000"/>
              </a:lnSpc>
              <a:spcBef>
                <a:spcPts val="500"/>
              </a:spcBef>
              <a:spcAft>
                <a:spcPts val="0"/>
              </a:spcAft>
              <a:buClr>
                <a:schemeClr val="dk1"/>
              </a:buClr>
              <a:buSzPts val="2400"/>
              <a:buNone/>
            </a:pPr>
            <a:r>
              <a:t/>
            </a:r>
            <a:endParaRPr/>
          </a:p>
          <a:p>
            <a:pPr indent="0" lvl="1" marL="457200" rtl="0" algn="l">
              <a:lnSpc>
                <a:spcPct val="90000"/>
              </a:lnSpc>
              <a:spcBef>
                <a:spcPts val="500"/>
              </a:spcBef>
              <a:spcAft>
                <a:spcPts val="0"/>
              </a:spcAft>
              <a:buClr>
                <a:schemeClr val="dk1"/>
              </a:buClr>
              <a:buSzPts val="2400"/>
              <a:buNone/>
            </a:pPr>
            <a:r>
              <a:t/>
            </a:r>
            <a:endParaRPr/>
          </a:p>
          <a:p>
            <a:pPr indent="-228600" lvl="0" marL="228600" rtl="0" algn="l">
              <a:lnSpc>
                <a:spcPct val="90000"/>
              </a:lnSpc>
              <a:spcBef>
                <a:spcPts val="1000"/>
              </a:spcBef>
              <a:spcAft>
                <a:spcPts val="0"/>
              </a:spcAft>
              <a:buClr>
                <a:schemeClr val="dk1"/>
              </a:buClr>
              <a:buSzPts val="2800"/>
              <a:buChar char="•"/>
            </a:pPr>
            <a:r>
              <a:rPr lang="en-US"/>
              <a:t>Testing</a:t>
            </a:r>
            <a:endParaRPr/>
          </a:p>
          <a:p>
            <a:pPr indent="-228600" lvl="1" marL="685800" rtl="0" algn="l">
              <a:lnSpc>
                <a:spcPct val="90000"/>
              </a:lnSpc>
              <a:spcBef>
                <a:spcPts val="500"/>
              </a:spcBef>
              <a:spcAft>
                <a:spcPts val="0"/>
              </a:spcAft>
              <a:buClr>
                <a:schemeClr val="dk1"/>
              </a:buClr>
              <a:buSzPts val="2400"/>
              <a:buChar char="•"/>
            </a:pPr>
            <a:r>
              <a:rPr lang="en-US"/>
              <a:t>Test machine for unknown inputs</a:t>
            </a:r>
            <a:endParaRPr/>
          </a:p>
          <a:p>
            <a:pPr indent="-228600" lvl="1" marL="685800" rtl="0" algn="l">
              <a:lnSpc>
                <a:spcPct val="90000"/>
              </a:lnSpc>
              <a:spcBef>
                <a:spcPts val="500"/>
              </a:spcBef>
              <a:spcAft>
                <a:spcPts val="0"/>
              </a:spcAft>
              <a:buClr>
                <a:schemeClr val="dk1"/>
              </a:buClr>
              <a:buSzPts val="2400"/>
              <a:buChar char="•"/>
            </a:pPr>
            <a:r>
              <a:rPr lang="en-US"/>
              <a:t>Unknown or user inputs are used in testing</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Types of Data Splitting</a:t>
            </a:r>
            <a:endParaRPr/>
          </a:p>
        </p:txBody>
      </p:sp>
      <p:sp>
        <p:nvSpPr>
          <p:cNvPr id="161" name="Google Shape;161;p10"/>
          <p:cNvSpPr txBox="1"/>
          <p:nvPr>
            <p:ph idx="1" type="body"/>
          </p:nvPr>
        </p:nvSpPr>
        <p:spPr>
          <a:xfrm>
            <a:off x="838200" y="1825625"/>
            <a:ext cx="10515600" cy="4748700"/>
          </a:xfrm>
          <a:prstGeom prst="rect">
            <a:avLst/>
          </a:prstGeom>
          <a:noFill/>
          <a:ln>
            <a:noFill/>
          </a:ln>
        </p:spPr>
        <p:txBody>
          <a:bodyPr anchorCtr="0" anchor="t" bIns="45700" lIns="91425" spcFirstLastPara="1" rIns="91425" wrap="square" tIns="45700">
            <a:normAutofit/>
          </a:bodyPr>
          <a:lstStyle/>
          <a:p>
            <a:pPr indent="-355600" lvl="0" marL="457200" rtl="0" algn="l">
              <a:lnSpc>
                <a:spcPct val="90000"/>
              </a:lnSpc>
              <a:spcBef>
                <a:spcPts val="0"/>
              </a:spcBef>
              <a:spcAft>
                <a:spcPts val="0"/>
              </a:spcAft>
              <a:buSzPts val="2000"/>
              <a:buChar char="•"/>
            </a:pPr>
            <a:r>
              <a:rPr lang="en-US" sz="3000"/>
              <a:t>Random training testing split</a:t>
            </a:r>
            <a:endParaRPr sz="3000"/>
          </a:p>
          <a:p>
            <a:pPr indent="-355600" lvl="0" marL="457200" rtl="0" algn="l">
              <a:lnSpc>
                <a:spcPct val="90000"/>
              </a:lnSpc>
              <a:spcBef>
                <a:spcPts val="0"/>
              </a:spcBef>
              <a:spcAft>
                <a:spcPts val="0"/>
              </a:spcAft>
              <a:buSzPts val="2000"/>
              <a:buChar char="•"/>
            </a:pPr>
            <a:r>
              <a:rPr lang="en-US" sz="3000"/>
              <a:t>Stratified training testing split </a:t>
            </a:r>
            <a:endParaRPr sz="3000"/>
          </a:p>
          <a:p>
            <a:pPr indent="-355600" lvl="0" marL="457200" rtl="0" algn="l">
              <a:lnSpc>
                <a:spcPct val="90000"/>
              </a:lnSpc>
              <a:spcBef>
                <a:spcPts val="0"/>
              </a:spcBef>
              <a:spcAft>
                <a:spcPts val="0"/>
              </a:spcAft>
              <a:buSzPts val="2000"/>
              <a:buChar char="•"/>
            </a:pPr>
            <a:r>
              <a:rPr lang="en-US" sz="3000"/>
              <a:t>k-fold cross validation (k-fold)</a:t>
            </a:r>
            <a:endParaRPr sz="3000"/>
          </a:p>
          <a:p>
            <a:pPr indent="-355600" lvl="0" marL="457200" rtl="0" algn="l">
              <a:lnSpc>
                <a:spcPct val="90000"/>
              </a:lnSpc>
              <a:spcBef>
                <a:spcPts val="0"/>
              </a:spcBef>
              <a:spcAft>
                <a:spcPts val="0"/>
              </a:spcAft>
              <a:buSzPts val="2000"/>
              <a:buChar char="•"/>
            </a:pPr>
            <a:r>
              <a:rPr lang="en-US" sz="3000"/>
              <a:t>S</a:t>
            </a:r>
            <a:r>
              <a:rPr lang="en-US" sz="3000"/>
              <a:t>tratified k-fold Cross validation</a:t>
            </a:r>
            <a:endParaRPr sz="3000"/>
          </a:p>
          <a:p>
            <a:pPr indent="-355600" lvl="0" marL="457200" rtl="0" algn="l">
              <a:lnSpc>
                <a:spcPct val="90000"/>
              </a:lnSpc>
              <a:spcBef>
                <a:spcPts val="0"/>
              </a:spcBef>
              <a:spcAft>
                <a:spcPts val="0"/>
              </a:spcAft>
              <a:buSzPts val="2000"/>
              <a:buChar char="•"/>
            </a:pPr>
            <a:r>
              <a:rPr lang="en-US" sz="3000"/>
              <a:t>Leave One out Cross Validation (LOOCV)</a:t>
            </a:r>
            <a:endParaRPr sz="3000"/>
          </a:p>
          <a:p>
            <a:pPr indent="-355600" lvl="0" marL="457200" rtl="0" algn="l">
              <a:lnSpc>
                <a:spcPct val="90000"/>
              </a:lnSpc>
              <a:spcBef>
                <a:spcPts val="0"/>
              </a:spcBef>
              <a:spcAft>
                <a:spcPts val="0"/>
              </a:spcAft>
              <a:buSzPts val="2000"/>
              <a:buChar char="•"/>
            </a:pPr>
            <a:r>
              <a:rPr lang="en-US" sz="3000"/>
              <a:t>Shuffle-Split</a:t>
            </a:r>
            <a:endParaRPr sz="30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Random Training and Testing split</a:t>
            </a:r>
            <a:endParaRPr/>
          </a:p>
        </p:txBody>
      </p:sp>
      <p:sp>
        <p:nvSpPr>
          <p:cNvPr id="167" name="Google Shape;167;p11"/>
          <p:cNvSpPr txBox="1"/>
          <p:nvPr>
            <p:ph idx="1" type="body"/>
          </p:nvPr>
        </p:nvSpPr>
        <p:spPr>
          <a:xfrm>
            <a:off x="838200" y="1481070"/>
            <a:ext cx="6477000" cy="4958367"/>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All input data is split in two parts</a:t>
            </a:r>
            <a:endParaRPr/>
          </a:p>
          <a:p>
            <a:pPr indent="-228600" lvl="1" marL="685800" rtl="0" algn="l">
              <a:lnSpc>
                <a:spcPct val="90000"/>
              </a:lnSpc>
              <a:spcBef>
                <a:spcPts val="500"/>
              </a:spcBef>
              <a:spcAft>
                <a:spcPts val="0"/>
              </a:spcAft>
              <a:buClr>
                <a:schemeClr val="dk1"/>
              </a:buClr>
              <a:buSzPts val="2400"/>
              <a:buChar char="•"/>
            </a:pPr>
            <a:r>
              <a:rPr lang="en-US"/>
              <a:t>A. Training</a:t>
            </a:r>
            <a:endParaRPr/>
          </a:p>
          <a:p>
            <a:pPr indent="-228600" lvl="1" marL="685800" rtl="0" algn="l">
              <a:lnSpc>
                <a:spcPct val="90000"/>
              </a:lnSpc>
              <a:spcBef>
                <a:spcPts val="500"/>
              </a:spcBef>
              <a:spcAft>
                <a:spcPts val="0"/>
              </a:spcAft>
              <a:buClr>
                <a:schemeClr val="dk1"/>
              </a:buClr>
              <a:buSzPts val="2400"/>
              <a:buChar char="•"/>
            </a:pPr>
            <a:r>
              <a:rPr lang="en-US"/>
              <a:t>B. Testing</a:t>
            </a:r>
            <a:endParaRPr/>
          </a:p>
          <a:p>
            <a:pPr indent="-228600" lvl="0" marL="228600" rtl="0" algn="l">
              <a:lnSpc>
                <a:spcPct val="90000"/>
              </a:lnSpc>
              <a:spcBef>
                <a:spcPts val="1000"/>
              </a:spcBef>
              <a:spcAft>
                <a:spcPts val="0"/>
              </a:spcAft>
              <a:buClr>
                <a:schemeClr val="dk1"/>
              </a:buClr>
              <a:buSzPts val="2800"/>
              <a:buChar char="•"/>
            </a:pPr>
            <a:r>
              <a:rPr lang="en-US"/>
              <a:t>Example: we have 10 records</a:t>
            </a:r>
            <a:endParaRPr/>
          </a:p>
          <a:p>
            <a:pPr indent="-228600" lvl="0" marL="228600" rtl="0" algn="l">
              <a:lnSpc>
                <a:spcPct val="90000"/>
              </a:lnSpc>
              <a:spcBef>
                <a:spcPts val="1000"/>
              </a:spcBef>
              <a:spcAft>
                <a:spcPts val="0"/>
              </a:spcAft>
              <a:buClr>
                <a:schemeClr val="dk1"/>
              </a:buClr>
              <a:buSzPts val="2800"/>
              <a:buChar char="•"/>
            </a:pPr>
            <a:r>
              <a:rPr lang="en-US"/>
              <a:t>Training – 60% - random 6 records</a:t>
            </a:r>
            <a:br>
              <a:rPr lang="en-US"/>
            </a:br>
            <a:r>
              <a:rPr lang="en-US"/>
              <a:t>testing 40% - random 4 records</a:t>
            </a:r>
            <a:endParaRPr/>
          </a:p>
          <a:p>
            <a:pPr indent="-228600" lvl="0" marL="228600" rtl="0" algn="l">
              <a:lnSpc>
                <a:spcPct val="90000"/>
              </a:lnSpc>
              <a:spcBef>
                <a:spcPts val="1000"/>
              </a:spcBef>
              <a:spcAft>
                <a:spcPts val="0"/>
              </a:spcAft>
              <a:buClr>
                <a:schemeClr val="dk1"/>
              </a:buClr>
              <a:buSzPts val="2800"/>
              <a:buChar char="•"/>
            </a:pPr>
            <a:r>
              <a:rPr lang="en-US"/>
              <a:t>So target is machine should give good performance on testing data</a:t>
            </a:r>
            <a:endParaRPr/>
          </a:p>
          <a:p>
            <a:pPr indent="-228600" lvl="0" marL="228600" rtl="0" algn="l">
              <a:lnSpc>
                <a:spcPct val="90000"/>
              </a:lnSpc>
              <a:spcBef>
                <a:spcPts val="1000"/>
              </a:spcBef>
              <a:spcAft>
                <a:spcPts val="0"/>
              </a:spcAft>
              <a:buClr>
                <a:schemeClr val="dk1"/>
              </a:buClr>
              <a:buSzPts val="2800"/>
              <a:buChar char="•"/>
            </a:pPr>
            <a:r>
              <a:rPr lang="en-US" u="sng"/>
              <a:t>Dis advantage: </a:t>
            </a:r>
            <a:r>
              <a:rPr lang="en-US"/>
              <a:t>Model performance depends on patterns of data in training and testing</a:t>
            </a:r>
            <a:endParaRPr/>
          </a:p>
        </p:txBody>
      </p:sp>
      <p:graphicFrame>
        <p:nvGraphicFramePr>
          <p:cNvPr id="168" name="Google Shape;168;p11"/>
          <p:cNvGraphicFramePr/>
          <p:nvPr/>
        </p:nvGraphicFramePr>
        <p:xfrm>
          <a:off x="8319752" y="1562372"/>
          <a:ext cx="3000000" cy="3000000"/>
        </p:xfrm>
        <a:graphic>
          <a:graphicData uri="http://schemas.openxmlformats.org/drawingml/2006/table">
            <a:tbl>
              <a:tblPr bandRow="1" firstRow="1">
                <a:noFill/>
                <a:tableStyleId>{DA69C3A7-CB41-451B-93CA-68B10983C4BA}</a:tableStyleId>
              </a:tblPr>
              <a:tblGrid>
                <a:gridCol w="688650"/>
                <a:gridCol w="688650"/>
                <a:gridCol w="688650"/>
                <a:gridCol w="688650"/>
              </a:tblGrid>
              <a:tr h="370850">
                <a:tc>
                  <a:txBody>
                    <a:bodyPr/>
                    <a:lstStyle/>
                    <a:p>
                      <a:pPr indent="0" lvl="0" marL="0" marR="0" rtl="0" algn="l">
                        <a:spcBef>
                          <a:spcPts val="0"/>
                        </a:spcBef>
                        <a:spcAft>
                          <a:spcPts val="0"/>
                        </a:spcAft>
                        <a:buNone/>
                      </a:pPr>
                      <a:r>
                        <a:rPr lang="en-US" sz="1800" u="none" cap="none" strike="noStrike"/>
                        <a:t>No</a:t>
                      </a:r>
                      <a:endParaRPr sz="1800"/>
                    </a:p>
                  </a:txBody>
                  <a:tcPr marT="45725" marB="45725" marR="91450" marL="91450"/>
                </a:tc>
                <a:tc>
                  <a:txBody>
                    <a:bodyPr/>
                    <a:lstStyle/>
                    <a:p>
                      <a:pPr indent="0" lvl="0" marL="0" marR="0" rtl="0" algn="l">
                        <a:spcBef>
                          <a:spcPts val="0"/>
                        </a:spcBef>
                        <a:spcAft>
                          <a:spcPts val="0"/>
                        </a:spcAft>
                        <a:buNone/>
                      </a:pPr>
                      <a:r>
                        <a:rPr lang="en-US" sz="1800"/>
                        <a:t>F1</a:t>
                      </a:r>
                      <a:endParaRPr sz="1800"/>
                    </a:p>
                  </a:txBody>
                  <a:tcPr marT="45725" marB="45725" marR="91450" marL="91450"/>
                </a:tc>
                <a:tc>
                  <a:txBody>
                    <a:bodyPr/>
                    <a:lstStyle/>
                    <a:p>
                      <a:pPr indent="0" lvl="0" marL="0" marR="0" rtl="0" algn="l">
                        <a:spcBef>
                          <a:spcPts val="0"/>
                        </a:spcBef>
                        <a:spcAft>
                          <a:spcPts val="0"/>
                        </a:spcAft>
                        <a:buNone/>
                      </a:pPr>
                      <a:r>
                        <a:rPr lang="en-US" sz="1800"/>
                        <a:t>F2</a:t>
                      </a:r>
                      <a:endParaRPr sz="1800"/>
                    </a:p>
                  </a:txBody>
                  <a:tcPr marT="45725" marB="45725" marR="91450" marL="91450"/>
                </a:tc>
                <a:tc>
                  <a:txBody>
                    <a:bodyPr/>
                    <a:lstStyle/>
                    <a:p>
                      <a:pPr indent="0" lvl="0" marL="0" marR="0" rtl="0" algn="l">
                        <a:spcBef>
                          <a:spcPts val="0"/>
                        </a:spcBef>
                        <a:spcAft>
                          <a:spcPts val="0"/>
                        </a:spcAft>
                        <a:buNone/>
                      </a:pPr>
                      <a:r>
                        <a:rPr lang="en-US" sz="1800">
                          <a:solidFill>
                            <a:schemeClr val="lt1"/>
                          </a:solidFill>
                        </a:rPr>
                        <a:t>Y</a:t>
                      </a:r>
                      <a:endParaRPr sz="1800">
                        <a:solidFill>
                          <a:schemeClr val="lt1"/>
                        </a:solidFill>
                      </a:endParaRPr>
                    </a:p>
                  </a:txBody>
                  <a:tcPr marT="45725" marB="45725" marR="91450" marL="91450"/>
                </a:tc>
              </a:tr>
              <a:tr h="370850">
                <a:tc>
                  <a:txBody>
                    <a:bodyPr/>
                    <a:lstStyle/>
                    <a:p>
                      <a:pPr indent="0" lvl="0" marL="0" marR="0" rtl="0" algn="l">
                        <a:spcBef>
                          <a:spcPts val="0"/>
                        </a:spcBef>
                        <a:spcAft>
                          <a:spcPts val="0"/>
                        </a:spcAft>
                        <a:buNone/>
                      </a:pPr>
                      <a:r>
                        <a:rPr lang="en-US" sz="1800"/>
                        <a:t>1</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1</a:t>
                      </a:r>
                      <a:endParaRPr sz="1800"/>
                    </a:p>
                  </a:txBody>
                  <a:tcPr marT="45725" marB="45725" marR="91450" marL="91450"/>
                </a:tc>
              </a:tr>
              <a:tr h="370850">
                <a:tc>
                  <a:txBody>
                    <a:bodyPr/>
                    <a:lstStyle/>
                    <a:p>
                      <a:pPr indent="0" lvl="0" marL="0" marR="0" rtl="0" algn="l">
                        <a:spcBef>
                          <a:spcPts val="0"/>
                        </a:spcBef>
                        <a:spcAft>
                          <a:spcPts val="0"/>
                        </a:spcAft>
                        <a:buNone/>
                      </a:pPr>
                      <a:r>
                        <a:rPr lang="en-US" sz="1800"/>
                        <a:t>2</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1</a:t>
                      </a:r>
                      <a:endParaRPr sz="1800"/>
                    </a:p>
                  </a:txBody>
                  <a:tcPr marT="45725" marB="45725" marR="91450" marL="91450"/>
                </a:tc>
              </a:tr>
              <a:tr h="370850">
                <a:tc>
                  <a:txBody>
                    <a:bodyPr/>
                    <a:lstStyle/>
                    <a:p>
                      <a:pPr indent="0" lvl="0" marL="0" marR="0" rtl="0" algn="l">
                        <a:spcBef>
                          <a:spcPts val="0"/>
                        </a:spcBef>
                        <a:spcAft>
                          <a:spcPts val="0"/>
                        </a:spcAft>
                        <a:buNone/>
                      </a:pPr>
                      <a:r>
                        <a:rPr lang="en-US" sz="1800"/>
                        <a:t>3</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1</a:t>
                      </a:r>
                      <a:endParaRPr sz="1800"/>
                    </a:p>
                  </a:txBody>
                  <a:tcPr marT="45725" marB="45725" marR="91450" marL="91450"/>
                </a:tc>
              </a:tr>
              <a:tr h="370850">
                <a:tc>
                  <a:txBody>
                    <a:bodyPr/>
                    <a:lstStyle/>
                    <a:p>
                      <a:pPr indent="0" lvl="0" marL="0" marR="0" rtl="0" algn="l">
                        <a:spcBef>
                          <a:spcPts val="0"/>
                        </a:spcBef>
                        <a:spcAft>
                          <a:spcPts val="0"/>
                        </a:spcAft>
                        <a:buNone/>
                      </a:pPr>
                      <a:r>
                        <a:rPr lang="en-US" sz="1800"/>
                        <a:t>4</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1</a:t>
                      </a:r>
                      <a:endParaRPr sz="1800"/>
                    </a:p>
                  </a:txBody>
                  <a:tcPr marT="45725" marB="45725" marR="91450" marL="91450"/>
                </a:tc>
              </a:tr>
              <a:tr h="370850">
                <a:tc>
                  <a:txBody>
                    <a:bodyPr/>
                    <a:lstStyle/>
                    <a:p>
                      <a:pPr indent="0" lvl="0" marL="0" marR="0" rtl="0" algn="l">
                        <a:spcBef>
                          <a:spcPts val="0"/>
                        </a:spcBef>
                        <a:spcAft>
                          <a:spcPts val="0"/>
                        </a:spcAft>
                        <a:buNone/>
                      </a:pPr>
                      <a:r>
                        <a:rPr lang="en-US" sz="1800"/>
                        <a:t>5</a:t>
                      </a:r>
                      <a:endParaRPr sz="1800"/>
                    </a:p>
                  </a:txBody>
                  <a:tcPr marT="45725" marB="45725" marR="91450" marL="91450">
                    <a:solidFill>
                      <a:srgbClr val="92D050"/>
                    </a:solidFill>
                  </a:tcPr>
                </a:tc>
                <a:tc>
                  <a:txBody>
                    <a:bodyPr/>
                    <a:lstStyle/>
                    <a:p>
                      <a:pPr indent="0" lvl="0" marL="0" marR="0" rtl="0" algn="l">
                        <a:spcBef>
                          <a:spcPts val="0"/>
                        </a:spcBef>
                        <a:spcAft>
                          <a:spcPts val="0"/>
                        </a:spcAft>
                        <a:buNone/>
                      </a:pPr>
                      <a:r>
                        <a:t/>
                      </a:r>
                      <a:endParaRPr sz="1800"/>
                    </a:p>
                  </a:txBody>
                  <a:tcPr marT="45725" marB="45725" marR="91450" marL="91450">
                    <a:solidFill>
                      <a:srgbClr val="92D050"/>
                    </a:solidFill>
                  </a:tcPr>
                </a:tc>
                <a:tc>
                  <a:txBody>
                    <a:bodyPr/>
                    <a:lstStyle/>
                    <a:p>
                      <a:pPr indent="0" lvl="0" marL="0" marR="0" rtl="0" algn="l">
                        <a:spcBef>
                          <a:spcPts val="0"/>
                        </a:spcBef>
                        <a:spcAft>
                          <a:spcPts val="0"/>
                        </a:spcAft>
                        <a:buNone/>
                      </a:pPr>
                      <a:r>
                        <a:t/>
                      </a:r>
                      <a:endParaRPr sz="1800"/>
                    </a:p>
                  </a:txBody>
                  <a:tcPr marT="45725" marB="45725" marR="91450" marL="91450">
                    <a:solidFill>
                      <a:srgbClr val="92D050"/>
                    </a:solidFill>
                  </a:tcPr>
                </a:tc>
                <a:tc>
                  <a:txBody>
                    <a:bodyPr/>
                    <a:lstStyle/>
                    <a:p>
                      <a:pPr indent="0" lvl="0" marL="0" marR="0" rtl="0" algn="l">
                        <a:spcBef>
                          <a:spcPts val="0"/>
                        </a:spcBef>
                        <a:spcAft>
                          <a:spcPts val="0"/>
                        </a:spcAft>
                        <a:buNone/>
                      </a:pPr>
                      <a:r>
                        <a:rPr lang="en-US" sz="1800"/>
                        <a:t>1</a:t>
                      </a:r>
                      <a:endParaRPr sz="1800"/>
                    </a:p>
                  </a:txBody>
                  <a:tcPr marT="45725" marB="45725" marR="91450" marL="91450">
                    <a:solidFill>
                      <a:srgbClr val="92D050"/>
                    </a:solidFill>
                  </a:tcPr>
                </a:tc>
              </a:tr>
              <a:tr h="370850">
                <a:tc>
                  <a:txBody>
                    <a:bodyPr/>
                    <a:lstStyle/>
                    <a:p>
                      <a:pPr indent="0" lvl="0" marL="0" marR="0" rtl="0" algn="l">
                        <a:spcBef>
                          <a:spcPts val="0"/>
                        </a:spcBef>
                        <a:spcAft>
                          <a:spcPts val="0"/>
                        </a:spcAft>
                        <a:buNone/>
                      </a:pPr>
                      <a:r>
                        <a:rPr lang="en-US" sz="1800"/>
                        <a:t>6</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0</a:t>
                      </a:r>
                      <a:endParaRPr sz="1800"/>
                    </a:p>
                  </a:txBody>
                  <a:tcPr marT="45725" marB="45725" marR="91450" marL="91450"/>
                </a:tc>
              </a:tr>
              <a:tr h="370850">
                <a:tc>
                  <a:txBody>
                    <a:bodyPr/>
                    <a:lstStyle/>
                    <a:p>
                      <a:pPr indent="0" lvl="0" marL="0" marR="0" rtl="0" algn="l">
                        <a:spcBef>
                          <a:spcPts val="0"/>
                        </a:spcBef>
                        <a:spcAft>
                          <a:spcPts val="0"/>
                        </a:spcAft>
                        <a:buNone/>
                      </a:pPr>
                      <a:r>
                        <a:rPr lang="en-US" sz="1800"/>
                        <a:t>7</a:t>
                      </a:r>
                      <a:endParaRPr sz="1800"/>
                    </a:p>
                  </a:txBody>
                  <a:tcPr marT="45725" marB="45725" marR="91450" marL="91450">
                    <a:solidFill>
                      <a:srgbClr val="92D050"/>
                    </a:solidFill>
                  </a:tcPr>
                </a:tc>
                <a:tc>
                  <a:txBody>
                    <a:bodyPr/>
                    <a:lstStyle/>
                    <a:p>
                      <a:pPr indent="0" lvl="0" marL="0" marR="0" rtl="0" algn="l">
                        <a:spcBef>
                          <a:spcPts val="0"/>
                        </a:spcBef>
                        <a:spcAft>
                          <a:spcPts val="0"/>
                        </a:spcAft>
                        <a:buNone/>
                      </a:pPr>
                      <a:r>
                        <a:t/>
                      </a:r>
                      <a:endParaRPr sz="1800"/>
                    </a:p>
                  </a:txBody>
                  <a:tcPr marT="45725" marB="45725" marR="91450" marL="91450">
                    <a:solidFill>
                      <a:srgbClr val="92D050"/>
                    </a:solidFill>
                  </a:tcPr>
                </a:tc>
                <a:tc>
                  <a:txBody>
                    <a:bodyPr/>
                    <a:lstStyle/>
                    <a:p>
                      <a:pPr indent="0" lvl="0" marL="0" marR="0" rtl="0" algn="l">
                        <a:spcBef>
                          <a:spcPts val="0"/>
                        </a:spcBef>
                        <a:spcAft>
                          <a:spcPts val="0"/>
                        </a:spcAft>
                        <a:buNone/>
                      </a:pPr>
                      <a:r>
                        <a:t/>
                      </a:r>
                      <a:endParaRPr sz="1800"/>
                    </a:p>
                  </a:txBody>
                  <a:tcPr marT="45725" marB="45725" marR="91450" marL="91450">
                    <a:solidFill>
                      <a:srgbClr val="92D050"/>
                    </a:solidFill>
                  </a:tcPr>
                </a:tc>
                <a:tc>
                  <a:txBody>
                    <a:bodyPr/>
                    <a:lstStyle/>
                    <a:p>
                      <a:pPr indent="0" lvl="0" marL="0" marR="0" rtl="0" algn="l">
                        <a:spcBef>
                          <a:spcPts val="0"/>
                        </a:spcBef>
                        <a:spcAft>
                          <a:spcPts val="0"/>
                        </a:spcAft>
                        <a:buNone/>
                      </a:pPr>
                      <a:r>
                        <a:rPr lang="en-US" sz="1800"/>
                        <a:t>0</a:t>
                      </a:r>
                      <a:endParaRPr sz="1800"/>
                    </a:p>
                  </a:txBody>
                  <a:tcPr marT="45725" marB="45725" marR="91450" marL="91450">
                    <a:solidFill>
                      <a:srgbClr val="92D050"/>
                    </a:solidFill>
                  </a:tcPr>
                </a:tc>
              </a:tr>
              <a:tr h="370850">
                <a:tc>
                  <a:txBody>
                    <a:bodyPr/>
                    <a:lstStyle/>
                    <a:p>
                      <a:pPr indent="0" lvl="0" marL="0" marR="0" rtl="0" algn="l">
                        <a:spcBef>
                          <a:spcPts val="0"/>
                        </a:spcBef>
                        <a:spcAft>
                          <a:spcPts val="0"/>
                        </a:spcAft>
                        <a:buNone/>
                      </a:pPr>
                      <a:r>
                        <a:rPr lang="en-US" sz="1800"/>
                        <a:t>8</a:t>
                      </a:r>
                      <a:endParaRPr sz="1800"/>
                    </a:p>
                  </a:txBody>
                  <a:tcPr marT="45725" marB="45725" marR="91450" marL="91450">
                    <a:solidFill>
                      <a:srgbClr val="92D050"/>
                    </a:solidFill>
                  </a:tcPr>
                </a:tc>
                <a:tc>
                  <a:txBody>
                    <a:bodyPr/>
                    <a:lstStyle/>
                    <a:p>
                      <a:pPr indent="0" lvl="0" marL="0" marR="0" rtl="0" algn="l">
                        <a:spcBef>
                          <a:spcPts val="0"/>
                        </a:spcBef>
                        <a:spcAft>
                          <a:spcPts val="0"/>
                        </a:spcAft>
                        <a:buNone/>
                      </a:pPr>
                      <a:r>
                        <a:t/>
                      </a:r>
                      <a:endParaRPr sz="1800"/>
                    </a:p>
                  </a:txBody>
                  <a:tcPr marT="45725" marB="45725" marR="91450" marL="91450">
                    <a:solidFill>
                      <a:srgbClr val="92D050"/>
                    </a:solidFill>
                  </a:tcPr>
                </a:tc>
                <a:tc>
                  <a:txBody>
                    <a:bodyPr/>
                    <a:lstStyle/>
                    <a:p>
                      <a:pPr indent="0" lvl="0" marL="0" marR="0" rtl="0" algn="l">
                        <a:spcBef>
                          <a:spcPts val="0"/>
                        </a:spcBef>
                        <a:spcAft>
                          <a:spcPts val="0"/>
                        </a:spcAft>
                        <a:buNone/>
                      </a:pPr>
                      <a:r>
                        <a:t/>
                      </a:r>
                      <a:endParaRPr sz="1800"/>
                    </a:p>
                  </a:txBody>
                  <a:tcPr marT="45725" marB="45725" marR="91450" marL="91450">
                    <a:solidFill>
                      <a:srgbClr val="92D050"/>
                    </a:solidFill>
                  </a:tcPr>
                </a:tc>
                <a:tc>
                  <a:txBody>
                    <a:bodyPr/>
                    <a:lstStyle/>
                    <a:p>
                      <a:pPr indent="0" lvl="0" marL="0" marR="0" rtl="0" algn="l">
                        <a:spcBef>
                          <a:spcPts val="0"/>
                        </a:spcBef>
                        <a:spcAft>
                          <a:spcPts val="0"/>
                        </a:spcAft>
                        <a:buNone/>
                      </a:pPr>
                      <a:r>
                        <a:rPr lang="en-US" sz="1800"/>
                        <a:t>0</a:t>
                      </a:r>
                      <a:endParaRPr sz="1800"/>
                    </a:p>
                  </a:txBody>
                  <a:tcPr marT="45725" marB="45725" marR="91450" marL="91450">
                    <a:solidFill>
                      <a:srgbClr val="92D050"/>
                    </a:solidFill>
                  </a:tcPr>
                </a:tc>
              </a:tr>
              <a:tr h="370850">
                <a:tc>
                  <a:txBody>
                    <a:bodyPr/>
                    <a:lstStyle/>
                    <a:p>
                      <a:pPr indent="0" lvl="0" marL="0" marR="0" rtl="0" algn="l">
                        <a:spcBef>
                          <a:spcPts val="0"/>
                        </a:spcBef>
                        <a:spcAft>
                          <a:spcPts val="0"/>
                        </a:spcAft>
                        <a:buNone/>
                      </a:pPr>
                      <a:r>
                        <a:rPr lang="en-US" sz="1800"/>
                        <a:t>9</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0</a:t>
                      </a:r>
                      <a:endParaRPr sz="1800"/>
                    </a:p>
                  </a:txBody>
                  <a:tcPr marT="45725" marB="45725" marR="91450" marL="91450"/>
                </a:tc>
              </a:tr>
              <a:tr h="370850">
                <a:tc>
                  <a:txBody>
                    <a:bodyPr/>
                    <a:lstStyle/>
                    <a:p>
                      <a:pPr indent="0" lvl="0" marL="0" marR="0" rtl="0" algn="l">
                        <a:spcBef>
                          <a:spcPts val="0"/>
                        </a:spcBef>
                        <a:spcAft>
                          <a:spcPts val="0"/>
                        </a:spcAft>
                        <a:buNone/>
                      </a:pPr>
                      <a:r>
                        <a:rPr lang="en-US" sz="1800"/>
                        <a:t>10</a:t>
                      </a:r>
                      <a:endParaRPr sz="1800"/>
                    </a:p>
                  </a:txBody>
                  <a:tcPr marT="45725" marB="45725" marR="91450" marL="91450">
                    <a:solidFill>
                      <a:srgbClr val="92D050"/>
                    </a:solidFill>
                  </a:tcPr>
                </a:tc>
                <a:tc>
                  <a:txBody>
                    <a:bodyPr/>
                    <a:lstStyle/>
                    <a:p>
                      <a:pPr indent="0" lvl="0" marL="0" marR="0" rtl="0" algn="l">
                        <a:spcBef>
                          <a:spcPts val="0"/>
                        </a:spcBef>
                        <a:spcAft>
                          <a:spcPts val="0"/>
                        </a:spcAft>
                        <a:buNone/>
                      </a:pPr>
                      <a:r>
                        <a:t/>
                      </a:r>
                      <a:endParaRPr sz="1800"/>
                    </a:p>
                  </a:txBody>
                  <a:tcPr marT="45725" marB="45725" marR="91450" marL="91450">
                    <a:solidFill>
                      <a:srgbClr val="92D050"/>
                    </a:solidFill>
                  </a:tcPr>
                </a:tc>
                <a:tc>
                  <a:txBody>
                    <a:bodyPr/>
                    <a:lstStyle/>
                    <a:p>
                      <a:pPr indent="0" lvl="0" marL="0" marR="0" rtl="0" algn="l">
                        <a:spcBef>
                          <a:spcPts val="0"/>
                        </a:spcBef>
                        <a:spcAft>
                          <a:spcPts val="0"/>
                        </a:spcAft>
                        <a:buNone/>
                      </a:pPr>
                      <a:r>
                        <a:t/>
                      </a:r>
                      <a:endParaRPr sz="1800"/>
                    </a:p>
                  </a:txBody>
                  <a:tcPr marT="45725" marB="45725" marR="91450" marL="91450">
                    <a:solidFill>
                      <a:srgbClr val="92D050"/>
                    </a:solidFill>
                  </a:tcPr>
                </a:tc>
                <a:tc>
                  <a:txBody>
                    <a:bodyPr/>
                    <a:lstStyle/>
                    <a:p>
                      <a:pPr indent="0" lvl="0" marL="0" marR="0" rtl="0" algn="l">
                        <a:spcBef>
                          <a:spcPts val="0"/>
                        </a:spcBef>
                        <a:spcAft>
                          <a:spcPts val="0"/>
                        </a:spcAft>
                        <a:buNone/>
                      </a:pPr>
                      <a:r>
                        <a:rPr lang="en-US" sz="1800"/>
                        <a:t>0</a:t>
                      </a:r>
                      <a:endParaRPr sz="1800"/>
                    </a:p>
                  </a:txBody>
                  <a:tcPr marT="45725" marB="45725" marR="91450" marL="91450">
                    <a:solidFill>
                      <a:srgbClr val="92D050"/>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1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Stratified Training and Testing split</a:t>
            </a:r>
            <a:endParaRPr/>
          </a:p>
        </p:txBody>
      </p:sp>
      <p:sp>
        <p:nvSpPr>
          <p:cNvPr id="174" name="Google Shape;174;p12"/>
          <p:cNvSpPr txBox="1"/>
          <p:nvPr>
            <p:ph idx="1" type="body"/>
          </p:nvPr>
        </p:nvSpPr>
        <p:spPr>
          <a:xfrm>
            <a:off x="838200" y="1481070"/>
            <a:ext cx="6477000" cy="4958367"/>
          </a:xfrm>
          <a:prstGeom prst="rect">
            <a:avLst/>
          </a:prstGeom>
          <a:noFill/>
          <a:ln>
            <a:noFill/>
          </a:ln>
        </p:spPr>
        <p:txBody>
          <a:bodyPr anchorCtr="0" anchor="t" bIns="45700" lIns="91425" spcFirstLastPara="1" rIns="91425" wrap="square" tIns="45700">
            <a:normAutofit fontScale="85000" lnSpcReduction="20000"/>
          </a:bodyPr>
          <a:lstStyle/>
          <a:p>
            <a:pPr indent="-228600" lvl="0" marL="228600" rtl="0" algn="l">
              <a:lnSpc>
                <a:spcPct val="90000"/>
              </a:lnSpc>
              <a:spcBef>
                <a:spcPts val="0"/>
              </a:spcBef>
              <a:spcAft>
                <a:spcPts val="0"/>
              </a:spcAft>
              <a:buClr>
                <a:schemeClr val="dk1"/>
              </a:buClr>
              <a:buSzPct val="100000"/>
              <a:buChar char="•"/>
            </a:pPr>
            <a:r>
              <a:rPr lang="en-US"/>
              <a:t>Balances the target class in training and test data</a:t>
            </a:r>
            <a:endParaRPr/>
          </a:p>
          <a:p>
            <a:pPr indent="-77470" lvl="0" marL="228600" rtl="0" algn="l">
              <a:lnSpc>
                <a:spcPct val="90000"/>
              </a:lnSpc>
              <a:spcBef>
                <a:spcPts val="1000"/>
              </a:spcBef>
              <a:spcAft>
                <a:spcPts val="0"/>
              </a:spcAft>
              <a:buClr>
                <a:schemeClr val="dk1"/>
              </a:buClr>
              <a:buSzPct val="100000"/>
              <a:buNone/>
            </a:pPr>
            <a:r>
              <a:t/>
            </a:r>
            <a:endParaRPr/>
          </a:p>
          <a:p>
            <a:pPr indent="-228600" lvl="0" marL="228600" rtl="0" algn="l">
              <a:lnSpc>
                <a:spcPct val="90000"/>
              </a:lnSpc>
              <a:spcBef>
                <a:spcPts val="1000"/>
              </a:spcBef>
              <a:spcAft>
                <a:spcPts val="0"/>
              </a:spcAft>
              <a:buClr>
                <a:schemeClr val="dk1"/>
              </a:buClr>
              <a:buSzPct val="100000"/>
              <a:buChar char="•"/>
            </a:pPr>
            <a:r>
              <a:rPr lang="en-US"/>
              <a:t>Example: we have 10 records</a:t>
            </a:r>
            <a:endParaRPr/>
          </a:p>
          <a:p>
            <a:pPr indent="-228600" lvl="0" marL="228600" rtl="0" algn="l">
              <a:lnSpc>
                <a:spcPct val="90000"/>
              </a:lnSpc>
              <a:spcBef>
                <a:spcPts val="1000"/>
              </a:spcBef>
              <a:spcAft>
                <a:spcPts val="0"/>
              </a:spcAft>
              <a:buClr>
                <a:schemeClr val="dk1"/>
              </a:buClr>
              <a:buSzPct val="100000"/>
              <a:buChar char="•"/>
            </a:pPr>
            <a:r>
              <a:rPr lang="en-US"/>
              <a:t>Y== 0</a:t>
            </a:r>
            <a:endParaRPr/>
          </a:p>
          <a:p>
            <a:pPr indent="-228600" lvl="0" marL="228600" rtl="0" algn="l">
              <a:lnSpc>
                <a:spcPct val="90000"/>
              </a:lnSpc>
              <a:spcBef>
                <a:spcPts val="1000"/>
              </a:spcBef>
              <a:spcAft>
                <a:spcPts val="0"/>
              </a:spcAft>
              <a:buClr>
                <a:schemeClr val="dk1"/>
              </a:buClr>
              <a:buSzPct val="100000"/>
              <a:buChar char="•"/>
            </a:pPr>
            <a:r>
              <a:rPr lang="en-US"/>
              <a:t>Training - 60% - random 3 records</a:t>
            </a:r>
            <a:br>
              <a:rPr lang="en-US"/>
            </a:br>
            <a:r>
              <a:rPr lang="en-US"/>
              <a:t>testing - 40% - random 2 records</a:t>
            </a:r>
            <a:endParaRPr/>
          </a:p>
          <a:p>
            <a:pPr indent="-77470" lvl="0" marL="228600" rtl="0" algn="l">
              <a:lnSpc>
                <a:spcPct val="90000"/>
              </a:lnSpc>
              <a:spcBef>
                <a:spcPts val="1000"/>
              </a:spcBef>
              <a:spcAft>
                <a:spcPts val="0"/>
              </a:spcAft>
              <a:buClr>
                <a:schemeClr val="dk1"/>
              </a:buClr>
              <a:buSzPct val="100000"/>
              <a:buNone/>
            </a:pPr>
            <a:r>
              <a:t/>
            </a:r>
            <a:endParaRPr/>
          </a:p>
          <a:p>
            <a:pPr indent="-228600" lvl="0" marL="228600" rtl="0" algn="l">
              <a:lnSpc>
                <a:spcPct val="90000"/>
              </a:lnSpc>
              <a:spcBef>
                <a:spcPts val="1000"/>
              </a:spcBef>
              <a:spcAft>
                <a:spcPts val="0"/>
              </a:spcAft>
              <a:buClr>
                <a:schemeClr val="dk1"/>
              </a:buClr>
              <a:buSzPct val="100000"/>
              <a:buChar char="•"/>
            </a:pPr>
            <a:r>
              <a:rPr lang="en-US"/>
              <a:t>Y==1</a:t>
            </a:r>
            <a:endParaRPr/>
          </a:p>
          <a:p>
            <a:pPr indent="-228600" lvl="0" marL="228600" rtl="0" algn="l">
              <a:lnSpc>
                <a:spcPct val="90000"/>
              </a:lnSpc>
              <a:spcBef>
                <a:spcPts val="1000"/>
              </a:spcBef>
              <a:spcAft>
                <a:spcPts val="0"/>
              </a:spcAft>
              <a:buClr>
                <a:schemeClr val="dk1"/>
              </a:buClr>
              <a:buSzPct val="100000"/>
              <a:buChar char="•"/>
            </a:pPr>
            <a:r>
              <a:rPr lang="en-US"/>
              <a:t>Training - 60% - random 3 records</a:t>
            </a:r>
            <a:br>
              <a:rPr lang="en-US"/>
            </a:br>
            <a:r>
              <a:rPr lang="en-US"/>
              <a:t>testing - 40% - random 2 records</a:t>
            </a:r>
            <a:endParaRPr/>
          </a:p>
          <a:p>
            <a:pPr indent="-77470" lvl="0" marL="228600" rtl="0" algn="l">
              <a:lnSpc>
                <a:spcPct val="90000"/>
              </a:lnSpc>
              <a:spcBef>
                <a:spcPts val="1000"/>
              </a:spcBef>
              <a:spcAft>
                <a:spcPts val="0"/>
              </a:spcAft>
              <a:buClr>
                <a:schemeClr val="dk1"/>
              </a:buClr>
              <a:buSzPct val="100000"/>
              <a:buNone/>
            </a:pPr>
            <a:r>
              <a:t/>
            </a:r>
            <a:endParaRPr/>
          </a:p>
          <a:p>
            <a:pPr indent="-228600" lvl="0" marL="228600" rtl="0" algn="l">
              <a:lnSpc>
                <a:spcPct val="90000"/>
              </a:lnSpc>
              <a:spcBef>
                <a:spcPts val="1000"/>
              </a:spcBef>
              <a:spcAft>
                <a:spcPts val="0"/>
              </a:spcAft>
              <a:buClr>
                <a:schemeClr val="dk1"/>
              </a:buClr>
              <a:buSzPct val="100000"/>
              <a:buChar char="•"/>
            </a:pPr>
            <a:r>
              <a:rPr lang="en-US" u="sng"/>
              <a:t>Dis advantage: </a:t>
            </a:r>
            <a:r>
              <a:rPr lang="en-US"/>
              <a:t>Model performance depends on patterns of data in training and testing</a:t>
            </a:r>
            <a:endParaRPr/>
          </a:p>
        </p:txBody>
      </p:sp>
      <p:graphicFrame>
        <p:nvGraphicFramePr>
          <p:cNvPr id="175" name="Google Shape;175;p12"/>
          <p:cNvGraphicFramePr/>
          <p:nvPr/>
        </p:nvGraphicFramePr>
        <p:xfrm>
          <a:off x="8423661" y="2002415"/>
          <a:ext cx="3000000" cy="3000000"/>
        </p:xfrm>
        <a:graphic>
          <a:graphicData uri="http://schemas.openxmlformats.org/drawingml/2006/table">
            <a:tbl>
              <a:tblPr bandRow="1" firstRow="1">
                <a:noFill/>
                <a:tableStyleId>{DA69C3A7-CB41-451B-93CA-68B10983C4BA}</a:tableStyleId>
              </a:tblPr>
              <a:tblGrid>
                <a:gridCol w="688650"/>
                <a:gridCol w="688650"/>
                <a:gridCol w="688650"/>
                <a:gridCol w="688650"/>
              </a:tblGrid>
              <a:tr h="370850">
                <a:tc>
                  <a:txBody>
                    <a:bodyPr/>
                    <a:lstStyle/>
                    <a:p>
                      <a:pPr indent="0" lvl="0" marL="0" marR="0" rtl="0" algn="l">
                        <a:spcBef>
                          <a:spcPts val="0"/>
                        </a:spcBef>
                        <a:spcAft>
                          <a:spcPts val="0"/>
                        </a:spcAft>
                        <a:buNone/>
                      </a:pPr>
                      <a:r>
                        <a:rPr lang="en-US" sz="1800"/>
                        <a:t>No</a:t>
                      </a:r>
                      <a:endParaRPr sz="1800"/>
                    </a:p>
                  </a:txBody>
                  <a:tcPr marT="45725" marB="45725" marR="91450" marL="91450"/>
                </a:tc>
                <a:tc>
                  <a:txBody>
                    <a:bodyPr/>
                    <a:lstStyle/>
                    <a:p>
                      <a:pPr indent="0" lvl="0" marL="0" marR="0" rtl="0" algn="l">
                        <a:spcBef>
                          <a:spcPts val="0"/>
                        </a:spcBef>
                        <a:spcAft>
                          <a:spcPts val="0"/>
                        </a:spcAft>
                        <a:buNone/>
                      </a:pPr>
                      <a:r>
                        <a:rPr lang="en-US" sz="1800"/>
                        <a:t>F1</a:t>
                      </a:r>
                      <a:endParaRPr sz="1800"/>
                    </a:p>
                  </a:txBody>
                  <a:tcPr marT="45725" marB="45725" marR="91450" marL="91450"/>
                </a:tc>
                <a:tc>
                  <a:txBody>
                    <a:bodyPr/>
                    <a:lstStyle/>
                    <a:p>
                      <a:pPr indent="0" lvl="0" marL="0" marR="0" rtl="0" algn="l">
                        <a:spcBef>
                          <a:spcPts val="0"/>
                        </a:spcBef>
                        <a:spcAft>
                          <a:spcPts val="0"/>
                        </a:spcAft>
                        <a:buNone/>
                      </a:pPr>
                      <a:r>
                        <a:rPr lang="en-US" sz="1800"/>
                        <a:t>F2</a:t>
                      </a:r>
                      <a:endParaRPr sz="1800"/>
                    </a:p>
                  </a:txBody>
                  <a:tcPr marT="45725" marB="45725" marR="91450" marL="91450"/>
                </a:tc>
                <a:tc>
                  <a:txBody>
                    <a:bodyPr/>
                    <a:lstStyle/>
                    <a:p>
                      <a:pPr indent="0" lvl="0" marL="0" marR="0" rtl="0" algn="l">
                        <a:spcBef>
                          <a:spcPts val="0"/>
                        </a:spcBef>
                        <a:spcAft>
                          <a:spcPts val="0"/>
                        </a:spcAft>
                        <a:buNone/>
                      </a:pPr>
                      <a:r>
                        <a:rPr lang="en-US" sz="1800"/>
                        <a:t>Y</a:t>
                      </a:r>
                      <a:endParaRPr sz="1800"/>
                    </a:p>
                  </a:txBody>
                  <a:tcPr marT="45725" marB="45725" marR="91450" marL="91450"/>
                </a:tc>
              </a:tr>
              <a:tr h="370850">
                <a:tc>
                  <a:txBody>
                    <a:bodyPr/>
                    <a:lstStyle/>
                    <a:p>
                      <a:pPr indent="0" lvl="0" marL="0" marR="0" rtl="0" algn="l">
                        <a:spcBef>
                          <a:spcPts val="0"/>
                        </a:spcBef>
                        <a:spcAft>
                          <a:spcPts val="0"/>
                        </a:spcAft>
                        <a:buNone/>
                      </a:pPr>
                      <a:r>
                        <a:rPr lang="en-US" sz="1800"/>
                        <a:t>1</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1</a:t>
                      </a:r>
                      <a:endParaRPr sz="1800"/>
                    </a:p>
                  </a:txBody>
                  <a:tcPr marT="45725" marB="45725" marR="91450" marL="91450"/>
                </a:tc>
              </a:tr>
              <a:tr h="370850">
                <a:tc>
                  <a:txBody>
                    <a:bodyPr/>
                    <a:lstStyle/>
                    <a:p>
                      <a:pPr indent="0" lvl="0" marL="0" marR="0" rtl="0" algn="l">
                        <a:spcBef>
                          <a:spcPts val="0"/>
                        </a:spcBef>
                        <a:spcAft>
                          <a:spcPts val="0"/>
                        </a:spcAft>
                        <a:buNone/>
                      </a:pPr>
                      <a:r>
                        <a:rPr lang="en-US" sz="1800"/>
                        <a:t>2</a:t>
                      </a:r>
                      <a:endParaRPr sz="1800"/>
                    </a:p>
                  </a:txBody>
                  <a:tcPr marT="45725" marB="45725" marR="91450" marL="91450">
                    <a:solidFill>
                      <a:srgbClr val="F4B081"/>
                    </a:solidFill>
                  </a:tcPr>
                </a:tc>
                <a:tc>
                  <a:txBody>
                    <a:bodyPr/>
                    <a:lstStyle/>
                    <a:p>
                      <a:pPr indent="0" lvl="0" marL="0" marR="0" rtl="0" algn="l">
                        <a:spcBef>
                          <a:spcPts val="0"/>
                        </a:spcBef>
                        <a:spcAft>
                          <a:spcPts val="0"/>
                        </a:spcAft>
                        <a:buNone/>
                      </a:pPr>
                      <a:r>
                        <a:t/>
                      </a:r>
                      <a:endParaRPr sz="1800"/>
                    </a:p>
                  </a:txBody>
                  <a:tcPr marT="45725" marB="45725" marR="91450" marL="91450">
                    <a:solidFill>
                      <a:srgbClr val="F4B081"/>
                    </a:solidFill>
                  </a:tcPr>
                </a:tc>
                <a:tc>
                  <a:txBody>
                    <a:bodyPr/>
                    <a:lstStyle/>
                    <a:p>
                      <a:pPr indent="0" lvl="0" marL="0" marR="0" rtl="0" algn="l">
                        <a:spcBef>
                          <a:spcPts val="0"/>
                        </a:spcBef>
                        <a:spcAft>
                          <a:spcPts val="0"/>
                        </a:spcAft>
                        <a:buNone/>
                      </a:pPr>
                      <a:r>
                        <a:t/>
                      </a:r>
                      <a:endParaRPr sz="1800"/>
                    </a:p>
                  </a:txBody>
                  <a:tcPr marT="45725" marB="45725" marR="91450" marL="91450">
                    <a:solidFill>
                      <a:srgbClr val="F4B081"/>
                    </a:solidFill>
                  </a:tcPr>
                </a:tc>
                <a:tc>
                  <a:txBody>
                    <a:bodyPr/>
                    <a:lstStyle/>
                    <a:p>
                      <a:pPr indent="0" lvl="0" marL="0" marR="0" rtl="0" algn="l">
                        <a:spcBef>
                          <a:spcPts val="0"/>
                        </a:spcBef>
                        <a:spcAft>
                          <a:spcPts val="0"/>
                        </a:spcAft>
                        <a:buNone/>
                      </a:pPr>
                      <a:r>
                        <a:rPr lang="en-US" sz="1800"/>
                        <a:t>1</a:t>
                      </a:r>
                      <a:endParaRPr sz="1800"/>
                    </a:p>
                  </a:txBody>
                  <a:tcPr marT="45725" marB="45725" marR="91450" marL="91450">
                    <a:solidFill>
                      <a:srgbClr val="F4B081"/>
                    </a:solidFill>
                  </a:tcPr>
                </a:tc>
              </a:tr>
              <a:tr h="370850">
                <a:tc>
                  <a:txBody>
                    <a:bodyPr/>
                    <a:lstStyle/>
                    <a:p>
                      <a:pPr indent="0" lvl="0" marL="0" marR="0" rtl="0" algn="l">
                        <a:spcBef>
                          <a:spcPts val="0"/>
                        </a:spcBef>
                        <a:spcAft>
                          <a:spcPts val="0"/>
                        </a:spcAft>
                        <a:buNone/>
                      </a:pPr>
                      <a:r>
                        <a:rPr lang="en-US" sz="1800"/>
                        <a:t>3</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1</a:t>
                      </a:r>
                      <a:endParaRPr sz="1800"/>
                    </a:p>
                  </a:txBody>
                  <a:tcPr marT="45725" marB="45725" marR="91450" marL="91450"/>
                </a:tc>
              </a:tr>
              <a:tr h="370850">
                <a:tc>
                  <a:txBody>
                    <a:bodyPr/>
                    <a:lstStyle/>
                    <a:p>
                      <a:pPr indent="0" lvl="0" marL="0" marR="0" rtl="0" algn="l">
                        <a:spcBef>
                          <a:spcPts val="0"/>
                        </a:spcBef>
                        <a:spcAft>
                          <a:spcPts val="0"/>
                        </a:spcAft>
                        <a:buNone/>
                      </a:pPr>
                      <a:r>
                        <a:rPr lang="en-US" sz="1800"/>
                        <a:t>4</a:t>
                      </a:r>
                      <a:endParaRPr sz="1800"/>
                    </a:p>
                  </a:txBody>
                  <a:tcPr marT="45725" marB="45725" marR="91450" marL="91450">
                    <a:solidFill>
                      <a:srgbClr val="F4B081"/>
                    </a:solidFill>
                  </a:tcPr>
                </a:tc>
                <a:tc>
                  <a:txBody>
                    <a:bodyPr/>
                    <a:lstStyle/>
                    <a:p>
                      <a:pPr indent="0" lvl="0" marL="0" marR="0" rtl="0" algn="l">
                        <a:spcBef>
                          <a:spcPts val="0"/>
                        </a:spcBef>
                        <a:spcAft>
                          <a:spcPts val="0"/>
                        </a:spcAft>
                        <a:buNone/>
                      </a:pPr>
                      <a:r>
                        <a:t/>
                      </a:r>
                      <a:endParaRPr sz="1800"/>
                    </a:p>
                  </a:txBody>
                  <a:tcPr marT="45725" marB="45725" marR="91450" marL="91450">
                    <a:solidFill>
                      <a:srgbClr val="F4B081"/>
                    </a:solidFill>
                  </a:tcPr>
                </a:tc>
                <a:tc>
                  <a:txBody>
                    <a:bodyPr/>
                    <a:lstStyle/>
                    <a:p>
                      <a:pPr indent="0" lvl="0" marL="0" marR="0" rtl="0" algn="l">
                        <a:spcBef>
                          <a:spcPts val="0"/>
                        </a:spcBef>
                        <a:spcAft>
                          <a:spcPts val="0"/>
                        </a:spcAft>
                        <a:buNone/>
                      </a:pPr>
                      <a:r>
                        <a:t/>
                      </a:r>
                      <a:endParaRPr sz="1800"/>
                    </a:p>
                  </a:txBody>
                  <a:tcPr marT="45725" marB="45725" marR="91450" marL="91450">
                    <a:solidFill>
                      <a:srgbClr val="F4B081"/>
                    </a:solidFill>
                  </a:tcPr>
                </a:tc>
                <a:tc>
                  <a:txBody>
                    <a:bodyPr/>
                    <a:lstStyle/>
                    <a:p>
                      <a:pPr indent="0" lvl="0" marL="0" marR="0" rtl="0" algn="l">
                        <a:spcBef>
                          <a:spcPts val="0"/>
                        </a:spcBef>
                        <a:spcAft>
                          <a:spcPts val="0"/>
                        </a:spcAft>
                        <a:buNone/>
                      </a:pPr>
                      <a:r>
                        <a:rPr lang="en-US" sz="1800"/>
                        <a:t>1</a:t>
                      </a:r>
                      <a:endParaRPr sz="1800"/>
                    </a:p>
                  </a:txBody>
                  <a:tcPr marT="45725" marB="45725" marR="91450" marL="91450">
                    <a:solidFill>
                      <a:srgbClr val="F4B081"/>
                    </a:solidFill>
                  </a:tcPr>
                </a:tc>
              </a:tr>
              <a:tr h="370850">
                <a:tc>
                  <a:txBody>
                    <a:bodyPr/>
                    <a:lstStyle/>
                    <a:p>
                      <a:pPr indent="0" lvl="0" marL="0" marR="0" rtl="0" algn="l">
                        <a:spcBef>
                          <a:spcPts val="0"/>
                        </a:spcBef>
                        <a:spcAft>
                          <a:spcPts val="0"/>
                        </a:spcAft>
                        <a:buNone/>
                      </a:pPr>
                      <a:r>
                        <a:rPr lang="en-US" sz="1800"/>
                        <a:t>5</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1</a:t>
                      </a:r>
                      <a:endParaRPr sz="1800"/>
                    </a:p>
                  </a:txBody>
                  <a:tcPr marT="45725" marB="45725" marR="91450" marL="91450"/>
                </a:tc>
              </a:tr>
              <a:tr h="370850">
                <a:tc>
                  <a:txBody>
                    <a:bodyPr/>
                    <a:lstStyle/>
                    <a:p>
                      <a:pPr indent="0" lvl="0" marL="0" marR="0" rtl="0" algn="l">
                        <a:spcBef>
                          <a:spcPts val="0"/>
                        </a:spcBef>
                        <a:spcAft>
                          <a:spcPts val="0"/>
                        </a:spcAft>
                        <a:buNone/>
                      </a:pPr>
                      <a:r>
                        <a:rPr lang="en-US" sz="1800"/>
                        <a:t>6</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0</a:t>
                      </a:r>
                      <a:endParaRPr sz="1800"/>
                    </a:p>
                  </a:txBody>
                  <a:tcPr marT="45725" marB="45725" marR="91450" marL="91450"/>
                </a:tc>
              </a:tr>
              <a:tr h="370850">
                <a:tc>
                  <a:txBody>
                    <a:bodyPr/>
                    <a:lstStyle/>
                    <a:p>
                      <a:pPr indent="0" lvl="0" marL="0" marR="0" rtl="0" algn="l">
                        <a:spcBef>
                          <a:spcPts val="0"/>
                        </a:spcBef>
                        <a:spcAft>
                          <a:spcPts val="0"/>
                        </a:spcAft>
                        <a:buNone/>
                      </a:pPr>
                      <a:r>
                        <a:rPr lang="en-US" sz="1800"/>
                        <a:t>7</a:t>
                      </a:r>
                      <a:endParaRPr sz="1800"/>
                    </a:p>
                  </a:txBody>
                  <a:tcPr marT="45725" marB="45725" marR="91450" marL="91450">
                    <a:solidFill>
                      <a:srgbClr val="FFFF00"/>
                    </a:solidFill>
                  </a:tcPr>
                </a:tc>
                <a:tc>
                  <a:txBody>
                    <a:bodyPr/>
                    <a:lstStyle/>
                    <a:p>
                      <a:pPr indent="0" lvl="0" marL="0" marR="0" rtl="0" algn="l">
                        <a:spcBef>
                          <a:spcPts val="0"/>
                        </a:spcBef>
                        <a:spcAft>
                          <a:spcPts val="0"/>
                        </a:spcAft>
                        <a:buNone/>
                      </a:pPr>
                      <a:r>
                        <a:t/>
                      </a:r>
                      <a:endParaRPr sz="1800"/>
                    </a:p>
                  </a:txBody>
                  <a:tcPr marT="45725" marB="45725" marR="91450" marL="91450">
                    <a:solidFill>
                      <a:srgbClr val="FFFF00"/>
                    </a:solidFill>
                  </a:tcPr>
                </a:tc>
                <a:tc>
                  <a:txBody>
                    <a:bodyPr/>
                    <a:lstStyle/>
                    <a:p>
                      <a:pPr indent="0" lvl="0" marL="0" marR="0" rtl="0" algn="l">
                        <a:spcBef>
                          <a:spcPts val="0"/>
                        </a:spcBef>
                        <a:spcAft>
                          <a:spcPts val="0"/>
                        </a:spcAft>
                        <a:buNone/>
                      </a:pPr>
                      <a:r>
                        <a:t/>
                      </a:r>
                      <a:endParaRPr sz="1800"/>
                    </a:p>
                  </a:txBody>
                  <a:tcPr marT="45725" marB="45725" marR="91450" marL="91450">
                    <a:solidFill>
                      <a:srgbClr val="FFFF00"/>
                    </a:solidFill>
                  </a:tcPr>
                </a:tc>
                <a:tc>
                  <a:txBody>
                    <a:bodyPr/>
                    <a:lstStyle/>
                    <a:p>
                      <a:pPr indent="0" lvl="0" marL="0" marR="0" rtl="0" algn="l">
                        <a:spcBef>
                          <a:spcPts val="0"/>
                        </a:spcBef>
                        <a:spcAft>
                          <a:spcPts val="0"/>
                        </a:spcAft>
                        <a:buNone/>
                      </a:pPr>
                      <a:r>
                        <a:rPr lang="en-US" sz="1800"/>
                        <a:t>0</a:t>
                      </a:r>
                      <a:endParaRPr sz="1800"/>
                    </a:p>
                  </a:txBody>
                  <a:tcPr marT="45725" marB="45725" marR="91450" marL="91450">
                    <a:solidFill>
                      <a:srgbClr val="FFFF00"/>
                    </a:solidFill>
                  </a:tcPr>
                </a:tc>
              </a:tr>
              <a:tr h="370850">
                <a:tc>
                  <a:txBody>
                    <a:bodyPr/>
                    <a:lstStyle/>
                    <a:p>
                      <a:pPr indent="0" lvl="0" marL="0" marR="0" rtl="0" algn="l">
                        <a:spcBef>
                          <a:spcPts val="0"/>
                        </a:spcBef>
                        <a:spcAft>
                          <a:spcPts val="0"/>
                        </a:spcAft>
                        <a:buNone/>
                      </a:pPr>
                      <a:r>
                        <a:rPr lang="en-US" sz="1800"/>
                        <a:t>8</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0</a:t>
                      </a:r>
                      <a:endParaRPr sz="1800"/>
                    </a:p>
                  </a:txBody>
                  <a:tcPr marT="45725" marB="45725" marR="91450" marL="91450"/>
                </a:tc>
              </a:tr>
              <a:tr h="370850">
                <a:tc>
                  <a:txBody>
                    <a:bodyPr/>
                    <a:lstStyle/>
                    <a:p>
                      <a:pPr indent="0" lvl="0" marL="0" marR="0" rtl="0" algn="l">
                        <a:spcBef>
                          <a:spcPts val="0"/>
                        </a:spcBef>
                        <a:spcAft>
                          <a:spcPts val="0"/>
                        </a:spcAft>
                        <a:buNone/>
                      </a:pPr>
                      <a:r>
                        <a:rPr lang="en-US" sz="1800"/>
                        <a:t>9</a:t>
                      </a:r>
                      <a:endParaRPr sz="1800"/>
                    </a:p>
                  </a:txBody>
                  <a:tcPr marT="45725" marB="45725" marR="91450" marL="91450">
                    <a:solidFill>
                      <a:srgbClr val="FFFF00"/>
                    </a:solidFill>
                  </a:tcPr>
                </a:tc>
                <a:tc>
                  <a:txBody>
                    <a:bodyPr/>
                    <a:lstStyle/>
                    <a:p>
                      <a:pPr indent="0" lvl="0" marL="0" marR="0" rtl="0" algn="l">
                        <a:spcBef>
                          <a:spcPts val="0"/>
                        </a:spcBef>
                        <a:spcAft>
                          <a:spcPts val="0"/>
                        </a:spcAft>
                        <a:buNone/>
                      </a:pPr>
                      <a:r>
                        <a:t/>
                      </a:r>
                      <a:endParaRPr sz="1800"/>
                    </a:p>
                  </a:txBody>
                  <a:tcPr marT="45725" marB="45725" marR="91450" marL="91450">
                    <a:solidFill>
                      <a:srgbClr val="FFFF00"/>
                    </a:solidFill>
                  </a:tcPr>
                </a:tc>
                <a:tc>
                  <a:txBody>
                    <a:bodyPr/>
                    <a:lstStyle/>
                    <a:p>
                      <a:pPr indent="0" lvl="0" marL="0" marR="0" rtl="0" algn="l">
                        <a:spcBef>
                          <a:spcPts val="0"/>
                        </a:spcBef>
                        <a:spcAft>
                          <a:spcPts val="0"/>
                        </a:spcAft>
                        <a:buNone/>
                      </a:pPr>
                      <a:r>
                        <a:t/>
                      </a:r>
                      <a:endParaRPr sz="1800"/>
                    </a:p>
                  </a:txBody>
                  <a:tcPr marT="45725" marB="45725" marR="91450" marL="91450">
                    <a:solidFill>
                      <a:srgbClr val="FFFF00"/>
                    </a:solidFill>
                  </a:tcPr>
                </a:tc>
                <a:tc>
                  <a:txBody>
                    <a:bodyPr/>
                    <a:lstStyle/>
                    <a:p>
                      <a:pPr indent="0" lvl="0" marL="0" marR="0" rtl="0" algn="l">
                        <a:spcBef>
                          <a:spcPts val="0"/>
                        </a:spcBef>
                        <a:spcAft>
                          <a:spcPts val="0"/>
                        </a:spcAft>
                        <a:buNone/>
                      </a:pPr>
                      <a:r>
                        <a:rPr lang="en-US" sz="1800"/>
                        <a:t>0</a:t>
                      </a:r>
                      <a:endParaRPr sz="1800"/>
                    </a:p>
                  </a:txBody>
                  <a:tcPr marT="45725" marB="45725" marR="91450" marL="91450">
                    <a:solidFill>
                      <a:srgbClr val="FFFF00"/>
                    </a:solidFill>
                  </a:tcPr>
                </a:tc>
              </a:tr>
              <a:tr h="370850">
                <a:tc>
                  <a:txBody>
                    <a:bodyPr/>
                    <a:lstStyle/>
                    <a:p>
                      <a:pPr indent="0" lvl="0" marL="0" marR="0" rtl="0" algn="l">
                        <a:spcBef>
                          <a:spcPts val="0"/>
                        </a:spcBef>
                        <a:spcAft>
                          <a:spcPts val="0"/>
                        </a:spcAft>
                        <a:buNone/>
                      </a:pPr>
                      <a:r>
                        <a:rPr lang="en-US" sz="1800"/>
                        <a:t>10</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0</a:t>
                      </a:r>
                      <a:endParaRPr sz="1800"/>
                    </a:p>
                  </a:txBody>
                  <a:tcPr marT="45725" marB="45725" marR="91450" marL="91450"/>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1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K fold cross validation &amp; Stratified K-fold</a:t>
            </a:r>
            <a:endParaRPr/>
          </a:p>
        </p:txBody>
      </p:sp>
      <p:sp>
        <p:nvSpPr>
          <p:cNvPr id="181" name="Google Shape;181;p13"/>
          <p:cNvSpPr txBox="1"/>
          <p:nvPr>
            <p:ph idx="1" type="body"/>
          </p:nvPr>
        </p:nvSpPr>
        <p:spPr>
          <a:xfrm>
            <a:off x="838200" y="1690700"/>
            <a:ext cx="5987700" cy="4942500"/>
          </a:xfrm>
          <a:prstGeom prst="rect">
            <a:avLst/>
          </a:prstGeom>
          <a:noFill/>
          <a:ln>
            <a:noFill/>
          </a:ln>
        </p:spPr>
        <p:txBody>
          <a:bodyPr anchorCtr="0" anchor="t" bIns="45700" lIns="91425" spcFirstLastPara="1" rIns="91425" wrap="square" tIns="45700">
            <a:normAutofit fontScale="92500" lnSpcReduction="20000"/>
          </a:bodyPr>
          <a:lstStyle/>
          <a:p>
            <a:pPr indent="-228600" lvl="0" marL="228600" rtl="0" algn="l">
              <a:lnSpc>
                <a:spcPct val="90000"/>
              </a:lnSpc>
              <a:spcBef>
                <a:spcPts val="0"/>
              </a:spcBef>
              <a:spcAft>
                <a:spcPts val="0"/>
              </a:spcAft>
              <a:buClr>
                <a:schemeClr val="dk1"/>
              </a:buClr>
              <a:buSzPct val="92831"/>
              <a:buChar char="•"/>
            </a:pPr>
            <a:r>
              <a:rPr b="1" lang="en-US" sz="3016">
                <a:solidFill>
                  <a:srgbClr val="0000FF"/>
                </a:solidFill>
              </a:rPr>
              <a:t>In K-fold</a:t>
            </a:r>
            <a:r>
              <a:rPr lang="en-US"/>
              <a:t>, total data is split in k parts</a:t>
            </a:r>
            <a:endParaRPr/>
          </a:p>
          <a:p>
            <a:pPr indent="-228600" lvl="0" marL="228600" rtl="0" algn="l">
              <a:lnSpc>
                <a:spcPct val="90000"/>
              </a:lnSpc>
              <a:spcBef>
                <a:spcPts val="1000"/>
              </a:spcBef>
              <a:spcAft>
                <a:spcPts val="0"/>
              </a:spcAft>
              <a:buClr>
                <a:schemeClr val="dk1"/>
              </a:buClr>
              <a:buSzPct val="100000"/>
              <a:buChar char="•"/>
            </a:pPr>
            <a:r>
              <a:rPr lang="en-US"/>
              <a:t>Means k=5 then 5 parts</a:t>
            </a:r>
            <a:endParaRPr/>
          </a:p>
          <a:p>
            <a:pPr indent="-228600" lvl="0" marL="228600" rtl="0" algn="l">
              <a:lnSpc>
                <a:spcPct val="90000"/>
              </a:lnSpc>
              <a:spcBef>
                <a:spcPts val="1000"/>
              </a:spcBef>
              <a:spcAft>
                <a:spcPts val="0"/>
              </a:spcAft>
              <a:buClr>
                <a:schemeClr val="dk1"/>
              </a:buClr>
              <a:buSzPct val="100000"/>
              <a:buChar char="•"/>
            </a:pPr>
            <a:r>
              <a:rPr lang="en-US"/>
              <a:t>Training and testing is done iteratively k number of times</a:t>
            </a:r>
            <a:endParaRPr/>
          </a:p>
          <a:p>
            <a:pPr indent="-228600" lvl="0" marL="228600" rtl="0" algn="l">
              <a:lnSpc>
                <a:spcPct val="90000"/>
              </a:lnSpc>
              <a:spcBef>
                <a:spcPts val="1000"/>
              </a:spcBef>
              <a:spcAft>
                <a:spcPts val="0"/>
              </a:spcAft>
              <a:buClr>
                <a:schemeClr val="dk1"/>
              </a:buClr>
              <a:buSzPct val="100000"/>
              <a:buChar char="•"/>
            </a:pPr>
            <a:r>
              <a:rPr lang="en-US"/>
              <a:t>In each iteration k-1 parts are training and one randomly selected part is testing</a:t>
            </a:r>
            <a:endParaRPr/>
          </a:p>
          <a:p>
            <a:pPr indent="-228600" lvl="0" marL="228600" rtl="0" algn="l">
              <a:lnSpc>
                <a:spcPct val="90000"/>
              </a:lnSpc>
              <a:spcBef>
                <a:spcPts val="1000"/>
              </a:spcBef>
              <a:spcAft>
                <a:spcPts val="0"/>
              </a:spcAft>
              <a:buClr>
                <a:schemeClr val="dk1"/>
              </a:buClr>
              <a:buSzPct val="100000"/>
              <a:buChar char="•"/>
            </a:pPr>
            <a:r>
              <a:rPr lang="en-US"/>
              <a:t>Testing will happen on all parts one by one</a:t>
            </a:r>
            <a:endParaRPr/>
          </a:p>
          <a:p>
            <a:pPr indent="-228600" lvl="0" marL="228600" rtl="0" algn="l">
              <a:lnSpc>
                <a:spcPct val="90000"/>
              </a:lnSpc>
              <a:spcBef>
                <a:spcPts val="1000"/>
              </a:spcBef>
              <a:spcAft>
                <a:spcPts val="0"/>
              </a:spcAft>
              <a:buClr>
                <a:schemeClr val="dk1"/>
              </a:buClr>
              <a:buSzPct val="100000"/>
              <a:buChar char="•"/>
            </a:pPr>
            <a:r>
              <a:rPr lang="en-US"/>
              <a:t>Final result is average of all k iterations of testing</a:t>
            </a:r>
            <a:endParaRPr/>
          </a:p>
          <a:p>
            <a:pPr indent="-169863" lvl="0" marL="228600" rtl="0" algn="l">
              <a:lnSpc>
                <a:spcPct val="90000"/>
              </a:lnSpc>
              <a:spcBef>
                <a:spcPts val="1000"/>
              </a:spcBef>
              <a:spcAft>
                <a:spcPts val="0"/>
              </a:spcAft>
              <a:buSzPct val="64286"/>
              <a:buChar char="•"/>
            </a:pPr>
            <a:r>
              <a:rPr lang="en-US"/>
              <a:t>K is given by user (5 or 10 generally)</a:t>
            </a:r>
            <a:endParaRPr/>
          </a:p>
          <a:p>
            <a:pPr indent="-169863" lvl="0" marL="228600" rtl="0" algn="l">
              <a:lnSpc>
                <a:spcPct val="90000"/>
              </a:lnSpc>
              <a:spcBef>
                <a:spcPts val="1000"/>
              </a:spcBef>
              <a:spcAft>
                <a:spcPts val="0"/>
              </a:spcAft>
              <a:buSzPct val="59677"/>
              <a:buChar char="•"/>
            </a:pPr>
            <a:r>
              <a:rPr b="1" lang="en-US" sz="3016">
                <a:solidFill>
                  <a:srgbClr val="0000FF"/>
                </a:solidFill>
              </a:rPr>
              <a:t>In Stratified K-fold</a:t>
            </a:r>
            <a:r>
              <a:rPr lang="en-US"/>
              <a:t>, in each split distribution of classes from original data is maintained </a:t>
            </a:r>
            <a:r>
              <a:rPr lang="en-US"/>
              <a:t>like stratified random split</a:t>
            </a:r>
            <a:endParaRPr/>
          </a:p>
        </p:txBody>
      </p:sp>
      <p:graphicFrame>
        <p:nvGraphicFramePr>
          <p:cNvPr id="182" name="Google Shape;182;p13"/>
          <p:cNvGraphicFramePr/>
          <p:nvPr/>
        </p:nvGraphicFramePr>
        <p:xfrm>
          <a:off x="7762011" y="2049702"/>
          <a:ext cx="3000000" cy="3000000"/>
        </p:xfrm>
        <a:graphic>
          <a:graphicData uri="http://schemas.openxmlformats.org/drawingml/2006/table">
            <a:tbl>
              <a:tblPr bandRow="1" firstRow="1">
                <a:noFill/>
                <a:tableStyleId>{DA69C3A7-CB41-451B-93CA-68B10983C4BA}</a:tableStyleId>
              </a:tblPr>
              <a:tblGrid>
                <a:gridCol w="641700"/>
                <a:gridCol w="641700"/>
                <a:gridCol w="641700"/>
                <a:gridCol w="641700"/>
                <a:gridCol w="641700"/>
              </a:tblGrid>
              <a:tr h="626475">
                <a:tc>
                  <a:txBody>
                    <a:bodyPr/>
                    <a:lstStyle/>
                    <a:p>
                      <a:pPr indent="0" lvl="0" marL="0" marR="0" rtl="0" algn="l">
                        <a:spcBef>
                          <a:spcPts val="0"/>
                        </a:spcBef>
                        <a:spcAft>
                          <a:spcPts val="0"/>
                        </a:spcAft>
                        <a:buNone/>
                      </a:pPr>
                      <a:r>
                        <a:rPr lang="en-US" sz="1800"/>
                        <a:t>Itr1</a:t>
                      </a:r>
                      <a:endParaRPr sz="1800"/>
                    </a:p>
                  </a:txBody>
                  <a:tcPr marT="45725" marB="45725" marR="91450" marL="91450"/>
                </a:tc>
                <a:tc>
                  <a:txBody>
                    <a:bodyPr/>
                    <a:lstStyle/>
                    <a:p>
                      <a:pPr indent="0" lvl="0" marL="0" marR="0" rtl="0" algn="l">
                        <a:spcBef>
                          <a:spcPts val="0"/>
                        </a:spcBef>
                        <a:spcAft>
                          <a:spcPts val="0"/>
                        </a:spcAft>
                        <a:buNone/>
                      </a:pPr>
                      <a:r>
                        <a:rPr lang="en-US" sz="1800"/>
                        <a:t>Itr2</a:t>
                      </a:r>
                      <a:endParaRPr sz="1800"/>
                    </a:p>
                  </a:txBody>
                  <a:tcPr marT="45725" marB="45725" marR="91450" marL="91450"/>
                </a:tc>
                <a:tc>
                  <a:txBody>
                    <a:bodyPr/>
                    <a:lstStyle/>
                    <a:p>
                      <a:pPr indent="0" lvl="0" marL="0" marR="0" rtl="0" algn="l">
                        <a:spcBef>
                          <a:spcPts val="0"/>
                        </a:spcBef>
                        <a:spcAft>
                          <a:spcPts val="0"/>
                        </a:spcAft>
                        <a:buNone/>
                      </a:pPr>
                      <a:r>
                        <a:rPr lang="en-US" sz="1800"/>
                        <a:t>itr3</a:t>
                      </a:r>
                      <a:endParaRPr sz="1800"/>
                    </a:p>
                  </a:txBody>
                  <a:tcPr marT="45725" marB="45725" marR="91450" marL="91450"/>
                </a:tc>
                <a:tc>
                  <a:txBody>
                    <a:bodyPr/>
                    <a:lstStyle/>
                    <a:p>
                      <a:pPr indent="0" lvl="0" marL="0" marR="0" rtl="0" algn="l">
                        <a:spcBef>
                          <a:spcPts val="0"/>
                        </a:spcBef>
                        <a:spcAft>
                          <a:spcPts val="0"/>
                        </a:spcAft>
                        <a:buNone/>
                      </a:pPr>
                      <a:r>
                        <a:rPr lang="en-US" sz="1800"/>
                        <a:t>Itr4</a:t>
                      </a:r>
                      <a:endParaRPr sz="1800"/>
                    </a:p>
                  </a:txBody>
                  <a:tcPr marT="45725" marB="45725" marR="91450" marL="91450"/>
                </a:tc>
                <a:tc>
                  <a:txBody>
                    <a:bodyPr/>
                    <a:lstStyle/>
                    <a:p>
                      <a:pPr indent="0" lvl="0" marL="0" marR="0" rtl="0" algn="l">
                        <a:spcBef>
                          <a:spcPts val="0"/>
                        </a:spcBef>
                        <a:spcAft>
                          <a:spcPts val="0"/>
                        </a:spcAft>
                        <a:buNone/>
                      </a:pPr>
                      <a:r>
                        <a:rPr lang="en-US" sz="1800"/>
                        <a:t>Itr5</a:t>
                      </a:r>
                      <a:endParaRPr sz="1800"/>
                    </a:p>
                  </a:txBody>
                  <a:tcPr marT="45725" marB="45725" marR="91450" marL="91450"/>
                </a:tc>
              </a:tr>
              <a:tr h="626475">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Test</a:t>
                      </a:r>
                      <a:endParaRPr sz="1800"/>
                    </a:p>
                  </a:txBody>
                  <a:tcPr marT="45725" marB="45725" marR="91450" marL="91450">
                    <a:solidFill>
                      <a:srgbClr val="FFFF00"/>
                    </a:solidFill>
                  </a:tcPr>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r>
              <a:tr h="626475">
                <a:tc>
                  <a:txBody>
                    <a:bodyPr/>
                    <a:lstStyle/>
                    <a:p>
                      <a:pPr indent="0" lvl="0" marL="0" marR="0" rtl="0" algn="l">
                        <a:spcBef>
                          <a:spcPts val="0"/>
                        </a:spcBef>
                        <a:spcAft>
                          <a:spcPts val="0"/>
                        </a:spcAft>
                        <a:buNone/>
                      </a:pPr>
                      <a:r>
                        <a:rPr lang="en-US" sz="1800"/>
                        <a:t>Test</a:t>
                      </a:r>
                      <a:endParaRPr sz="1800"/>
                    </a:p>
                  </a:txBody>
                  <a:tcPr marT="45725" marB="45725" marR="91450" marL="91450">
                    <a:solidFill>
                      <a:srgbClr val="FFFF00"/>
                    </a:solidFill>
                  </a:tcPr>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r>
              <a:tr h="626475">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Test</a:t>
                      </a:r>
                      <a:endParaRPr sz="1800"/>
                    </a:p>
                  </a:txBody>
                  <a:tcPr marT="45725" marB="45725" marR="91450" marL="91450">
                    <a:solidFill>
                      <a:srgbClr val="FFFF00"/>
                    </a:solidFill>
                  </a:tcPr>
                </a:tc>
              </a:tr>
              <a:tr h="626475">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Test</a:t>
                      </a:r>
                      <a:endParaRPr sz="1800"/>
                    </a:p>
                  </a:txBody>
                  <a:tcPr marT="45725" marB="45725" marR="91450" marL="91450">
                    <a:solidFill>
                      <a:srgbClr val="FFFF00"/>
                    </a:solidFill>
                  </a:tcPr>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r>
              <a:tr h="626475">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rPr lang="en-US" sz="1800"/>
                        <a:t>Test</a:t>
                      </a:r>
                      <a:endParaRPr sz="1800"/>
                    </a:p>
                  </a:txBody>
                  <a:tcPr marT="45725" marB="45725" marR="91450" marL="91450">
                    <a:solidFill>
                      <a:srgbClr val="FFFF00"/>
                    </a:solidFill>
                  </a:tcPr>
                </a:tc>
                <a:tc>
                  <a:txBody>
                    <a:bodyPr/>
                    <a:lstStyle/>
                    <a:p>
                      <a:pPr indent="0" lvl="0" marL="0" marR="0" rtl="0" algn="l">
                        <a:spcBef>
                          <a:spcPts val="0"/>
                        </a:spcBef>
                        <a:spcAft>
                          <a:spcPts val="0"/>
                        </a:spcAft>
                        <a:buNone/>
                      </a:pPr>
                      <a:r>
                        <a:t/>
                      </a:r>
                      <a:endParaRPr sz="1800"/>
                    </a:p>
                  </a:txBody>
                  <a:tcPr marT="45725" marB="45725" marR="91450" marL="91450"/>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g3e1c838bfde_0_0"/>
          <p:cNvSpPr txBox="1"/>
          <p:nvPr>
            <p:ph type="title"/>
          </p:nvPr>
        </p:nvSpPr>
        <p:spPr>
          <a:xfrm>
            <a:off x="838200" y="365125"/>
            <a:ext cx="9318600" cy="699000"/>
          </a:xfrm>
          <a:prstGeom prst="rect">
            <a:avLst/>
          </a:prstGeom>
        </p:spPr>
        <p:txBody>
          <a:bodyPr anchorCtr="0" anchor="ctr" bIns="45700" lIns="91425" spcFirstLastPara="1" rIns="91425" wrap="square" tIns="45700">
            <a:normAutofit fontScale="90000"/>
          </a:bodyPr>
          <a:lstStyle/>
          <a:p>
            <a:pPr indent="0" lvl="0" marL="0" rtl="0" algn="l">
              <a:lnSpc>
                <a:spcPct val="115000"/>
              </a:lnSpc>
              <a:spcBef>
                <a:spcPts val="2400"/>
              </a:spcBef>
              <a:spcAft>
                <a:spcPts val="600"/>
              </a:spcAft>
              <a:buNone/>
            </a:pPr>
            <a:r>
              <a:rPr lang="en-US"/>
              <a:t>Leave One Out Cross Validation (LOOCV)</a:t>
            </a:r>
            <a:endParaRPr/>
          </a:p>
        </p:txBody>
      </p:sp>
      <p:sp>
        <p:nvSpPr>
          <p:cNvPr id="188" name="Google Shape;188;g3e1c838bfde_0_0"/>
          <p:cNvSpPr txBox="1"/>
          <p:nvPr>
            <p:ph idx="1" type="body"/>
          </p:nvPr>
        </p:nvSpPr>
        <p:spPr>
          <a:xfrm>
            <a:off x="719950" y="1241525"/>
            <a:ext cx="9318600" cy="5226300"/>
          </a:xfrm>
          <a:prstGeom prst="rect">
            <a:avLst/>
          </a:prstGeom>
        </p:spPr>
        <p:txBody>
          <a:bodyPr anchorCtr="0" anchor="t" bIns="45700" lIns="91425" spcFirstLastPara="1" rIns="91425" wrap="square" tIns="45700">
            <a:normAutofit lnSpcReduction="10000"/>
          </a:bodyPr>
          <a:lstStyle/>
          <a:p>
            <a:pPr indent="0" lvl="0" marL="0" rtl="0" algn="l">
              <a:spcBef>
                <a:spcPts val="1000"/>
              </a:spcBef>
              <a:spcAft>
                <a:spcPts val="0"/>
              </a:spcAft>
              <a:buNone/>
            </a:pPr>
            <a:r>
              <a:rPr lang="en-US"/>
              <a:t>Each sample is used once as a test set, while the remaining samples form the training set. </a:t>
            </a:r>
            <a:endParaRPr/>
          </a:p>
          <a:p>
            <a:pPr indent="0" lvl="0" marL="0" rtl="0" algn="l">
              <a:spcBef>
                <a:spcPts val="1000"/>
              </a:spcBef>
              <a:spcAft>
                <a:spcPts val="0"/>
              </a:spcAft>
              <a:buNone/>
            </a:pPr>
            <a:r>
              <a:t/>
            </a:r>
            <a:endParaRPr/>
          </a:p>
          <a:p>
            <a:pPr indent="0" lvl="0" marL="0" rtl="0" algn="l">
              <a:spcBef>
                <a:spcPts val="1000"/>
              </a:spcBef>
              <a:spcAft>
                <a:spcPts val="0"/>
              </a:spcAft>
              <a:buNone/>
            </a:pPr>
            <a:r>
              <a:rPr lang="en-US"/>
              <a:t>Number of iterations = No of training samples (rows)</a:t>
            </a:r>
            <a:endParaRPr/>
          </a:p>
          <a:p>
            <a:pPr indent="0" lvl="0" marL="0" rtl="0" algn="l">
              <a:spcBef>
                <a:spcPts val="1000"/>
              </a:spcBef>
              <a:spcAft>
                <a:spcPts val="0"/>
              </a:spcAft>
              <a:buNone/>
            </a:pPr>
            <a:r>
              <a:t/>
            </a:r>
            <a:endParaRPr/>
          </a:p>
          <a:p>
            <a:pPr indent="0" lvl="0" marL="0" rtl="0" algn="l">
              <a:spcBef>
                <a:spcPts val="1000"/>
              </a:spcBef>
              <a:spcAft>
                <a:spcPts val="0"/>
              </a:spcAft>
              <a:buNone/>
            </a:pPr>
            <a:r>
              <a:rPr b="1" lang="en-US" u="sng"/>
              <a:t>Example</a:t>
            </a:r>
            <a:r>
              <a:rPr lang="en-US"/>
              <a:t>: If we have dataset of 100 rows, then first iteration one random row will be test data and 99 rows in training, like this there will be 100 iterations</a:t>
            </a:r>
            <a:endParaRPr/>
          </a:p>
          <a:p>
            <a:pPr indent="0" lvl="0" marL="0" rtl="0" algn="l">
              <a:spcBef>
                <a:spcPts val="1000"/>
              </a:spcBef>
              <a:spcAft>
                <a:spcPts val="0"/>
              </a:spcAft>
              <a:buNone/>
            </a:pPr>
            <a:r>
              <a:t/>
            </a:r>
            <a:endParaRPr/>
          </a:p>
          <a:p>
            <a:pPr indent="0" lvl="0" marL="0" rtl="0" algn="l">
              <a:spcBef>
                <a:spcPts val="1000"/>
              </a:spcBef>
              <a:spcAft>
                <a:spcPts val="0"/>
              </a:spcAft>
              <a:buNone/>
            </a:pPr>
            <a:r>
              <a:rPr b="1" i="1" lang="en-US" u="sng"/>
              <a:t>Limitation</a:t>
            </a:r>
            <a:r>
              <a:rPr lang="en-US"/>
              <a:t>: </a:t>
            </a:r>
            <a:r>
              <a:rPr lang="en-US" sz="2600"/>
              <a:t>Due to the high number of test sets (which is the same as the number of samples) this cross validation method can be very costly. For large datasets one should favor KFold, StratifiedKFold or ShuffleSplit. </a:t>
            </a:r>
            <a:endParaRPr sz="26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g3e1c838bfde_0_9"/>
          <p:cNvSpPr txBox="1"/>
          <p:nvPr>
            <p:ph type="title"/>
          </p:nvPr>
        </p:nvSpPr>
        <p:spPr>
          <a:xfrm>
            <a:off x="838200" y="365125"/>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en-US"/>
              <a:t>Shuffle Split</a:t>
            </a:r>
            <a:endParaRPr/>
          </a:p>
        </p:txBody>
      </p:sp>
      <p:sp>
        <p:nvSpPr>
          <p:cNvPr id="194" name="Google Shape;194;g3e1c838bfde_0_9"/>
          <p:cNvSpPr txBox="1"/>
          <p:nvPr>
            <p:ph idx="1" type="body"/>
          </p:nvPr>
        </p:nvSpPr>
        <p:spPr>
          <a:xfrm>
            <a:off x="838200" y="1825625"/>
            <a:ext cx="10515600" cy="4351200"/>
          </a:xfrm>
          <a:prstGeom prst="rect">
            <a:avLst/>
          </a:prstGeom>
        </p:spPr>
        <p:txBody>
          <a:bodyPr anchorCtr="0" anchor="t" bIns="45700" lIns="91425" spcFirstLastPara="1" rIns="91425" wrap="square" tIns="45700">
            <a:normAutofit lnSpcReduction="10000"/>
          </a:bodyPr>
          <a:lstStyle/>
          <a:p>
            <a:pPr indent="0" lvl="0" marL="0" rtl="0" algn="l">
              <a:spcBef>
                <a:spcPts val="1000"/>
              </a:spcBef>
              <a:spcAft>
                <a:spcPts val="0"/>
              </a:spcAft>
              <a:buNone/>
            </a:pPr>
            <a:r>
              <a:rPr lang="en-US"/>
              <a:t>It is Repeated random splitting</a:t>
            </a:r>
            <a:endParaRPr/>
          </a:p>
          <a:p>
            <a:pPr indent="0" lvl="0" marL="0" rtl="0" algn="l">
              <a:spcBef>
                <a:spcPts val="1000"/>
              </a:spcBef>
              <a:spcAft>
                <a:spcPts val="0"/>
              </a:spcAft>
              <a:buNone/>
            </a:pPr>
            <a:r>
              <a:rPr lang="en-US"/>
              <a:t>Data is split in training and testing ‘n’ times </a:t>
            </a:r>
            <a:endParaRPr/>
          </a:p>
          <a:p>
            <a:pPr indent="0" lvl="0" marL="0" rtl="0" algn="l">
              <a:spcBef>
                <a:spcPts val="1000"/>
              </a:spcBef>
              <a:spcAft>
                <a:spcPts val="0"/>
              </a:spcAft>
              <a:buClr>
                <a:schemeClr val="dk1"/>
              </a:buClr>
              <a:buSzPts val="1100"/>
              <a:buFont typeface="Arial"/>
              <a:buNone/>
            </a:pPr>
            <a:r>
              <a:rPr lang="en-US"/>
              <a:t>There is possibility of overlap</a:t>
            </a:r>
            <a:endParaRPr/>
          </a:p>
          <a:p>
            <a:pPr indent="0" lvl="0" marL="0" rtl="0" algn="l">
              <a:spcBef>
                <a:spcPts val="1000"/>
              </a:spcBef>
              <a:spcAft>
                <a:spcPts val="0"/>
              </a:spcAft>
              <a:buNone/>
            </a:pPr>
            <a:r>
              <a:rPr lang="en-US"/>
              <a:t>‘</a:t>
            </a:r>
            <a:r>
              <a:rPr lang="en-US"/>
              <a:t>n’ is given by user</a:t>
            </a:r>
            <a:endParaRPr/>
          </a:p>
          <a:p>
            <a:pPr indent="0" lvl="0" marL="0" rtl="0" algn="l">
              <a:spcBef>
                <a:spcPts val="1000"/>
              </a:spcBef>
              <a:spcAft>
                <a:spcPts val="0"/>
              </a:spcAft>
              <a:buNone/>
            </a:pPr>
            <a:r>
              <a:t/>
            </a:r>
            <a:endParaRPr/>
          </a:p>
          <a:p>
            <a:pPr indent="0" lvl="0" marL="0" rtl="0" algn="l">
              <a:spcBef>
                <a:spcPts val="1000"/>
              </a:spcBef>
              <a:spcAft>
                <a:spcPts val="0"/>
              </a:spcAft>
              <a:buNone/>
            </a:pPr>
            <a:r>
              <a:rPr lang="en-US"/>
              <a:t>Example:</a:t>
            </a:r>
            <a:endParaRPr/>
          </a:p>
          <a:p>
            <a:pPr indent="0" lvl="0" marL="0" rtl="0" algn="l">
              <a:spcBef>
                <a:spcPts val="1000"/>
              </a:spcBef>
              <a:spcAft>
                <a:spcPts val="0"/>
              </a:spcAft>
              <a:buNone/>
            </a:pPr>
            <a:r>
              <a:rPr lang="en-US"/>
              <a:t>If we have 20 samples and n=5, training size = 60% and test size 40%</a:t>
            </a:r>
            <a:endParaRPr/>
          </a:p>
          <a:p>
            <a:pPr indent="0" lvl="0" marL="0" rtl="0" algn="l">
              <a:spcBef>
                <a:spcPts val="1000"/>
              </a:spcBef>
              <a:spcAft>
                <a:spcPts val="0"/>
              </a:spcAft>
              <a:buNone/>
            </a:pPr>
            <a:r>
              <a:rPr lang="en-US"/>
              <a:t>Then there will be 10 iterations. In each iteration training data and test </a:t>
            </a:r>
            <a:r>
              <a:rPr lang="en-US"/>
              <a:t>data will be given.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How a Machine Learns?</a:t>
            </a:r>
            <a:endParaRPr/>
          </a:p>
        </p:txBody>
      </p:sp>
      <p:sp>
        <p:nvSpPr>
          <p:cNvPr id="200" name="Google Shape;200;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Where do you see learning taking place?</a:t>
            </a:r>
            <a:endParaRPr/>
          </a:p>
          <a:p>
            <a:pPr indent="-50800" lvl="0" marL="228600" rtl="0" algn="l">
              <a:lnSpc>
                <a:spcPct val="90000"/>
              </a:lnSpc>
              <a:spcBef>
                <a:spcPts val="1000"/>
              </a:spcBef>
              <a:spcAft>
                <a:spcPts val="0"/>
              </a:spcAft>
              <a:buClr>
                <a:schemeClr val="dk1"/>
              </a:buClr>
              <a:buSzPts val="2800"/>
              <a:buNone/>
            </a:pPr>
            <a:r>
              <a:t/>
            </a:r>
            <a:endParaRPr/>
          </a:p>
          <a:p>
            <a:pPr indent="-228600" lvl="0" marL="228600" rtl="0" algn="l">
              <a:lnSpc>
                <a:spcPct val="90000"/>
              </a:lnSpc>
              <a:spcBef>
                <a:spcPts val="1000"/>
              </a:spcBef>
              <a:spcAft>
                <a:spcPts val="0"/>
              </a:spcAft>
              <a:buClr>
                <a:schemeClr val="dk1"/>
              </a:buClr>
              <a:buSzPts val="2800"/>
              <a:buChar char="•"/>
            </a:pPr>
            <a:r>
              <a:rPr lang="en-US"/>
              <a:t>Can a machine learn on its own ?</a:t>
            </a:r>
            <a:endParaRPr/>
          </a:p>
          <a:p>
            <a:pPr indent="-228600" lvl="1" marL="685800" rtl="0" algn="l">
              <a:lnSpc>
                <a:spcPct val="90000"/>
              </a:lnSpc>
              <a:spcBef>
                <a:spcPts val="500"/>
              </a:spcBef>
              <a:spcAft>
                <a:spcPts val="0"/>
              </a:spcAft>
              <a:buClr>
                <a:schemeClr val="dk1"/>
              </a:buClr>
              <a:buSzPts val="2400"/>
              <a:buChar char="•"/>
            </a:pPr>
            <a:r>
              <a:rPr lang="en-US"/>
              <a:t>Supervised </a:t>
            </a:r>
            <a:endParaRPr/>
          </a:p>
          <a:p>
            <a:pPr indent="-228600" lvl="1" marL="685800" rtl="0" algn="l">
              <a:lnSpc>
                <a:spcPct val="90000"/>
              </a:lnSpc>
              <a:spcBef>
                <a:spcPts val="500"/>
              </a:spcBef>
              <a:spcAft>
                <a:spcPts val="0"/>
              </a:spcAft>
              <a:buClr>
                <a:schemeClr val="dk1"/>
              </a:buClr>
              <a:buSzPts val="2400"/>
              <a:buChar char="•"/>
            </a:pPr>
            <a:r>
              <a:rPr lang="en-US"/>
              <a:t>Un-Supervised </a:t>
            </a:r>
            <a:endParaRPr/>
          </a:p>
          <a:p>
            <a:pPr indent="-190500" lvl="1" marL="685800" rtl="0" algn="l">
              <a:lnSpc>
                <a:spcPct val="90000"/>
              </a:lnSpc>
              <a:spcBef>
                <a:spcPts val="500"/>
              </a:spcBef>
              <a:spcAft>
                <a:spcPts val="0"/>
              </a:spcAft>
              <a:buSzPts val="1800"/>
              <a:buChar char="•"/>
            </a:pPr>
            <a:r>
              <a:rPr lang="en-US"/>
              <a:t>Reinforcement</a:t>
            </a:r>
            <a:endParaRPr/>
          </a:p>
          <a:p>
            <a:pPr indent="-50800" lvl="0" marL="228600" rtl="0" algn="l">
              <a:lnSpc>
                <a:spcPct val="90000"/>
              </a:lnSpc>
              <a:spcBef>
                <a:spcPts val="1000"/>
              </a:spcBef>
              <a:spcAft>
                <a:spcPts val="0"/>
              </a:spcAft>
              <a:buClr>
                <a:schemeClr val="dk1"/>
              </a:buClr>
              <a:buSzPts val="2800"/>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1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Machine Learning Tasks</a:t>
            </a:r>
            <a:endParaRPr/>
          </a:p>
        </p:txBody>
      </p:sp>
      <p:sp>
        <p:nvSpPr>
          <p:cNvPr id="206" name="Google Shape;206;p1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Prediction (Supervised)</a:t>
            </a:r>
            <a:endParaRPr/>
          </a:p>
          <a:p>
            <a:pPr indent="-228600" lvl="1" marL="685800" rtl="0" algn="l">
              <a:lnSpc>
                <a:spcPct val="90000"/>
              </a:lnSpc>
              <a:spcBef>
                <a:spcPts val="500"/>
              </a:spcBef>
              <a:spcAft>
                <a:spcPts val="0"/>
              </a:spcAft>
              <a:buClr>
                <a:schemeClr val="dk1"/>
              </a:buClr>
              <a:buSzPts val="2400"/>
              <a:buChar char="•"/>
            </a:pPr>
            <a:r>
              <a:rPr lang="en-US"/>
              <a:t>Regression – predict a number</a:t>
            </a:r>
            <a:endParaRPr/>
          </a:p>
          <a:p>
            <a:pPr indent="-228600" lvl="2" marL="1143000" rtl="0" algn="l">
              <a:lnSpc>
                <a:spcPct val="90000"/>
              </a:lnSpc>
              <a:spcBef>
                <a:spcPts val="500"/>
              </a:spcBef>
              <a:spcAft>
                <a:spcPts val="0"/>
              </a:spcAft>
              <a:buClr>
                <a:schemeClr val="dk1"/>
              </a:buClr>
              <a:buSzPts val="2000"/>
              <a:buChar char="•"/>
            </a:pPr>
            <a:r>
              <a:rPr lang="en-US"/>
              <a:t>Ex. Predict product price based on raw material </a:t>
            </a:r>
            <a:endParaRPr/>
          </a:p>
          <a:p>
            <a:pPr indent="-228600" lvl="2" marL="1143000" rtl="0" algn="l">
              <a:lnSpc>
                <a:spcPct val="90000"/>
              </a:lnSpc>
              <a:spcBef>
                <a:spcPts val="500"/>
              </a:spcBef>
              <a:spcAft>
                <a:spcPts val="0"/>
              </a:spcAft>
              <a:buClr>
                <a:schemeClr val="dk1"/>
              </a:buClr>
              <a:buSzPts val="2000"/>
              <a:buChar char="•"/>
            </a:pPr>
            <a:r>
              <a:rPr lang="en-US"/>
              <a:t>Linear, Multivariate, Decision Tree and many other Regression methods are used.</a:t>
            </a:r>
            <a:endParaRPr/>
          </a:p>
          <a:p>
            <a:pPr indent="-228600" lvl="1" marL="685800" rtl="0" algn="l">
              <a:lnSpc>
                <a:spcPct val="90000"/>
              </a:lnSpc>
              <a:spcBef>
                <a:spcPts val="500"/>
              </a:spcBef>
              <a:spcAft>
                <a:spcPts val="0"/>
              </a:spcAft>
              <a:buClr>
                <a:schemeClr val="dk1"/>
              </a:buClr>
              <a:buSzPts val="2400"/>
              <a:buChar char="•"/>
            </a:pPr>
            <a:r>
              <a:rPr lang="en-US"/>
              <a:t>Classification – predict a label / class</a:t>
            </a:r>
            <a:endParaRPr/>
          </a:p>
          <a:p>
            <a:pPr indent="-228600" lvl="2" marL="1143000" rtl="0" algn="l">
              <a:lnSpc>
                <a:spcPct val="90000"/>
              </a:lnSpc>
              <a:spcBef>
                <a:spcPts val="500"/>
              </a:spcBef>
              <a:spcAft>
                <a:spcPts val="0"/>
              </a:spcAft>
              <a:buClr>
                <a:schemeClr val="dk1"/>
              </a:buClr>
              <a:buSzPts val="2000"/>
              <a:buChar char="•"/>
            </a:pPr>
            <a:r>
              <a:rPr lang="en-US"/>
              <a:t>Ex. Predict Bank Loan Customer’s class either defaulter / regular</a:t>
            </a:r>
            <a:endParaRPr b="1" i="1"/>
          </a:p>
          <a:p>
            <a:pPr indent="-228600" lvl="2" marL="1143000" rtl="0" algn="l">
              <a:lnSpc>
                <a:spcPct val="90000"/>
              </a:lnSpc>
              <a:spcBef>
                <a:spcPts val="500"/>
              </a:spcBef>
              <a:spcAft>
                <a:spcPts val="0"/>
              </a:spcAft>
              <a:buClr>
                <a:schemeClr val="dk1"/>
              </a:buClr>
              <a:buSzPts val="2000"/>
              <a:buChar char="•"/>
            </a:pPr>
            <a:r>
              <a:rPr lang="en-US"/>
              <a:t>Naive Bayes, SVM, Decision Tree and many other methods are used</a:t>
            </a:r>
            <a:endParaRPr/>
          </a:p>
          <a:p>
            <a:pPr indent="-228600" lvl="0" marL="228600" rtl="0" algn="l">
              <a:lnSpc>
                <a:spcPct val="90000"/>
              </a:lnSpc>
              <a:spcBef>
                <a:spcPts val="1000"/>
              </a:spcBef>
              <a:spcAft>
                <a:spcPts val="0"/>
              </a:spcAft>
              <a:buClr>
                <a:schemeClr val="dk1"/>
              </a:buClr>
              <a:buSzPts val="2800"/>
              <a:buChar char="•"/>
            </a:pPr>
            <a:r>
              <a:rPr lang="en-US"/>
              <a:t>Forecasting (Supervised)</a:t>
            </a:r>
            <a:endParaRPr/>
          </a:p>
          <a:p>
            <a:pPr indent="-228600" lvl="1" marL="685800" rtl="0" algn="l">
              <a:lnSpc>
                <a:spcPct val="90000"/>
              </a:lnSpc>
              <a:spcBef>
                <a:spcPts val="500"/>
              </a:spcBef>
              <a:spcAft>
                <a:spcPts val="0"/>
              </a:spcAft>
              <a:buClr>
                <a:schemeClr val="dk1"/>
              </a:buClr>
              <a:buSzPts val="2400"/>
              <a:buChar char="•"/>
            </a:pPr>
            <a:r>
              <a:rPr lang="en-US"/>
              <a:t>Predict future values – mostly numbers Ex. Share Market forecast</a:t>
            </a:r>
            <a:endParaRPr/>
          </a:p>
          <a:p>
            <a:pPr indent="-228600" lvl="1" marL="685800" rtl="0" algn="l">
              <a:lnSpc>
                <a:spcPct val="90000"/>
              </a:lnSpc>
              <a:spcBef>
                <a:spcPts val="500"/>
              </a:spcBef>
              <a:spcAft>
                <a:spcPts val="0"/>
              </a:spcAft>
              <a:buClr>
                <a:schemeClr val="dk1"/>
              </a:buClr>
              <a:buSzPts val="2400"/>
              <a:buChar char="•"/>
            </a:pPr>
            <a:r>
              <a:rPr lang="en-US"/>
              <a:t>Can be seen as regression task</a:t>
            </a:r>
            <a:endParaRPr/>
          </a:p>
          <a:p>
            <a:pPr indent="-228600" lvl="1" marL="685800" rtl="0" algn="l">
              <a:lnSpc>
                <a:spcPct val="90000"/>
              </a:lnSpc>
              <a:spcBef>
                <a:spcPts val="500"/>
              </a:spcBef>
              <a:spcAft>
                <a:spcPts val="0"/>
              </a:spcAft>
              <a:buClr>
                <a:schemeClr val="dk1"/>
              </a:buClr>
              <a:buSzPts val="2400"/>
              <a:buChar char="•"/>
            </a:pPr>
            <a:r>
              <a:rPr lang="en-US"/>
              <a:t>Models like ARIMA , and regression models are used</a:t>
            </a:r>
            <a:endParaRPr/>
          </a:p>
          <a:p>
            <a:pPr indent="-76200" lvl="1" marL="685800" rtl="0" algn="l">
              <a:lnSpc>
                <a:spcPct val="90000"/>
              </a:lnSpc>
              <a:spcBef>
                <a:spcPts val="500"/>
              </a:spcBef>
              <a:spcAft>
                <a:spcPts val="0"/>
              </a:spcAft>
              <a:buClr>
                <a:schemeClr val="dk1"/>
              </a:buClr>
              <a:buSzPts val="2400"/>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16"/>
          <p:cNvSpPr txBox="1"/>
          <p:nvPr>
            <p:ph type="title"/>
          </p:nvPr>
        </p:nvSpPr>
        <p:spPr>
          <a:xfrm>
            <a:off x="838200" y="365125"/>
            <a:ext cx="10515600" cy="729897"/>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Machine Learning Tasks</a:t>
            </a:r>
            <a:endParaRPr/>
          </a:p>
        </p:txBody>
      </p:sp>
      <p:sp>
        <p:nvSpPr>
          <p:cNvPr id="212" name="Google Shape;212;p16"/>
          <p:cNvSpPr txBox="1"/>
          <p:nvPr>
            <p:ph idx="1" type="body"/>
          </p:nvPr>
        </p:nvSpPr>
        <p:spPr>
          <a:xfrm>
            <a:off x="838200" y="1185333"/>
            <a:ext cx="10515600" cy="5508977"/>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Recommendation Systems (Supervised)</a:t>
            </a:r>
            <a:endParaRPr/>
          </a:p>
          <a:p>
            <a:pPr indent="-228600" lvl="1" marL="685800" rtl="0" algn="l">
              <a:lnSpc>
                <a:spcPct val="90000"/>
              </a:lnSpc>
              <a:spcBef>
                <a:spcPts val="500"/>
              </a:spcBef>
              <a:spcAft>
                <a:spcPts val="0"/>
              </a:spcAft>
              <a:buClr>
                <a:schemeClr val="dk1"/>
              </a:buClr>
              <a:buSzPts val="2400"/>
              <a:buChar char="•"/>
            </a:pPr>
            <a:r>
              <a:rPr lang="en-US"/>
              <a:t>Recommend best options possible</a:t>
            </a:r>
            <a:endParaRPr/>
          </a:p>
          <a:p>
            <a:pPr indent="-228600" lvl="1" marL="685800" rtl="0" algn="l">
              <a:lnSpc>
                <a:spcPct val="90000"/>
              </a:lnSpc>
              <a:spcBef>
                <a:spcPts val="500"/>
              </a:spcBef>
              <a:spcAft>
                <a:spcPts val="0"/>
              </a:spcAft>
              <a:buClr>
                <a:schemeClr val="dk1"/>
              </a:buClr>
              <a:buSzPts val="2400"/>
              <a:buChar char="•"/>
            </a:pPr>
            <a:r>
              <a:rPr lang="en-US"/>
              <a:t>Methods like Collaborative Filtering are used</a:t>
            </a:r>
            <a:endParaRPr/>
          </a:p>
          <a:p>
            <a:pPr indent="-50800" lvl="0" marL="228600" rtl="0" algn="l">
              <a:lnSpc>
                <a:spcPct val="90000"/>
              </a:lnSpc>
              <a:spcBef>
                <a:spcPts val="1000"/>
              </a:spcBef>
              <a:spcAft>
                <a:spcPts val="0"/>
              </a:spcAft>
              <a:buClr>
                <a:schemeClr val="dk1"/>
              </a:buClr>
              <a:buSzPts val="2800"/>
              <a:buNone/>
            </a:pPr>
            <a:r>
              <a:t/>
            </a:r>
            <a:endParaRPr/>
          </a:p>
          <a:p>
            <a:pPr indent="-228600" lvl="0" marL="228600" rtl="0" algn="l">
              <a:lnSpc>
                <a:spcPct val="90000"/>
              </a:lnSpc>
              <a:spcBef>
                <a:spcPts val="1000"/>
              </a:spcBef>
              <a:spcAft>
                <a:spcPts val="0"/>
              </a:spcAft>
              <a:buClr>
                <a:schemeClr val="dk1"/>
              </a:buClr>
              <a:buSzPts val="2800"/>
              <a:buChar char="•"/>
            </a:pPr>
            <a:r>
              <a:rPr lang="en-US"/>
              <a:t>Clustering (Un-Supervised)</a:t>
            </a:r>
            <a:endParaRPr/>
          </a:p>
          <a:p>
            <a:pPr indent="-228600" lvl="1" marL="685800" rtl="0" algn="l">
              <a:lnSpc>
                <a:spcPct val="90000"/>
              </a:lnSpc>
              <a:spcBef>
                <a:spcPts val="500"/>
              </a:spcBef>
              <a:spcAft>
                <a:spcPts val="0"/>
              </a:spcAft>
              <a:buClr>
                <a:schemeClr val="dk1"/>
              </a:buClr>
              <a:buSzPts val="2400"/>
              <a:buChar char="•"/>
            </a:pPr>
            <a:r>
              <a:rPr lang="en-US"/>
              <a:t>Grouping Similar Items</a:t>
            </a:r>
            <a:endParaRPr/>
          </a:p>
          <a:p>
            <a:pPr indent="-228600" lvl="2" marL="1143000" rtl="0" algn="l">
              <a:lnSpc>
                <a:spcPct val="90000"/>
              </a:lnSpc>
              <a:spcBef>
                <a:spcPts val="500"/>
              </a:spcBef>
              <a:spcAft>
                <a:spcPts val="0"/>
              </a:spcAft>
              <a:buClr>
                <a:schemeClr val="dk1"/>
              </a:buClr>
              <a:buSzPts val="2000"/>
              <a:buChar char="•"/>
            </a:pPr>
            <a:r>
              <a:rPr lang="en-US"/>
              <a:t>Ex. Group movies of similar theme</a:t>
            </a:r>
            <a:endParaRPr/>
          </a:p>
          <a:p>
            <a:pPr indent="-228600" lvl="2" marL="1143000" rtl="0" algn="l">
              <a:lnSpc>
                <a:spcPct val="90000"/>
              </a:lnSpc>
              <a:spcBef>
                <a:spcPts val="500"/>
              </a:spcBef>
              <a:spcAft>
                <a:spcPts val="0"/>
              </a:spcAft>
              <a:buClr>
                <a:schemeClr val="dk1"/>
              </a:buClr>
              <a:buSzPts val="2000"/>
              <a:buChar char="•"/>
            </a:pPr>
            <a:r>
              <a:rPr lang="en-US"/>
              <a:t>Algorithms like k-means &amp; DBSCAN clustering are used.</a:t>
            </a:r>
            <a:endParaRPr/>
          </a:p>
          <a:p>
            <a:pPr indent="-101600" lvl="2" marL="1143000" rtl="0" algn="l">
              <a:lnSpc>
                <a:spcPct val="90000"/>
              </a:lnSpc>
              <a:spcBef>
                <a:spcPts val="500"/>
              </a:spcBef>
              <a:spcAft>
                <a:spcPts val="0"/>
              </a:spcAft>
              <a:buClr>
                <a:schemeClr val="dk1"/>
              </a:buClr>
              <a:buSzPts val="2000"/>
              <a:buNone/>
            </a:pPr>
            <a:r>
              <a:t/>
            </a:r>
            <a:endParaRPr/>
          </a:p>
          <a:p>
            <a:pPr indent="-228600" lvl="0" marL="228600" rtl="0" algn="l">
              <a:lnSpc>
                <a:spcPct val="90000"/>
              </a:lnSpc>
              <a:spcBef>
                <a:spcPts val="1000"/>
              </a:spcBef>
              <a:spcAft>
                <a:spcPts val="0"/>
              </a:spcAft>
              <a:buClr>
                <a:schemeClr val="dk1"/>
              </a:buClr>
              <a:buSzPts val="2800"/>
              <a:buChar char="•"/>
            </a:pPr>
            <a:r>
              <a:rPr lang="en-US"/>
              <a:t>Outlier Detection / Fraud Detection ( Un-Supervised / Supervised)</a:t>
            </a:r>
            <a:endParaRPr/>
          </a:p>
          <a:p>
            <a:pPr indent="-228600" lvl="1" marL="685800" rtl="0" algn="l">
              <a:lnSpc>
                <a:spcPct val="90000"/>
              </a:lnSpc>
              <a:spcBef>
                <a:spcPts val="500"/>
              </a:spcBef>
              <a:spcAft>
                <a:spcPts val="0"/>
              </a:spcAft>
              <a:buClr>
                <a:schemeClr val="dk1"/>
              </a:buClr>
              <a:buSzPts val="2400"/>
              <a:buChar char="•"/>
            </a:pPr>
            <a:r>
              <a:rPr lang="en-US"/>
              <a:t>Find the extreme values / outliers from data</a:t>
            </a:r>
            <a:endParaRPr/>
          </a:p>
          <a:p>
            <a:pPr indent="-228600" lvl="1" marL="685800" rtl="0" algn="l">
              <a:lnSpc>
                <a:spcPct val="90000"/>
              </a:lnSpc>
              <a:spcBef>
                <a:spcPts val="500"/>
              </a:spcBef>
              <a:spcAft>
                <a:spcPts val="0"/>
              </a:spcAft>
              <a:buClr>
                <a:schemeClr val="dk1"/>
              </a:buClr>
              <a:buSzPts val="2400"/>
              <a:buChar char="•"/>
            </a:pPr>
            <a:r>
              <a:rPr lang="en-US"/>
              <a:t>Can be considered as classification / clustering task based on data</a:t>
            </a:r>
            <a:endParaRPr/>
          </a:p>
          <a:p>
            <a:pPr indent="-228600" lvl="1" marL="685800" rtl="0" algn="l">
              <a:lnSpc>
                <a:spcPct val="90000"/>
              </a:lnSpc>
              <a:spcBef>
                <a:spcPts val="500"/>
              </a:spcBef>
              <a:spcAft>
                <a:spcPts val="0"/>
              </a:spcAft>
              <a:buClr>
                <a:schemeClr val="dk1"/>
              </a:buClr>
              <a:buSzPts val="2400"/>
              <a:buChar char="•"/>
            </a:pPr>
            <a:r>
              <a:rPr lang="en-US"/>
              <a:t>Algorithms like DBSCAN are used</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1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Machine Learning Tasks</a:t>
            </a:r>
            <a:endParaRPr/>
          </a:p>
        </p:txBody>
      </p:sp>
      <p:sp>
        <p:nvSpPr>
          <p:cNvPr id="218" name="Google Shape;218;p17"/>
          <p:cNvSpPr txBox="1"/>
          <p:nvPr>
            <p:ph idx="1" type="body"/>
          </p:nvPr>
        </p:nvSpPr>
        <p:spPr>
          <a:xfrm>
            <a:off x="838200" y="1571224"/>
            <a:ext cx="10515600" cy="4855334"/>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Descriptive Tasks</a:t>
            </a:r>
            <a:endParaRPr/>
          </a:p>
          <a:p>
            <a:pPr indent="-228600" lvl="1" marL="685800" rtl="0" algn="l">
              <a:lnSpc>
                <a:spcPct val="90000"/>
              </a:lnSpc>
              <a:spcBef>
                <a:spcPts val="500"/>
              </a:spcBef>
              <a:spcAft>
                <a:spcPts val="0"/>
              </a:spcAft>
              <a:buClr>
                <a:schemeClr val="dk1"/>
              </a:buClr>
              <a:buSzPts val="2400"/>
              <a:buChar char="•"/>
            </a:pPr>
            <a:r>
              <a:rPr lang="en-US"/>
              <a:t>Subgroup Discovery (Supervised Learning)</a:t>
            </a:r>
            <a:endParaRPr/>
          </a:p>
          <a:p>
            <a:pPr indent="-228600" lvl="2" marL="1143000" rtl="0" algn="l">
              <a:lnSpc>
                <a:spcPct val="90000"/>
              </a:lnSpc>
              <a:spcBef>
                <a:spcPts val="500"/>
              </a:spcBef>
              <a:spcAft>
                <a:spcPts val="0"/>
              </a:spcAft>
              <a:buClr>
                <a:schemeClr val="dk1"/>
              </a:buClr>
              <a:buSzPts val="2000"/>
              <a:buChar char="•"/>
            </a:pPr>
            <a:r>
              <a:rPr lang="en-US"/>
              <a:t>Sub part tagging</a:t>
            </a:r>
            <a:endParaRPr/>
          </a:p>
          <a:p>
            <a:pPr indent="-228600" lvl="2" marL="1143000" rtl="0" algn="l">
              <a:lnSpc>
                <a:spcPct val="90000"/>
              </a:lnSpc>
              <a:spcBef>
                <a:spcPts val="500"/>
              </a:spcBef>
              <a:spcAft>
                <a:spcPts val="0"/>
              </a:spcAft>
              <a:buClr>
                <a:schemeClr val="dk1"/>
              </a:buClr>
              <a:buSzPts val="2000"/>
              <a:buChar char="•"/>
            </a:pPr>
            <a:r>
              <a:rPr b="1" lang="en-US" u="sng"/>
              <a:t>Example</a:t>
            </a:r>
            <a:r>
              <a:rPr lang="en-US"/>
              <a:t> </a:t>
            </a:r>
            <a:endParaRPr/>
          </a:p>
          <a:p>
            <a:pPr indent="-228600" lvl="2" marL="1143000" rtl="0" algn="l">
              <a:lnSpc>
                <a:spcPct val="90000"/>
              </a:lnSpc>
              <a:spcBef>
                <a:spcPts val="500"/>
              </a:spcBef>
              <a:spcAft>
                <a:spcPts val="0"/>
              </a:spcAft>
              <a:buClr>
                <a:schemeClr val="dk1"/>
              </a:buClr>
              <a:buSzPts val="2000"/>
              <a:buChar char="•"/>
            </a:pPr>
            <a:r>
              <a:rPr lang="en-US"/>
              <a:t>multiple object detection in one scene</a:t>
            </a:r>
            <a:endParaRPr/>
          </a:p>
          <a:p>
            <a:pPr indent="-228600" lvl="2" marL="1143000" rtl="0" algn="l">
              <a:lnSpc>
                <a:spcPct val="90000"/>
              </a:lnSpc>
              <a:spcBef>
                <a:spcPts val="500"/>
              </a:spcBef>
              <a:spcAft>
                <a:spcPts val="0"/>
              </a:spcAft>
              <a:buClr>
                <a:schemeClr val="dk1"/>
              </a:buClr>
              <a:buSzPts val="2000"/>
              <a:buChar char="•"/>
            </a:pPr>
            <a:r>
              <a:rPr lang="en-US"/>
              <a:t>Part of Speech tagging</a:t>
            </a:r>
            <a:endParaRPr/>
          </a:p>
          <a:p>
            <a:pPr indent="-101600" lvl="2" marL="1143000" rtl="0" algn="l">
              <a:lnSpc>
                <a:spcPct val="90000"/>
              </a:lnSpc>
              <a:spcBef>
                <a:spcPts val="500"/>
              </a:spcBef>
              <a:spcAft>
                <a:spcPts val="0"/>
              </a:spcAft>
              <a:buClr>
                <a:schemeClr val="dk1"/>
              </a:buClr>
              <a:buSzPts val="2000"/>
              <a:buNone/>
            </a:pPr>
            <a:r>
              <a:t/>
            </a:r>
            <a:endParaRPr/>
          </a:p>
          <a:p>
            <a:pPr indent="-228600" lvl="1" marL="685800" rtl="0" algn="l">
              <a:lnSpc>
                <a:spcPct val="90000"/>
              </a:lnSpc>
              <a:spcBef>
                <a:spcPts val="500"/>
              </a:spcBef>
              <a:spcAft>
                <a:spcPts val="0"/>
              </a:spcAft>
              <a:buClr>
                <a:schemeClr val="dk1"/>
              </a:buClr>
              <a:buSzPts val="2400"/>
              <a:buChar char="•"/>
            </a:pPr>
            <a:r>
              <a:rPr lang="en-US"/>
              <a:t>Association Rule Discovery (Un-Supervised Learning)</a:t>
            </a:r>
            <a:endParaRPr/>
          </a:p>
          <a:p>
            <a:pPr indent="-228600" lvl="2" marL="1143000" rtl="0" algn="l">
              <a:lnSpc>
                <a:spcPct val="90000"/>
              </a:lnSpc>
              <a:spcBef>
                <a:spcPts val="500"/>
              </a:spcBef>
              <a:spcAft>
                <a:spcPts val="0"/>
              </a:spcAft>
              <a:buClr>
                <a:schemeClr val="dk1"/>
              </a:buClr>
              <a:buSzPts val="2000"/>
              <a:buChar char="•"/>
            </a:pPr>
            <a:r>
              <a:rPr lang="en-US"/>
              <a:t>Find the pattern of frequently occurring objects / things </a:t>
            </a:r>
            <a:endParaRPr/>
          </a:p>
          <a:p>
            <a:pPr indent="-228600" lvl="2" marL="1143000" rtl="0" algn="l">
              <a:lnSpc>
                <a:spcPct val="90000"/>
              </a:lnSpc>
              <a:spcBef>
                <a:spcPts val="500"/>
              </a:spcBef>
              <a:spcAft>
                <a:spcPts val="0"/>
              </a:spcAft>
              <a:buClr>
                <a:schemeClr val="dk1"/>
              </a:buClr>
              <a:buSzPts val="2000"/>
              <a:buChar char="•"/>
            </a:pPr>
            <a:r>
              <a:rPr b="1" lang="en-US" u="sng"/>
              <a:t>Example</a:t>
            </a:r>
            <a:endParaRPr/>
          </a:p>
          <a:p>
            <a:pPr indent="-228600" lvl="2" marL="1143000" rtl="0" algn="l">
              <a:lnSpc>
                <a:spcPct val="90000"/>
              </a:lnSpc>
              <a:spcBef>
                <a:spcPts val="500"/>
              </a:spcBef>
              <a:spcAft>
                <a:spcPts val="0"/>
              </a:spcAft>
              <a:buClr>
                <a:schemeClr val="dk1"/>
              </a:buClr>
              <a:buSzPts val="2000"/>
              <a:buChar char="•"/>
            </a:pPr>
            <a:r>
              <a:rPr lang="en-US"/>
              <a:t>Find the rules from purchase data of a shop</a:t>
            </a:r>
            <a:endParaRPr/>
          </a:p>
          <a:p>
            <a:pPr indent="-228600" lvl="2" marL="1143000" rtl="0" algn="l">
              <a:lnSpc>
                <a:spcPct val="90000"/>
              </a:lnSpc>
              <a:spcBef>
                <a:spcPts val="500"/>
              </a:spcBef>
              <a:spcAft>
                <a:spcPts val="0"/>
              </a:spcAft>
              <a:buClr>
                <a:schemeClr val="dk1"/>
              </a:buClr>
              <a:buSzPts val="2000"/>
              <a:buChar char="•"/>
            </a:pPr>
            <a:r>
              <a:rPr lang="en-US"/>
              <a:t>Rule 1: Toothpaste and brush are purchased together</a:t>
            </a:r>
            <a:endParaRPr/>
          </a:p>
          <a:p>
            <a:pPr indent="-228600" lvl="2" marL="1143000" rtl="0" algn="l">
              <a:lnSpc>
                <a:spcPct val="90000"/>
              </a:lnSpc>
              <a:spcBef>
                <a:spcPts val="500"/>
              </a:spcBef>
              <a:spcAft>
                <a:spcPts val="0"/>
              </a:spcAft>
              <a:buClr>
                <a:schemeClr val="dk1"/>
              </a:buClr>
              <a:buSzPts val="2000"/>
              <a:buChar char="•"/>
            </a:pPr>
            <a:r>
              <a:rPr lang="en-US"/>
              <a:t>Rule 2: Honey and sugar and not bought together</a:t>
            </a:r>
            <a:endParaRPr/>
          </a:p>
          <a:p>
            <a:pPr indent="-101600" lvl="2" marL="1143000" rtl="0" algn="l">
              <a:lnSpc>
                <a:spcPct val="90000"/>
              </a:lnSpc>
              <a:spcBef>
                <a:spcPts val="500"/>
              </a:spcBef>
              <a:spcAft>
                <a:spcPts val="0"/>
              </a:spcAft>
              <a:buClr>
                <a:schemeClr val="dk1"/>
              </a:buClr>
              <a:buSzPts val="2000"/>
              <a:buNone/>
            </a:pPr>
            <a:r>
              <a:t/>
            </a:r>
            <a:endParaRPr/>
          </a:p>
          <a:p>
            <a:pPr indent="-76200" lvl="1" marL="685800" rtl="0" algn="l">
              <a:lnSpc>
                <a:spcPct val="90000"/>
              </a:lnSpc>
              <a:spcBef>
                <a:spcPts val="500"/>
              </a:spcBef>
              <a:spcAft>
                <a:spcPts val="0"/>
              </a:spcAft>
              <a:buClr>
                <a:schemeClr val="dk1"/>
              </a:buClr>
              <a:buSzPts val="2400"/>
              <a:buNone/>
            </a:pPr>
            <a:r>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How to Approach a ML project?</a:t>
            </a:r>
            <a:endParaRPr/>
          </a:p>
        </p:txBody>
      </p:sp>
      <p:sp>
        <p:nvSpPr>
          <p:cNvPr id="224" name="Google Shape;224;p18"/>
          <p:cNvSpPr txBox="1"/>
          <p:nvPr>
            <p:ph idx="1" type="body"/>
          </p:nvPr>
        </p:nvSpPr>
        <p:spPr>
          <a:xfrm>
            <a:off x="838200" y="1444978"/>
            <a:ext cx="10515600" cy="4731985"/>
          </a:xfrm>
          <a:prstGeom prst="rect">
            <a:avLst/>
          </a:prstGeom>
          <a:noFill/>
          <a:ln>
            <a:noFill/>
          </a:ln>
        </p:spPr>
        <p:txBody>
          <a:bodyPr anchorCtr="0" anchor="t" bIns="45700" lIns="91425" spcFirstLastPara="1" rIns="91425" wrap="square" tIns="45700">
            <a:normAutofit lnSpcReduction="10000"/>
          </a:bodyPr>
          <a:lstStyle/>
          <a:p>
            <a:pPr indent="-228600" lvl="0" marL="228600" rtl="0" algn="l">
              <a:lnSpc>
                <a:spcPct val="90000"/>
              </a:lnSpc>
              <a:spcBef>
                <a:spcPts val="0"/>
              </a:spcBef>
              <a:spcAft>
                <a:spcPts val="0"/>
              </a:spcAft>
              <a:buClr>
                <a:schemeClr val="dk1"/>
              </a:buClr>
              <a:buSzPts val="2800"/>
              <a:buChar char="•"/>
            </a:pPr>
            <a:r>
              <a:rPr lang="en-US"/>
              <a:t>What is the question / problem being solved?</a:t>
            </a:r>
            <a:endParaRPr/>
          </a:p>
          <a:p>
            <a:pPr indent="-228600" lvl="1" marL="685800" rtl="0" algn="l">
              <a:lnSpc>
                <a:spcPct val="90000"/>
              </a:lnSpc>
              <a:spcBef>
                <a:spcPts val="500"/>
              </a:spcBef>
              <a:spcAft>
                <a:spcPts val="0"/>
              </a:spcAft>
              <a:buClr>
                <a:schemeClr val="dk1"/>
              </a:buClr>
              <a:buSzPts val="2400"/>
              <a:buChar char="•"/>
            </a:pPr>
            <a:r>
              <a:rPr lang="en-US"/>
              <a:t>What is the target?</a:t>
            </a:r>
            <a:endParaRPr/>
          </a:p>
          <a:p>
            <a:pPr indent="-228600" lvl="1" marL="685800" rtl="0" algn="l">
              <a:lnSpc>
                <a:spcPct val="90000"/>
              </a:lnSpc>
              <a:spcBef>
                <a:spcPts val="500"/>
              </a:spcBef>
              <a:spcAft>
                <a:spcPts val="0"/>
              </a:spcAft>
              <a:buClr>
                <a:schemeClr val="dk1"/>
              </a:buClr>
              <a:buSzPts val="2400"/>
              <a:buChar char="•"/>
            </a:pPr>
            <a:r>
              <a:rPr lang="en-US"/>
              <a:t>Which ML task to select?</a:t>
            </a:r>
            <a:endParaRPr/>
          </a:p>
          <a:p>
            <a:pPr indent="-228600" lvl="0" marL="228600" rtl="0" algn="l">
              <a:lnSpc>
                <a:spcPct val="90000"/>
              </a:lnSpc>
              <a:spcBef>
                <a:spcPts val="1000"/>
              </a:spcBef>
              <a:spcAft>
                <a:spcPts val="0"/>
              </a:spcAft>
              <a:buClr>
                <a:schemeClr val="dk1"/>
              </a:buClr>
              <a:buSzPts val="2800"/>
              <a:buChar char="•"/>
            </a:pPr>
            <a:r>
              <a:rPr lang="en-US"/>
              <a:t>Can data collected solve this?</a:t>
            </a:r>
            <a:endParaRPr/>
          </a:p>
          <a:p>
            <a:pPr indent="-228600" lvl="1" marL="685800" rtl="0" algn="l">
              <a:lnSpc>
                <a:spcPct val="90000"/>
              </a:lnSpc>
              <a:spcBef>
                <a:spcPts val="500"/>
              </a:spcBef>
              <a:spcAft>
                <a:spcPts val="0"/>
              </a:spcAft>
              <a:buClr>
                <a:schemeClr val="dk1"/>
              </a:buClr>
              <a:buSzPts val="2400"/>
              <a:buChar char="•"/>
            </a:pPr>
            <a:r>
              <a:rPr lang="en-US"/>
              <a:t>Feature Selection</a:t>
            </a:r>
            <a:endParaRPr/>
          </a:p>
          <a:p>
            <a:pPr indent="-228600" lvl="0" marL="228600" rtl="0" algn="l">
              <a:lnSpc>
                <a:spcPct val="90000"/>
              </a:lnSpc>
              <a:spcBef>
                <a:spcPts val="1000"/>
              </a:spcBef>
              <a:spcAft>
                <a:spcPts val="0"/>
              </a:spcAft>
              <a:buClr>
                <a:schemeClr val="dk1"/>
              </a:buClr>
              <a:buSzPts val="2800"/>
              <a:buChar char="•"/>
            </a:pPr>
            <a:r>
              <a:rPr lang="en-US"/>
              <a:t>Is the data, no of samples and features, enough?</a:t>
            </a:r>
            <a:endParaRPr/>
          </a:p>
          <a:p>
            <a:pPr indent="-228600" lvl="1" marL="685800" rtl="0" algn="l">
              <a:lnSpc>
                <a:spcPct val="90000"/>
              </a:lnSpc>
              <a:spcBef>
                <a:spcPts val="500"/>
              </a:spcBef>
              <a:spcAft>
                <a:spcPts val="0"/>
              </a:spcAft>
              <a:buClr>
                <a:schemeClr val="dk1"/>
              </a:buClr>
              <a:buSzPts val="2400"/>
              <a:buChar char="•"/>
            </a:pPr>
            <a:r>
              <a:rPr lang="en-US"/>
              <a:t>Feature selection</a:t>
            </a:r>
            <a:endParaRPr/>
          </a:p>
          <a:p>
            <a:pPr indent="-228600" lvl="0" marL="228600" rtl="0" algn="l">
              <a:lnSpc>
                <a:spcPct val="90000"/>
              </a:lnSpc>
              <a:spcBef>
                <a:spcPts val="1000"/>
              </a:spcBef>
              <a:spcAft>
                <a:spcPts val="0"/>
              </a:spcAft>
              <a:buClr>
                <a:schemeClr val="dk1"/>
              </a:buClr>
              <a:buSzPts val="2800"/>
              <a:buChar char="•"/>
            </a:pPr>
            <a:r>
              <a:rPr lang="en-US"/>
              <a:t>How to measure success of the project?</a:t>
            </a:r>
            <a:endParaRPr/>
          </a:p>
          <a:p>
            <a:pPr indent="-228600" lvl="1" marL="685800" rtl="0" algn="l">
              <a:lnSpc>
                <a:spcPct val="90000"/>
              </a:lnSpc>
              <a:spcBef>
                <a:spcPts val="500"/>
              </a:spcBef>
              <a:spcAft>
                <a:spcPts val="0"/>
              </a:spcAft>
              <a:buClr>
                <a:schemeClr val="dk1"/>
              </a:buClr>
              <a:buSzPts val="2400"/>
              <a:buChar char="•"/>
            </a:pPr>
            <a:r>
              <a:rPr lang="en-US"/>
              <a:t>Evaluation Measures</a:t>
            </a:r>
            <a:endParaRPr/>
          </a:p>
          <a:p>
            <a:pPr indent="-228600" lvl="0" marL="228600" rtl="0" algn="l">
              <a:lnSpc>
                <a:spcPct val="90000"/>
              </a:lnSpc>
              <a:spcBef>
                <a:spcPts val="1000"/>
              </a:spcBef>
              <a:spcAft>
                <a:spcPts val="0"/>
              </a:spcAft>
              <a:buClr>
                <a:schemeClr val="dk1"/>
              </a:buClr>
              <a:buSzPts val="2800"/>
              <a:buChar char="•"/>
            </a:pPr>
            <a:r>
              <a:rPr lang="en-US"/>
              <a:t>How this project interact with other parts / users?</a:t>
            </a:r>
            <a:endParaRPr/>
          </a:p>
          <a:p>
            <a:pPr indent="-228600" lvl="1" marL="685800" rtl="0" algn="l">
              <a:lnSpc>
                <a:spcPct val="90000"/>
              </a:lnSpc>
              <a:spcBef>
                <a:spcPts val="500"/>
              </a:spcBef>
              <a:spcAft>
                <a:spcPts val="0"/>
              </a:spcAft>
              <a:buClr>
                <a:schemeClr val="dk1"/>
              </a:buClr>
              <a:buSzPts val="2400"/>
              <a:buChar char="•"/>
            </a:pPr>
            <a:r>
              <a:rPr lang="en-US"/>
              <a:t>UI / Web Application / API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g39fb11a83d8_0_80"/>
          <p:cNvSpPr txBox="1"/>
          <p:nvPr>
            <p:ph type="title"/>
          </p:nvPr>
        </p:nvSpPr>
        <p:spPr>
          <a:xfrm>
            <a:off x="838200" y="365125"/>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en-US"/>
              <a:t>Adversarial Attacks on AI</a:t>
            </a:r>
            <a:endParaRPr/>
          </a:p>
        </p:txBody>
      </p:sp>
      <p:pic>
        <p:nvPicPr>
          <p:cNvPr descr="https://cdn.arstechnica.net/wp-content/uploads/2020/03/goldstein_shirt.png" id="230" name="Google Shape;230;g39fb11a83d8_0_80"/>
          <p:cNvPicPr preferRelativeResize="0"/>
          <p:nvPr/>
        </p:nvPicPr>
        <p:blipFill rotWithShape="1">
          <a:blip r:embed="rId3">
            <a:alphaModFix/>
          </a:blip>
          <a:srcRect b="0" l="0" r="0" t="0"/>
          <a:stretch/>
        </p:blipFill>
        <p:spPr>
          <a:xfrm>
            <a:off x="838200" y="1548384"/>
            <a:ext cx="10719816" cy="5096256"/>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g39fb11a83d8_0_86"/>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Normal working of Deep Learning / AI</a:t>
            </a:r>
            <a:endParaRPr/>
          </a:p>
        </p:txBody>
      </p:sp>
      <p:sp>
        <p:nvSpPr>
          <p:cNvPr id="236" name="Google Shape;236;g39fb11a83d8_0_86"/>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pic>
        <p:nvPicPr>
          <p:cNvPr id="237" name="Google Shape;237;g39fb11a83d8_0_86"/>
          <p:cNvPicPr preferRelativeResize="0"/>
          <p:nvPr/>
        </p:nvPicPr>
        <p:blipFill rotWithShape="1">
          <a:blip r:embed="rId3">
            <a:alphaModFix/>
          </a:blip>
          <a:srcRect b="0" l="0" r="0" t="0"/>
          <a:stretch/>
        </p:blipFill>
        <p:spPr>
          <a:xfrm>
            <a:off x="838200" y="1572768"/>
            <a:ext cx="10515599" cy="484022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g39fb11a83d8_0_92"/>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lang="en-US"/>
              <a:t>Adversarial working of Deep Learning / AI</a:t>
            </a:r>
            <a:endParaRPr/>
          </a:p>
        </p:txBody>
      </p:sp>
      <p:sp>
        <p:nvSpPr>
          <p:cNvPr id="243" name="Google Shape;243;g39fb11a83d8_0_92"/>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pic>
        <p:nvPicPr>
          <p:cNvPr id="244" name="Google Shape;244;g39fb11a83d8_0_92"/>
          <p:cNvPicPr preferRelativeResize="0"/>
          <p:nvPr/>
        </p:nvPicPr>
        <p:blipFill rotWithShape="1">
          <a:blip r:embed="rId3">
            <a:alphaModFix/>
          </a:blip>
          <a:srcRect b="0" l="0" r="0" t="0"/>
          <a:stretch/>
        </p:blipFill>
        <p:spPr>
          <a:xfrm>
            <a:off x="838201" y="1438656"/>
            <a:ext cx="10515599" cy="488543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g39fb11a83d8_0_173"/>
          <p:cNvSpPr txBox="1"/>
          <p:nvPr>
            <p:ph type="title"/>
          </p:nvPr>
        </p:nvSpPr>
        <p:spPr>
          <a:xfrm>
            <a:off x="777240" y="3157093"/>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rPr b="1" lang="en-US"/>
              <a:t>AI needs Regulation!</a:t>
            </a:r>
            <a:endParaRPr b="1"/>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2020-02-08T08:15:44Z</dcterms:created>
  <dc:creator>Lenovo</dc:creator>
</cp:coreProperties>
</file>