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779" autoAdjust="0"/>
    <p:restoredTop sz="95110" autoAdjust="0"/>
  </p:normalViewPr>
  <p:slideViewPr>
    <p:cSldViewPr snapToGrid="0">
      <p:cViewPr varScale="1">
        <p:scale>
          <a:sx n="85" d="100"/>
          <a:sy n="85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8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1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3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7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0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8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2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CAAF8-C375-4530-B246-2215CCC46F5B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50C64-C7C6-4A5B-800A-EE67C2EDA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1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Feature Selection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Dr</a:t>
            </a:r>
            <a:r>
              <a:rPr lang="en-US" dirty="0" smtClean="0"/>
              <a:t> Shantanu Pathak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92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Select best or relevant features / columns from data</a:t>
            </a:r>
          </a:p>
          <a:p>
            <a:endParaRPr lang="en-US" dirty="0"/>
          </a:p>
          <a:p>
            <a:r>
              <a:rPr lang="en-US" dirty="0" smtClean="0"/>
              <a:t>Every problem / target may have different features which are relevant</a:t>
            </a:r>
          </a:p>
          <a:p>
            <a:endParaRPr lang="en-US" dirty="0"/>
          </a:p>
          <a:p>
            <a:r>
              <a:rPr lang="en-US" dirty="0" smtClean="0"/>
              <a:t>Becomes important task when high dimensional data</a:t>
            </a:r>
          </a:p>
          <a:p>
            <a:pPr lvl="1"/>
            <a:r>
              <a:rPr lang="en-US" dirty="0" smtClean="0"/>
              <a:t>When no of columns are very high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Features affect the model</a:t>
            </a:r>
          </a:p>
          <a:p>
            <a:pPr lvl="1"/>
            <a:r>
              <a:rPr lang="en-US" dirty="0" smtClean="0"/>
              <a:t>Better features : improve performance</a:t>
            </a:r>
          </a:p>
          <a:p>
            <a:pPr lvl="1"/>
            <a:r>
              <a:rPr lang="en-US" dirty="0" smtClean="0"/>
              <a:t>Irrelevant features : increase complexity and computational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79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Selection 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Unsupervised</a:t>
            </a:r>
          </a:p>
          <a:p>
            <a:pPr lvl="1"/>
            <a:r>
              <a:rPr lang="en-US" dirty="0" smtClean="0"/>
              <a:t>PCA - Principle Component </a:t>
            </a:r>
            <a:r>
              <a:rPr lang="en-US" dirty="0" smtClean="0"/>
              <a:t>Analysis</a:t>
            </a:r>
          </a:p>
          <a:p>
            <a:pPr lvl="1"/>
            <a:r>
              <a:rPr lang="en-US" dirty="0" smtClean="0"/>
              <a:t>Kernel-PCA</a:t>
            </a:r>
            <a:endParaRPr lang="en-US" dirty="0" smtClean="0"/>
          </a:p>
          <a:p>
            <a:pPr lvl="1"/>
            <a:r>
              <a:rPr lang="en-US" dirty="0" smtClean="0"/>
              <a:t>ICA** - Independent Component Analysis</a:t>
            </a:r>
          </a:p>
          <a:p>
            <a:pPr lvl="1"/>
            <a:r>
              <a:rPr lang="en-US" dirty="0" err="1" smtClean="0"/>
              <a:t>Boruta</a:t>
            </a:r>
            <a:r>
              <a:rPr lang="en-US" dirty="0" smtClean="0"/>
              <a:t> Algorithm **</a:t>
            </a:r>
          </a:p>
          <a:p>
            <a:r>
              <a:rPr lang="en-US" dirty="0" smtClean="0"/>
              <a:t>Supervised</a:t>
            </a:r>
          </a:p>
          <a:p>
            <a:pPr lvl="1"/>
            <a:r>
              <a:rPr lang="en-US" dirty="0" smtClean="0"/>
              <a:t>Model based</a:t>
            </a:r>
          </a:p>
          <a:p>
            <a:pPr lvl="2"/>
            <a:r>
              <a:rPr lang="en-US" dirty="0" smtClean="0"/>
              <a:t>Select From Model</a:t>
            </a:r>
          </a:p>
          <a:p>
            <a:pPr lvl="2"/>
            <a:r>
              <a:rPr lang="en-US" dirty="0" smtClean="0"/>
              <a:t>RFE : Recursive Feature Elimination</a:t>
            </a:r>
          </a:p>
          <a:p>
            <a:pPr lvl="1"/>
            <a:r>
              <a:rPr lang="en-US" dirty="0" smtClean="0"/>
              <a:t>Regularization Based</a:t>
            </a:r>
          </a:p>
          <a:p>
            <a:pPr lvl="2"/>
            <a:r>
              <a:rPr lang="en-US" dirty="0" smtClean="0"/>
              <a:t>L1 Penalty based</a:t>
            </a:r>
          </a:p>
          <a:p>
            <a:pPr lvl="2"/>
            <a:r>
              <a:rPr lang="en-US" dirty="0" smtClean="0"/>
              <a:t>L2 Penalty based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7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674" y="2891757"/>
            <a:ext cx="10515600" cy="1325563"/>
          </a:xfrm>
        </p:spPr>
        <p:txBody>
          <a:bodyPr/>
          <a:lstStyle/>
          <a:p>
            <a:r>
              <a:rPr lang="en-US" dirty="0" smtClean="0"/>
              <a:t>Unsupervised Feature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5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</p:spPr>
        <p:txBody>
          <a:bodyPr/>
          <a:lstStyle/>
          <a:p>
            <a:r>
              <a:rPr lang="en-US" dirty="0" smtClean="0"/>
              <a:t>Principle Component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3316"/>
            <a:ext cx="10515600" cy="5354051"/>
          </a:xfrm>
        </p:spPr>
        <p:txBody>
          <a:bodyPr>
            <a:normAutofit/>
          </a:bodyPr>
          <a:lstStyle/>
          <a:p>
            <a:r>
              <a:rPr lang="en-US" dirty="0" smtClean="0"/>
              <a:t>Create components based on Eigen values and Eigen vectors </a:t>
            </a:r>
          </a:p>
          <a:p>
            <a:r>
              <a:rPr lang="en-US" dirty="0" smtClean="0"/>
              <a:t>Components represent the data effectively</a:t>
            </a:r>
          </a:p>
          <a:p>
            <a:r>
              <a:rPr lang="en-US" dirty="0" smtClean="0"/>
              <a:t>Components are created using </a:t>
            </a:r>
            <a:r>
              <a:rPr lang="en-US" b="1" u="sng" dirty="0" smtClean="0"/>
              <a:t>linear relationship </a:t>
            </a:r>
            <a:r>
              <a:rPr lang="en-US" dirty="0" smtClean="0"/>
              <a:t>in all columns</a:t>
            </a:r>
            <a:endParaRPr lang="en-US" dirty="0"/>
          </a:p>
          <a:p>
            <a:r>
              <a:rPr lang="en-US" b="1" u="sng" dirty="0" smtClean="0"/>
              <a:t>Few components </a:t>
            </a:r>
            <a:r>
              <a:rPr lang="en-US" dirty="0" smtClean="0"/>
              <a:t>can be selected based on </a:t>
            </a:r>
            <a:r>
              <a:rPr lang="en-US" b="1" u="sng" dirty="0" smtClean="0"/>
              <a:t>variance addressed </a:t>
            </a:r>
            <a:r>
              <a:rPr lang="en-US" dirty="0" smtClean="0"/>
              <a:t>by every component</a:t>
            </a:r>
          </a:p>
          <a:p>
            <a:endParaRPr lang="en-US" dirty="0"/>
          </a:p>
          <a:p>
            <a:r>
              <a:rPr lang="en-US" dirty="0" smtClean="0"/>
              <a:t>Advantage: </a:t>
            </a:r>
          </a:p>
          <a:p>
            <a:pPr lvl="1"/>
            <a:r>
              <a:rPr lang="en-US" dirty="0" smtClean="0"/>
              <a:t>Un-supervised way of feature reduction</a:t>
            </a:r>
          </a:p>
          <a:p>
            <a:r>
              <a:rPr lang="en-US" dirty="0" smtClean="0"/>
              <a:t>Disadvantage: </a:t>
            </a:r>
          </a:p>
          <a:p>
            <a:pPr lvl="1"/>
            <a:r>
              <a:rPr lang="en-US" dirty="0" smtClean="0"/>
              <a:t>Addresses ONLY linear relationship in data</a:t>
            </a:r>
          </a:p>
          <a:p>
            <a:pPr lvl="1"/>
            <a:r>
              <a:rPr lang="en-US" dirty="0" smtClean="0"/>
              <a:t>Selecting few components may lead to information loss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9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2350337"/>
            <a:ext cx="10515600" cy="1325563"/>
          </a:xfrm>
        </p:spPr>
        <p:txBody>
          <a:bodyPr/>
          <a:lstStyle/>
          <a:p>
            <a:r>
              <a:rPr lang="en-US" dirty="0" smtClean="0"/>
              <a:t>Supervised Feature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32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Based 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 From Model</a:t>
            </a:r>
          </a:p>
          <a:p>
            <a:endParaRPr lang="en-US" dirty="0"/>
          </a:p>
          <a:p>
            <a:r>
              <a:rPr lang="en-US" dirty="0" smtClean="0"/>
              <a:t>RFE : Recursive Feature Elimination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37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From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Train a supervised model and extract feature importance</a:t>
            </a:r>
          </a:p>
          <a:p>
            <a:r>
              <a:rPr lang="en-US" dirty="0" smtClean="0"/>
              <a:t>Select the top few features by threshold or by count</a:t>
            </a:r>
          </a:p>
          <a:p>
            <a:endParaRPr lang="en-US" dirty="0" smtClean="0"/>
          </a:p>
          <a:p>
            <a:r>
              <a:rPr lang="en-US" dirty="0" smtClean="0"/>
              <a:t>Compatible Models ( Classification / Regression ) </a:t>
            </a:r>
          </a:p>
          <a:p>
            <a:pPr lvl="1"/>
            <a:r>
              <a:rPr lang="en-US" dirty="0" smtClean="0"/>
              <a:t>Decision Tree, Random Forest, </a:t>
            </a:r>
            <a:r>
              <a:rPr lang="en-US" dirty="0" err="1" smtClean="0"/>
              <a:t>AdaBoost</a:t>
            </a:r>
            <a:endParaRPr lang="en-US" dirty="0" smtClean="0"/>
          </a:p>
          <a:p>
            <a:pPr lvl="1"/>
            <a:r>
              <a:rPr lang="en-US" dirty="0" smtClean="0"/>
              <a:t>Linear SVM</a:t>
            </a:r>
          </a:p>
          <a:p>
            <a:pPr lvl="1"/>
            <a:r>
              <a:rPr lang="en-US" dirty="0" smtClean="0"/>
              <a:t>Logistic Regression ( only Classifier)</a:t>
            </a:r>
          </a:p>
          <a:p>
            <a:pPr lvl="1"/>
            <a:r>
              <a:rPr lang="en-US" dirty="0" smtClean="0"/>
              <a:t>LASSO, RIDGE ( only Regression)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Pass the threshold or pass </a:t>
            </a:r>
            <a:r>
              <a:rPr lang="en-US" dirty="0" err="1" smtClean="0"/>
              <a:t>max_features</a:t>
            </a:r>
            <a:r>
              <a:rPr lang="en-US" dirty="0" smtClean="0"/>
              <a:t> to select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2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RFE: Recursive Feature Elimination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sz="3200" dirty="0" smtClean="0"/>
              <a:t>Step 1: Take a model</a:t>
            </a:r>
          </a:p>
          <a:p>
            <a:pPr lvl="1"/>
            <a:r>
              <a:rPr lang="en-US" sz="3200" dirty="0" smtClean="0"/>
              <a:t>Step 2: First evaluate model for all features</a:t>
            </a:r>
          </a:p>
          <a:p>
            <a:pPr lvl="1"/>
            <a:r>
              <a:rPr lang="en-US" sz="3200" dirty="0" smtClean="0"/>
              <a:t>Step 3: Eliminate a feature and check performance : remove feature if performance is constant or improves after removal</a:t>
            </a:r>
          </a:p>
          <a:p>
            <a:pPr lvl="1"/>
            <a:r>
              <a:rPr lang="en-US" sz="3200" dirty="0" smtClean="0"/>
              <a:t>Step 4: Repeat step 3 for all features one by one.</a:t>
            </a:r>
          </a:p>
          <a:p>
            <a:pPr lvl="1"/>
            <a:r>
              <a:rPr lang="en-US" sz="3200" b="1" i="1" dirty="0" smtClean="0"/>
              <a:t>Selected </a:t>
            </a:r>
            <a:r>
              <a:rPr lang="en-US" sz="3200" b="1" i="1" dirty="0"/>
              <a:t>(i.e., estimated best) features are assigned rank </a:t>
            </a:r>
            <a:r>
              <a:rPr lang="en-US" sz="3200" b="1" i="1" dirty="0" smtClean="0"/>
              <a:t>1.</a:t>
            </a:r>
          </a:p>
          <a:p>
            <a:pPr lvl="1"/>
            <a:r>
              <a:rPr lang="en-US" sz="3200" dirty="0" smtClean="0"/>
              <a:t>All other features are ranked differently</a:t>
            </a:r>
          </a:p>
          <a:p>
            <a:pPr lvl="1"/>
            <a:endParaRPr lang="en-US" sz="3200" b="1" i="1" dirty="0"/>
          </a:p>
          <a:p>
            <a:pPr lvl="1"/>
            <a:r>
              <a:rPr lang="en-US" sz="3200" dirty="0" smtClean="0"/>
              <a:t>It is applicable to classification as well as regression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291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Regularization Based Feature Selection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0474" y="1395662"/>
                <a:ext cx="11173326" cy="5173579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/>
                  <a:t>L1 Penalty</a:t>
                </a:r>
              </a:p>
              <a:p>
                <a:pPr lvl="1"/>
                <a:r>
                  <a:rPr lang="en-US" sz="2800" dirty="0" smtClean="0"/>
                  <a:t>Total Loss / Error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𝑝𝑟𝑒𝑑𝑖𝑐𝑡𝑒𝑑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∝∗ 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𝑐𝑜𝑒𝑓𝑓𝑖𝑐𝑖𝑒𝑛𝑡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|</m:t>
                            </m:r>
                          </m:e>
                        </m:nary>
                      </m:e>
                    </m:nary>
                  </m:oMath>
                </a14:m>
                <a:endParaRPr lang="en-US" sz="2800" dirty="0"/>
              </a:p>
              <a:p>
                <a:pPr lvl="1"/>
                <a:endParaRPr lang="en-US" sz="2800" dirty="0" smtClean="0"/>
              </a:p>
              <a:p>
                <a:pPr lvl="1"/>
                <a:r>
                  <a:rPr lang="en-US" sz="2800" dirty="0" smtClean="0"/>
                  <a:t>Remove non-important features to reduce complexity</a:t>
                </a:r>
              </a:p>
              <a:p>
                <a:pPr lvl="1"/>
                <a:r>
                  <a:rPr lang="en-US" sz="2800" dirty="0" smtClean="0"/>
                  <a:t>Selects ONLY important features</a:t>
                </a:r>
              </a:p>
              <a:p>
                <a:r>
                  <a:rPr lang="en-US" sz="3200" dirty="0" smtClean="0"/>
                  <a:t>L2 Penalty</a:t>
                </a:r>
              </a:p>
              <a:p>
                <a:pPr lvl="1"/>
                <a:r>
                  <a:rPr lang="en-US" sz="2800" dirty="0" smtClean="0"/>
                  <a:t>Total Loss / Error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𝑝𝑟𝑒𝑑𝑖𝑐𝑡𝑒𝑑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∝∗ 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𝑐𝑜𝑒𝑓𝑓𝑖𝑐𝑖𝑒𝑛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2800" b="0" dirty="0" smtClean="0">
                  <a:ea typeface="Cambria Math" panose="02040503050406030204" pitchFamily="18" charset="0"/>
                </a:endParaRPr>
              </a:p>
              <a:p>
                <a:pPr lvl="1"/>
                <a:endParaRPr lang="en-US" dirty="0" smtClean="0"/>
              </a:p>
              <a:p>
                <a:pPr lvl="1"/>
                <a:r>
                  <a:rPr lang="en-US" sz="2800" dirty="0"/>
                  <a:t>Make the coefficient value of features </a:t>
                </a:r>
                <a:r>
                  <a:rPr lang="en-US" sz="2800" dirty="0" smtClean="0"/>
                  <a:t>smaller to reduce complexity</a:t>
                </a:r>
                <a:endParaRPr lang="en-US" sz="2800" dirty="0"/>
              </a:p>
              <a:p>
                <a:pPr lvl="1"/>
                <a:r>
                  <a:rPr lang="en-US" sz="2800" dirty="0"/>
                  <a:t>No feature is completely removed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474" y="1395662"/>
                <a:ext cx="11173326" cy="5173579"/>
              </a:xfrm>
              <a:blipFill>
                <a:blip r:embed="rId2"/>
                <a:stretch>
                  <a:fillRect l="-1255" t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64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222"/>
          </a:xfrm>
        </p:spPr>
        <p:txBody>
          <a:bodyPr/>
          <a:lstStyle/>
          <a:p>
            <a:r>
              <a:rPr lang="en-US" dirty="0" smtClean="0"/>
              <a:t>Regularization Based 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506529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Classification Models Using L1 or L2</a:t>
            </a:r>
          </a:p>
          <a:p>
            <a:pPr lvl="1"/>
            <a:r>
              <a:rPr lang="en-US" sz="3200" dirty="0" smtClean="0"/>
              <a:t>Linear SVM ( L2 penalty)</a:t>
            </a:r>
          </a:p>
          <a:p>
            <a:pPr lvl="1"/>
            <a:r>
              <a:rPr lang="en-US" sz="3200" dirty="0" smtClean="0"/>
              <a:t>Logistic Regression ( L1 or L2 anyone can be used)</a:t>
            </a:r>
          </a:p>
          <a:p>
            <a:pPr lvl="1"/>
            <a:r>
              <a:rPr lang="en-US" sz="3200" dirty="0"/>
              <a:t>SVM non linear kernel: </a:t>
            </a:r>
            <a:endParaRPr lang="en-US" sz="3200" dirty="0" smtClean="0"/>
          </a:p>
          <a:p>
            <a:pPr lvl="2"/>
            <a:r>
              <a:rPr lang="en-US" sz="2800" dirty="0" smtClean="0"/>
              <a:t>but </a:t>
            </a:r>
            <a:r>
              <a:rPr lang="en-US" sz="2800" dirty="0"/>
              <a:t>here feature selected cannot be interpreted by humans because it maps the features to completely new hyperspace.</a:t>
            </a:r>
            <a:endParaRPr lang="en-US" sz="2800" dirty="0" smtClean="0"/>
          </a:p>
          <a:p>
            <a:r>
              <a:rPr lang="en-US" sz="3600" dirty="0" smtClean="0"/>
              <a:t>Regression Models using L1 or L2 </a:t>
            </a:r>
          </a:p>
          <a:p>
            <a:pPr lvl="1"/>
            <a:r>
              <a:rPr lang="en-US" sz="3200" dirty="0" smtClean="0"/>
              <a:t>LASSO – L1 Penalty</a:t>
            </a:r>
          </a:p>
          <a:p>
            <a:pPr lvl="1"/>
            <a:r>
              <a:rPr lang="en-US" sz="3200" dirty="0" smtClean="0"/>
              <a:t>Ridge – L2 Penalty</a:t>
            </a:r>
          </a:p>
          <a:p>
            <a:pPr lvl="1"/>
            <a:r>
              <a:rPr lang="en-US" sz="3200" dirty="0" err="1" smtClean="0"/>
              <a:t>ElasticNet</a:t>
            </a:r>
            <a:r>
              <a:rPr lang="en-US" sz="3200" dirty="0" smtClean="0"/>
              <a:t> – L1 &amp; L2 Both</a:t>
            </a:r>
          </a:p>
        </p:txBody>
      </p:sp>
    </p:spTree>
    <p:extLst>
      <p:ext uri="{BB962C8B-B14F-4D97-AF65-F5344CB8AC3E}">
        <p14:creationId xmlns:p14="http://schemas.microsoft.com/office/powerpoint/2010/main" val="301485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398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Feature Selection</vt:lpstr>
      <vt:lpstr>Feature Selection</vt:lpstr>
      <vt:lpstr>Feature Selection  Methods</vt:lpstr>
      <vt:lpstr>Unsupervised Feature Selection</vt:lpstr>
      <vt:lpstr>Principle Component Analysis</vt:lpstr>
      <vt:lpstr>Supervised Feature Selection</vt:lpstr>
      <vt:lpstr>Model Based Feature Selection</vt:lpstr>
      <vt:lpstr>Select From Model</vt:lpstr>
      <vt:lpstr>RFE: Recursive Feature Elimination</vt:lpstr>
      <vt:lpstr>Regularization Based Feature Selection</vt:lpstr>
      <vt:lpstr>Regularization Based Feature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Selection</dc:title>
  <dc:creator>cdacstaff</dc:creator>
  <cp:lastModifiedBy>cdacstaff</cp:lastModifiedBy>
  <cp:revision>128</cp:revision>
  <dcterms:created xsi:type="dcterms:W3CDTF">2023-01-02T06:23:37Z</dcterms:created>
  <dcterms:modified xsi:type="dcterms:W3CDTF">2025-05-22T11:05:57Z</dcterms:modified>
</cp:coreProperties>
</file>