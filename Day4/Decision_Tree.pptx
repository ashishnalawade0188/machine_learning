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</p:sldMasterIdLst>
  <p:notesMasterIdLst>
    <p:notesMasterId r:id="rId42"/>
  </p:notesMasterIdLst>
  <p:handoutMasterIdLst>
    <p:handoutMasterId r:id="rId43"/>
  </p:handoutMasterIdLst>
  <p:sldIdLst>
    <p:sldId id="259" r:id="rId2"/>
    <p:sldId id="340" r:id="rId3"/>
    <p:sldId id="339" r:id="rId4"/>
    <p:sldId id="302" r:id="rId5"/>
    <p:sldId id="357" r:id="rId6"/>
    <p:sldId id="358" r:id="rId7"/>
    <p:sldId id="360" r:id="rId8"/>
    <p:sldId id="353" r:id="rId9"/>
    <p:sldId id="354" r:id="rId10"/>
    <p:sldId id="359" r:id="rId11"/>
    <p:sldId id="361" r:id="rId12"/>
    <p:sldId id="338" r:id="rId13"/>
    <p:sldId id="377" r:id="rId14"/>
    <p:sldId id="322" r:id="rId15"/>
    <p:sldId id="331" r:id="rId16"/>
    <p:sldId id="367" r:id="rId17"/>
    <p:sldId id="365" r:id="rId18"/>
    <p:sldId id="368" r:id="rId19"/>
    <p:sldId id="369" r:id="rId20"/>
    <p:sldId id="362" r:id="rId21"/>
    <p:sldId id="363" r:id="rId22"/>
    <p:sldId id="370" r:id="rId23"/>
    <p:sldId id="342" r:id="rId24"/>
    <p:sldId id="343" r:id="rId25"/>
    <p:sldId id="344" r:id="rId26"/>
    <p:sldId id="345" r:id="rId27"/>
    <p:sldId id="326" r:id="rId28"/>
    <p:sldId id="330" r:id="rId29"/>
    <p:sldId id="336" r:id="rId30"/>
    <p:sldId id="329" r:id="rId31"/>
    <p:sldId id="321" r:id="rId32"/>
    <p:sldId id="323" r:id="rId33"/>
    <p:sldId id="335" r:id="rId34"/>
    <p:sldId id="334" r:id="rId35"/>
    <p:sldId id="376" r:id="rId36"/>
    <p:sldId id="371" r:id="rId37"/>
    <p:sldId id="372" r:id="rId38"/>
    <p:sldId id="373" r:id="rId39"/>
    <p:sldId id="374" r:id="rId40"/>
    <p:sldId id="375" r:id="rId41"/>
  </p:sldIdLst>
  <p:sldSz cx="9144000" cy="6858000" type="screen4x3"/>
  <p:notesSz cx="6797675" cy="99266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00"/>
    <a:srgbClr val="00CC00"/>
    <a:srgbClr val="006600"/>
    <a:srgbClr val="66CCFF"/>
    <a:srgbClr val="00CCFF"/>
    <a:srgbClr val="B2B2B2"/>
    <a:srgbClr val="00FFFF"/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7564" autoAdjust="0"/>
    <p:restoredTop sz="97427" autoAdjust="0"/>
  </p:normalViewPr>
  <p:slideViewPr>
    <p:cSldViewPr>
      <p:cViewPr varScale="1">
        <p:scale>
          <a:sx n="85" d="100"/>
          <a:sy n="85" d="100"/>
        </p:scale>
        <p:origin x="1368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handoutMaster" Target="handoutMasters/handoutMaster1.xml"/></Relationships>
</file>

<file path=ppt/_rels/viewProps.xml.rels><?xml version="1.0" encoding="UTF-8" standalone="yes"?>
<Relationships xmlns="http://schemas.openxmlformats.org/package/2006/relationships"><Relationship Id="rId8" Type="http://schemas.openxmlformats.org/officeDocument/2006/relationships/slide" Target="slides/slide40.xml"/><Relationship Id="rId3" Type="http://schemas.openxmlformats.org/officeDocument/2006/relationships/slide" Target="slides/slide4.xml"/><Relationship Id="rId7" Type="http://schemas.openxmlformats.org/officeDocument/2006/relationships/slide" Target="slides/slide39.xml"/><Relationship Id="rId2" Type="http://schemas.openxmlformats.org/officeDocument/2006/relationships/slide" Target="slides/slide3.xml"/><Relationship Id="rId1" Type="http://schemas.openxmlformats.org/officeDocument/2006/relationships/slide" Target="slides/slide1.xml"/><Relationship Id="rId6" Type="http://schemas.openxmlformats.org/officeDocument/2006/relationships/slide" Target="slides/slide28.xml"/><Relationship Id="rId5" Type="http://schemas.openxmlformats.org/officeDocument/2006/relationships/slide" Target="slides/slide20.xml"/><Relationship Id="rId4" Type="http://schemas.openxmlformats.org/officeDocument/2006/relationships/slide" Target="slides/slide1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68" tIns="46534" rIns="93068" bIns="46534" numCol="1" anchor="t" anchorCtr="0" compatLnSpc="1">
            <a:prstTxWarp prst="textNoShape">
              <a:avLst/>
            </a:prstTxWarp>
          </a:bodyPr>
          <a:lstStyle>
            <a:lvl1pPr defTabSz="930275" eaLnBrk="1" hangingPunct="1">
              <a:defRPr sz="1200"/>
            </a:lvl1pPr>
          </a:lstStyle>
          <a:p>
            <a:pPr>
              <a:defRPr/>
            </a:pPr>
            <a:r>
              <a:rPr lang="en-US"/>
              <a:t>ICS611-Foundations of A.I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275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68" tIns="46534" rIns="93068" bIns="46534" numCol="1" anchor="t" anchorCtr="0" compatLnSpc="1">
            <a:prstTxWarp prst="textNoShape">
              <a:avLst/>
            </a:prstTxWarp>
          </a:bodyPr>
          <a:lstStyle>
            <a:lvl1pPr algn="r" defTabSz="930275" eaLnBrk="1" hangingPunct="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975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68" tIns="46534" rIns="93068" bIns="46534" numCol="1" anchor="b" anchorCtr="0" compatLnSpc="1">
            <a:prstTxWarp prst="textNoShape">
              <a:avLst/>
            </a:prstTxWarp>
          </a:bodyPr>
          <a:lstStyle>
            <a:lvl1pPr defTabSz="930275" eaLnBrk="1" hangingPunct="1">
              <a:defRPr sz="1200"/>
            </a:lvl1pPr>
          </a:lstStyle>
          <a:p>
            <a:pPr>
              <a:defRPr/>
            </a:pPr>
            <a:r>
              <a:rPr lang="en-US"/>
              <a:t>Part7.3 Decision Tree Learning</a:t>
            </a:r>
          </a:p>
        </p:txBody>
      </p:sp>
      <p:sp>
        <p:nvSpPr>
          <p:cNvPr id="409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275" y="942975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68" tIns="46534" rIns="93068" bIns="46534" numCol="1" anchor="b" anchorCtr="0" compatLnSpc="1">
            <a:prstTxWarp prst="textNoShape">
              <a:avLst/>
            </a:prstTxWarp>
          </a:bodyPr>
          <a:lstStyle>
            <a:lvl1pPr algn="r" defTabSz="930275" eaLnBrk="1" hangingPunct="1">
              <a:defRPr sz="1200">
                <a:cs typeface="Tahoma" panose="020B0604030504040204" pitchFamily="34" charset="0"/>
              </a:defRPr>
            </a:lvl1pPr>
          </a:lstStyle>
          <a:p>
            <a:pPr>
              <a:defRPr/>
            </a:pPr>
            <a:fld id="{7129B53A-D8B5-4821-A5AF-2F06A7F1DE46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068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68" tIns="46534" rIns="93068" bIns="46534" numCol="1" anchor="t" anchorCtr="0" compatLnSpc="1">
            <a:prstTxWarp prst="textNoShape">
              <a:avLst/>
            </a:prstTxWarp>
          </a:bodyPr>
          <a:lstStyle>
            <a:lvl1pPr defTabSz="930275" eaLnBrk="1" hangingPunct="1">
              <a:defRPr sz="1200"/>
            </a:lvl1pPr>
          </a:lstStyle>
          <a:p>
            <a:pPr>
              <a:defRPr/>
            </a:pPr>
            <a:r>
              <a:rPr lang="en-US"/>
              <a:t>ICS611-Foundations of A.I</a:t>
            </a:r>
          </a:p>
        </p:txBody>
      </p:sp>
      <p:sp>
        <p:nvSpPr>
          <p:cNvPr id="70659" name="Rectangle 1027"/>
          <p:cNvSpPr>
            <a:spLocks noGrp="1" noChangeArrowheads="1"/>
          </p:cNvSpPr>
          <p:nvPr>
            <p:ph type="dt" idx="1"/>
          </p:nvPr>
        </p:nvSpPr>
        <p:spPr bwMode="auto">
          <a:xfrm>
            <a:off x="3817938" y="0"/>
            <a:ext cx="296068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68" tIns="46534" rIns="93068" bIns="46534" numCol="1" anchor="t" anchorCtr="0" compatLnSpc="1">
            <a:prstTxWarp prst="textNoShape">
              <a:avLst/>
            </a:prstTxWarp>
          </a:bodyPr>
          <a:lstStyle>
            <a:lvl1pPr algn="r" defTabSz="930275" eaLnBrk="1" hangingPunct="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1028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54088" y="773113"/>
            <a:ext cx="4948237" cy="3711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0661" name="Rectangle 1029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5038" y="4716463"/>
            <a:ext cx="4986337" cy="448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68" tIns="46534" rIns="93068" bIns="4653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70662" name="Rectangle 1030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2925"/>
            <a:ext cx="29606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68" tIns="46534" rIns="93068" bIns="46534" numCol="1" anchor="b" anchorCtr="0" compatLnSpc="1">
            <a:prstTxWarp prst="textNoShape">
              <a:avLst/>
            </a:prstTxWarp>
          </a:bodyPr>
          <a:lstStyle>
            <a:lvl1pPr defTabSz="930275" eaLnBrk="1" hangingPunct="1">
              <a:defRPr sz="1200"/>
            </a:lvl1pPr>
          </a:lstStyle>
          <a:p>
            <a:pPr>
              <a:defRPr/>
            </a:pPr>
            <a:r>
              <a:rPr lang="en-US"/>
              <a:t>Part7.3 Decision Tree Learning</a:t>
            </a:r>
          </a:p>
        </p:txBody>
      </p:sp>
      <p:sp>
        <p:nvSpPr>
          <p:cNvPr id="70663" name="Rectangle 1031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17938" y="9432925"/>
            <a:ext cx="2960687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68" tIns="46534" rIns="93068" bIns="46534" numCol="1" anchor="b" anchorCtr="0" compatLnSpc="1">
            <a:prstTxWarp prst="textNoShape">
              <a:avLst/>
            </a:prstTxWarp>
          </a:bodyPr>
          <a:lstStyle>
            <a:lvl1pPr algn="r" defTabSz="930275" eaLnBrk="1" hangingPunct="1">
              <a:defRPr sz="1200">
                <a:cs typeface="Tahoma" panose="020B0604030504040204" pitchFamily="34" charset="0"/>
              </a:defRPr>
            </a:lvl1pPr>
          </a:lstStyle>
          <a:p>
            <a:pPr>
              <a:defRPr/>
            </a:pPr>
            <a:fld id="{0AE7A197-EC31-4912-A190-B9BB69AD3DFC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149FD751-3A49-4CFD-9405-226062A3EEF8}" type="slidenum">
              <a:rPr lang="he-IL" altLang="en-US" smtClean="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1</a:t>
            </a:fld>
            <a:endParaRPr lang="en-US" altLang="en-US" smtClean="0">
              <a:latin typeface="Tahoma" panose="020B0604030504040204" pitchFamily="34" charset="0"/>
            </a:endParaRPr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n-US" smtClean="0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n-US" smtClean="0"/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n-US" smtClean="0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n-US" smtClean="0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defRPr/>
              </a:pPr>
              <a:endParaRPr lang="en-US" smtClean="0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defRPr/>
              </a:pPr>
              <a:endParaRPr lang="en-US" smtClean="0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defRPr/>
              </a:pPr>
              <a:endParaRPr lang="en-US" smtClean="0"/>
            </a:p>
          </p:txBody>
        </p:sp>
      </p:grpSp>
      <p:sp>
        <p:nvSpPr>
          <p:cNvPr id="6156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157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r>
              <a:rPr lang="en-US"/>
              <a:t>ICS611</a:t>
            </a:r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2CE153CF-9953-4B38-967A-F1D56454435C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778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ICS611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1A0772-F8AE-4C4F-81D0-A6C75E644ED2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3507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ICS611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8F3E01-B3C2-4A1B-9AB1-5E53AD206F7C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1183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ICS611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4C3406-383C-46A6-9E23-8C9F5B4A271F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226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ICS611</a:t>
            </a:r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FD5A06-1A0C-4A64-AC5E-4B7A612998CD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476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ICS611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1F16E0-D7A6-433D-860E-6CC56DCFCD81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9570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ICS611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8BC780-25BA-4203-8958-803AB0A1B0AC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8823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ICS611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DBC437-C9FA-46BE-AD0C-7C93B5CE5238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4103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ICS611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481593-243E-40F5-AD8C-B8F76E46B75B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393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ICS611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9D8F92-ABFB-4E65-9A0E-5C1B7A94CB09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3957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10400" y="131763"/>
            <a:ext cx="1947863" cy="60007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65225" y="131763"/>
            <a:ext cx="5692775" cy="60007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ICS611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720286-E681-402A-8FC5-9F8122740935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0271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5225" y="131763"/>
            <a:ext cx="7793038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ICS611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2500A5-B768-4AF6-8307-BD97D30A5983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770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5225" y="131763"/>
            <a:ext cx="7793038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1182688" y="2017713"/>
            <a:ext cx="7772400" cy="4114800"/>
          </a:xfrm>
        </p:spPr>
        <p:txBody>
          <a:bodyPr/>
          <a:lstStyle/>
          <a:p>
            <a:pPr lvl="0"/>
            <a:endParaRPr lang="en-US" noProof="0" smtClean="0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ICS611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9C67D8-7772-477D-AA9D-78C0ADA00037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6531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31800" y="612775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smtClean="0"/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14388" y="612775"/>
            <a:ext cx="328612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smtClean="0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55625" y="1035050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smtClean="0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25513" y="1035050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smtClean="0"/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41288" y="962025"/>
            <a:ext cx="560387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smtClean="0"/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76288" y="504825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smtClean="0"/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57200" y="1295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smtClean="0"/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65225" y="131763"/>
            <a:ext cx="7793038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5131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32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3246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r>
              <a:rPr lang="en-US"/>
              <a:t>ICS611</a:t>
            </a:r>
          </a:p>
        </p:txBody>
      </p:sp>
      <p:sp>
        <p:nvSpPr>
          <p:cNvPr id="5133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cs typeface="Tahoma" panose="020B0604030504040204" pitchFamily="34" charset="0"/>
              </a:defRPr>
            </a:lvl1pPr>
          </a:lstStyle>
          <a:p>
            <a:pPr>
              <a:defRPr/>
            </a:pPr>
            <a:fld id="{9E3486A6-E007-43F9-BE33-51B18E3AA00F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14" r:id="rId1"/>
    <p:sldLayoutId id="2147483902" r:id="rId2"/>
    <p:sldLayoutId id="2147483903" r:id="rId3"/>
    <p:sldLayoutId id="2147483904" r:id="rId4"/>
    <p:sldLayoutId id="2147483905" r:id="rId5"/>
    <p:sldLayoutId id="2147483906" r:id="rId6"/>
    <p:sldLayoutId id="2147483907" r:id="rId7"/>
    <p:sldLayoutId id="2147483908" r:id="rId8"/>
    <p:sldLayoutId id="2147483909" r:id="rId9"/>
    <p:sldLayoutId id="2147483910" r:id="rId10"/>
    <p:sldLayoutId id="2147483911" r:id="rId11"/>
    <p:sldLayoutId id="2147483912" r:id="rId12"/>
    <p:sldLayoutId id="2147483913" r:id="rId13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hyperlink" Target="https://scikit-learn.org/stable/auto_examples/tree/plot_cost_complexity_pruning.html#sphx-glr-auto-examples-tree-plot-cost-complexity-pruning-py" TargetMode="Externa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Decision Trees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990600" y="3505200"/>
            <a:ext cx="7239000" cy="2590800"/>
          </a:xfrm>
        </p:spPr>
        <p:txBody>
          <a:bodyPr/>
          <a:lstStyle/>
          <a:p>
            <a:pPr algn="l" eaLnBrk="1" hangingPunct="1">
              <a:buFont typeface="Wingdings" pitchFamily="2" charset="2"/>
              <a:buChar char="n"/>
            </a:pPr>
            <a:r>
              <a:rPr lang="en-US" altLang="en-US" dirty="0" smtClean="0"/>
              <a:t>CART (Classification And Regression Trees)</a:t>
            </a:r>
          </a:p>
          <a:p>
            <a:pPr algn="l" eaLnBrk="1" hangingPunct="1">
              <a:buFont typeface="Wingdings" pitchFamily="2" charset="2"/>
              <a:buChar char="n"/>
            </a:pPr>
            <a:r>
              <a:rPr lang="en-US" altLang="en-US" dirty="0"/>
              <a:t>Gini </a:t>
            </a:r>
            <a:r>
              <a:rPr lang="en-US" altLang="en-US" dirty="0" smtClean="0"/>
              <a:t>Index, Entropy (Information Gain)</a:t>
            </a:r>
          </a:p>
          <a:p>
            <a:pPr algn="l" eaLnBrk="1" hangingPunct="1">
              <a:buFont typeface="Wingdings" pitchFamily="2" charset="2"/>
              <a:buChar char="n"/>
            </a:pPr>
            <a:r>
              <a:rPr lang="en-US" altLang="en-US" dirty="0" smtClean="0"/>
              <a:t>Over-fitting</a:t>
            </a:r>
          </a:p>
          <a:p>
            <a:pPr algn="l" eaLnBrk="1" hangingPunct="1">
              <a:buFont typeface="Wingdings" pitchFamily="2" charset="2"/>
              <a:buChar char="n"/>
            </a:pPr>
            <a:r>
              <a:rPr lang="en-US" altLang="en-US" dirty="0" smtClean="0"/>
              <a:t>Options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Decision Tree Introduction</a:t>
            </a:r>
          </a:p>
        </p:txBody>
      </p:sp>
      <p:sp>
        <p:nvSpPr>
          <p:cNvPr id="7171" name="Content Placeholder 2"/>
          <p:cNvSpPr>
            <a:spLocks noGrp="1"/>
          </p:cNvSpPr>
          <p:nvPr>
            <p:ph idx="1"/>
          </p:nvPr>
        </p:nvSpPr>
        <p:spPr>
          <a:xfrm>
            <a:off x="1175544" y="1447800"/>
            <a:ext cx="7772400" cy="4114800"/>
          </a:xfrm>
        </p:spPr>
        <p:txBody>
          <a:bodyPr/>
          <a:lstStyle/>
          <a:p>
            <a:r>
              <a:rPr lang="en-US" altLang="en-US" dirty="0" smtClean="0"/>
              <a:t>Supervised Learning</a:t>
            </a:r>
          </a:p>
          <a:p>
            <a:r>
              <a:rPr lang="en-US" altLang="en-US" dirty="0" smtClean="0"/>
              <a:t>Can be used for classification / Regression</a:t>
            </a:r>
          </a:p>
          <a:p>
            <a:pPr lvl="1"/>
            <a:r>
              <a:rPr lang="en-US" altLang="en-US" dirty="0" smtClean="0"/>
              <a:t>Binary </a:t>
            </a:r>
            <a:r>
              <a:rPr lang="en-US" altLang="en-US" dirty="0"/>
              <a:t>or </a:t>
            </a:r>
            <a:r>
              <a:rPr lang="en-US" altLang="en-US" dirty="0" smtClean="0"/>
              <a:t>Multi-class Both Supported</a:t>
            </a:r>
          </a:p>
          <a:p>
            <a:r>
              <a:rPr lang="en-US" altLang="en-US" dirty="0" smtClean="0"/>
              <a:t>Similar to human decision making</a:t>
            </a:r>
          </a:p>
          <a:p>
            <a:r>
              <a:rPr lang="en-US" altLang="en-US" dirty="0" smtClean="0"/>
              <a:t>Weak Algorithm </a:t>
            </a:r>
          </a:p>
          <a:p>
            <a:pPr lvl="1"/>
            <a:r>
              <a:rPr lang="en-US" altLang="en-US" dirty="0" smtClean="0"/>
              <a:t>Easy to over-fit on training data</a:t>
            </a:r>
          </a:p>
          <a:p>
            <a:endParaRPr lang="en-US" altLang="en-US" dirty="0" smtClean="0"/>
          </a:p>
          <a:p>
            <a:r>
              <a:rPr lang="en-US" altLang="en-US" dirty="0" smtClean="0"/>
              <a:t>Ex. Which mobile to purchase ?</a:t>
            </a:r>
          </a:p>
          <a:p>
            <a:pPr lvl="1"/>
            <a:r>
              <a:rPr lang="en-US" altLang="en-US" dirty="0" smtClean="0"/>
              <a:t>How you decide?</a:t>
            </a:r>
          </a:p>
          <a:p>
            <a:pPr lvl="1"/>
            <a:r>
              <a:rPr lang="en-US" altLang="en-US" dirty="0" smtClean="0"/>
              <a:t>What are imp parameters ?</a:t>
            </a:r>
          </a:p>
        </p:txBody>
      </p:sp>
      <p:sp>
        <p:nvSpPr>
          <p:cNvPr id="717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2BEE3F9-5D24-41A2-9B03-516318480156}" type="slidenum">
              <a:rPr lang="he-IL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en-US" sz="1400" smtClean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52DBA48-26DB-4CFA-9AC1-A0982923639C}" type="slidenum">
              <a:rPr lang="he-IL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en-US" sz="1400" smtClean="0"/>
          </a:p>
        </p:txBody>
      </p:sp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 smtClean="0"/>
              <a:t>Decision Trees Introduction</a:t>
            </a:r>
          </a:p>
        </p:txBody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8269288" cy="445611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600" smtClean="0"/>
              <a:t>Popular Algorithms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600" smtClean="0"/>
              <a:t>ID3 (</a:t>
            </a:r>
            <a:r>
              <a:rPr lang="en-US" altLang="en-US" sz="2400" smtClean="0"/>
              <a:t>Iterative Dichotomiser 3)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smtClean="0">
                <a:solidFill>
                  <a:srgbClr val="009900"/>
                </a:solidFill>
              </a:rPr>
              <a:t>CART (Classification And Regression Trees)</a:t>
            </a:r>
            <a:endParaRPr lang="en-US" altLang="en-US" sz="2600" smtClean="0">
              <a:solidFill>
                <a:srgbClr val="009900"/>
              </a:solidFill>
            </a:endParaRPr>
          </a:p>
          <a:p>
            <a:pPr eaLnBrk="1" hangingPunct="1">
              <a:lnSpc>
                <a:spcPct val="90000"/>
              </a:lnSpc>
            </a:pPr>
            <a:endParaRPr lang="en-US" altLang="en-US" sz="2600" smtClean="0"/>
          </a:p>
          <a:p>
            <a:pPr eaLnBrk="1" hangingPunct="1">
              <a:lnSpc>
                <a:spcPct val="90000"/>
              </a:lnSpc>
            </a:pPr>
            <a:r>
              <a:rPr lang="en-US" altLang="en-US" sz="2600" smtClean="0"/>
              <a:t>Applications: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600" smtClean="0"/>
              <a:t>Classification problems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600" smtClean="0"/>
              <a:t>Regression problems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600" smtClean="0"/>
              <a:t>Feature Selection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510420C-E179-41F4-B085-0CA339CB1938}" type="slidenum">
              <a:rPr lang="he-IL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en-US" sz="1400" smtClean="0"/>
          </a:p>
        </p:txBody>
      </p:sp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CART Introduction</a:t>
            </a:r>
          </a:p>
        </p:txBody>
      </p:sp>
      <p:sp>
        <p:nvSpPr>
          <p:cNvPr id="9220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066800" y="1447800"/>
            <a:ext cx="7351713" cy="4495800"/>
          </a:xfrm>
        </p:spPr>
        <p:txBody>
          <a:bodyPr/>
          <a:lstStyle/>
          <a:p>
            <a:pPr eaLnBrk="1" hangingPunct="1"/>
            <a:r>
              <a:rPr lang="en-US" altLang="en-US" smtClean="0"/>
              <a:t>CART creates a binary tree </a:t>
            </a:r>
          </a:p>
          <a:p>
            <a:pPr lvl="1" eaLnBrk="1" hangingPunct="1"/>
            <a:r>
              <a:rPr lang="en-US" altLang="en-US" smtClean="0"/>
              <a:t>Binary tree means every node of the tree can have maximum 2 branches ONLY (TRUE and FALSE )</a:t>
            </a:r>
          </a:p>
          <a:p>
            <a:pPr eaLnBrk="1" hangingPunct="1"/>
            <a:r>
              <a:rPr lang="en-US" altLang="en-US" smtClean="0"/>
              <a:t>Every internal node is a splitting condition on one feature from data, it splits all rows present currently in two parts</a:t>
            </a:r>
          </a:p>
          <a:p>
            <a:pPr lvl="1" eaLnBrk="1" hangingPunct="1"/>
            <a:r>
              <a:rPr lang="en-US" altLang="en-US" smtClean="0"/>
              <a:t>Continuous feature : Binary split</a:t>
            </a:r>
          </a:p>
          <a:p>
            <a:pPr lvl="1" eaLnBrk="1" hangingPunct="1"/>
            <a:r>
              <a:rPr lang="en-US" altLang="en-US" smtClean="0"/>
              <a:t>Categorical Feature : Binary Split</a:t>
            </a:r>
          </a:p>
          <a:p>
            <a:pPr eaLnBrk="1" hangingPunct="1"/>
            <a:r>
              <a:rPr lang="en-US" altLang="en-US" smtClean="0"/>
              <a:t>Leaf nodes have the prediction or decision class</a:t>
            </a:r>
          </a:p>
          <a:p>
            <a:pPr eaLnBrk="1" hangingPunct="1"/>
            <a:endParaRPr lang="en-US" altLang="en-US" smtClean="0"/>
          </a:p>
          <a:p>
            <a:pPr eaLnBrk="1" hangingPunct="1"/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CART Structure</a:t>
            </a:r>
          </a:p>
        </p:txBody>
      </p:sp>
      <p:sp>
        <p:nvSpPr>
          <p:cNvPr id="10243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C2315D0-E5C2-4993-A158-EB3374181364}" type="slidenum">
              <a:rPr lang="he-IL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en-US" sz="1400" smtClean="0"/>
          </a:p>
        </p:txBody>
      </p:sp>
      <p:pic>
        <p:nvPicPr>
          <p:cNvPr id="10244" name="Content Placeholder 11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00" t="13928" r="9000" b="15701"/>
          <a:stretch>
            <a:fillRect/>
          </a:stretch>
        </p:blipFill>
        <p:spPr>
          <a:xfrm>
            <a:off x="228600" y="1981200"/>
            <a:ext cx="8342313" cy="4343400"/>
          </a:xfrm>
        </p:spPr>
      </p:pic>
      <p:sp>
        <p:nvSpPr>
          <p:cNvPr id="10245" name="Flowchart: Document 4"/>
          <p:cNvSpPr>
            <a:spLocks noChangeArrowheads="1"/>
          </p:cNvSpPr>
          <p:nvPr/>
        </p:nvSpPr>
        <p:spPr bwMode="auto">
          <a:xfrm>
            <a:off x="6705600" y="1485900"/>
            <a:ext cx="1981200" cy="1579563"/>
          </a:xfrm>
          <a:prstGeom prst="flowChartDocumen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 sz="1600"/>
              <a:t>Continuous feature </a:t>
            </a:r>
          </a:p>
          <a:p>
            <a:pPr eaLnBrk="1" hangingPunct="1"/>
            <a:r>
              <a:rPr lang="en-US" altLang="en-US" sz="1600"/>
              <a:t>Binary Split using </a:t>
            </a:r>
          </a:p>
          <a:p>
            <a:pPr eaLnBrk="1" hangingPunct="1"/>
            <a:r>
              <a:rPr lang="en-US" altLang="en-US" sz="1600"/>
              <a:t>numeric condition</a:t>
            </a:r>
          </a:p>
          <a:p>
            <a:pPr eaLnBrk="1" hangingPunct="1"/>
            <a:r>
              <a:rPr lang="en-US" altLang="en-US" sz="1600"/>
              <a:t>So, total samples (4)</a:t>
            </a:r>
          </a:p>
          <a:p>
            <a:pPr eaLnBrk="1" hangingPunct="1"/>
            <a:r>
              <a:rPr lang="en-US" altLang="en-US" sz="1600"/>
              <a:t>Split into 2 and 2</a:t>
            </a:r>
          </a:p>
        </p:txBody>
      </p:sp>
      <p:sp>
        <p:nvSpPr>
          <p:cNvPr id="6" name="Bent-Up Arrow 5"/>
          <p:cNvSpPr/>
          <p:nvPr/>
        </p:nvSpPr>
        <p:spPr bwMode="auto">
          <a:xfrm rot="10800000">
            <a:off x="5607050" y="1697038"/>
            <a:ext cx="1066800" cy="457200"/>
          </a:xfrm>
          <a:prstGeom prst="bentUp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7" name="Flowchart: Document 6"/>
          <p:cNvSpPr/>
          <p:nvPr/>
        </p:nvSpPr>
        <p:spPr bwMode="auto">
          <a:xfrm>
            <a:off x="228600" y="2590800"/>
            <a:ext cx="1981200" cy="990600"/>
          </a:xfrm>
          <a:prstGeom prst="flowChartDocumen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/>
          <a:lstStyle/>
          <a:p>
            <a:pPr eaLnBrk="1" hangingPunct="1">
              <a:defRPr/>
            </a:pPr>
            <a:r>
              <a:rPr lang="en-US" sz="1600" dirty="0">
                <a:solidFill>
                  <a:schemeClr val="tx1"/>
                </a:solidFill>
              </a:rPr>
              <a:t>Two Branches</a:t>
            </a:r>
          </a:p>
          <a:p>
            <a:pPr eaLnBrk="1" hangingPunct="1">
              <a:defRPr/>
            </a:pPr>
            <a:r>
              <a:rPr lang="en-US" sz="1600" dirty="0"/>
              <a:t>TRUE</a:t>
            </a:r>
          </a:p>
          <a:p>
            <a:pPr eaLnBrk="1" hangingPunct="1">
              <a:defRPr/>
            </a:pPr>
            <a:r>
              <a:rPr lang="en-US" sz="1600" dirty="0">
                <a:solidFill>
                  <a:schemeClr val="tx1"/>
                </a:solidFill>
              </a:rPr>
              <a:t>FALSE</a:t>
            </a:r>
          </a:p>
        </p:txBody>
      </p:sp>
      <p:sp>
        <p:nvSpPr>
          <p:cNvPr id="2" name="Flowchart: Alternate Process 1"/>
          <p:cNvSpPr/>
          <p:nvPr/>
        </p:nvSpPr>
        <p:spPr bwMode="auto">
          <a:xfrm>
            <a:off x="2209800" y="4038600"/>
            <a:ext cx="990600" cy="457200"/>
          </a:xfrm>
          <a:prstGeom prst="flowChartAlternateProcess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/>
          <a:lstStyle/>
          <a:p>
            <a:pPr eaLnBrk="1" hangingPunct="1">
              <a:defRPr/>
            </a:pPr>
            <a:r>
              <a:rPr lang="en-US" dirty="0">
                <a:solidFill>
                  <a:schemeClr val="tx1"/>
                </a:solidFill>
              </a:rPr>
              <a:t>True</a:t>
            </a:r>
          </a:p>
        </p:txBody>
      </p:sp>
      <p:sp>
        <p:nvSpPr>
          <p:cNvPr id="9" name="Flowchart: Alternate Process 8"/>
          <p:cNvSpPr/>
          <p:nvPr/>
        </p:nvSpPr>
        <p:spPr bwMode="auto">
          <a:xfrm>
            <a:off x="5726113" y="4038600"/>
            <a:ext cx="990600" cy="457200"/>
          </a:xfrm>
          <a:prstGeom prst="flowChartAlternateProcess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/>
          <a:lstStyle/>
          <a:p>
            <a:pPr eaLnBrk="1" hangingPunct="1">
              <a:defRPr/>
            </a:pPr>
            <a:r>
              <a:rPr lang="en-US" dirty="0">
                <a:solidFill>
                  <a:schemeClr val="tx1"/>
                </a:solidFill>
              </a:rPr>
              <a:t>False</a:t>
            </a:r>
          </a:p>
        </p:txBody>
      </p:sp>
      <p:sp>
        <p:nvSpPr>
          <p:cNvPr id="10250" name="Flowchart: Document 9"/>
          <p:cNvSpPr>
            <a:spLocks noChangeArrowheads="1"/>
          </p:cNvSpPr>
          <p:nvPr/>
        </p:nvSpPr>
        <p:spPr bwMode="auto">
          <a:xfrm>
            <a:off x="3408363" y="6286500"/>
            <a:ext cx="3373437" cy="495300"/>
          </a:xfrm>
          <a:prstGeom prst="flowChartDocumen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 sz="1600"/>
              <a:t>Leaf nodes don’t have condition!</a:t>
            </a:r>
          </a:p>
        </p:txBody>
      </p:sp>
      <p:sp>
        <p:nvSpPr>
          <p:cNvPr id="11" name="Bent-Up Arrow 10"/>
          <p:cNvSpPr/>
          <p:nvPr/>
        </p:nvSpPr>
        <p:spPr bwMode="auto">
          <a:xfrm rot="10800000" flipV="1">
            <a:off x="2336800" y="6119813"/>
            <a:ext cx="1066800" cy="495300"/>
          </a:xfrm>
          <a:prstGeom prst="bentUp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2" name="Bent-Up Arrow 11"/>
          <p:cNvSpPr/>
          <p:nvPr/>
        </p:nvSpPr>
        <p:spPr bwMode="auto">
          <a:xfrm rot="10800000" flipH="1" flipV="1">
            <a:off x="6788150" y="6119813"/>
            <a:ext cx="1066800" cy="457200"/>
          </a:xfrm>
          <a:prstGeom prst="bentUp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 eaLnBrk="1" hangingPunct="1">
              <a:defRPr/>
            </a:pP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>
          <a:xfrm>
            <a:off x="1143000" y="25400"/>
            <a:ext cx="7793038" cy="741363"/>
          </a:xfrm>
        </p:spPr>
        <p:txBody>
          <a:bodyPr/>
          <a:lstStyle/>
          <a:p>
            <a:r>
              <a:rPr lang="en-US" altLang="en-US" smtClean="0"/>
              <a:t>CART Structure</a:t>
            </a:r>
          </a:p>
        </p:txBody>
      </p:sp>
      <p:pic>
        <p:nvPicPr>
          <p:cNvPr id="11267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8" t="15781" r="8372" b="17554"/>
          <a:stretch>
            <a:fillRect/>
          </a:stretch>
        </p:blipFill>
        <p:spPr>
          <a:xfrm>
            <a:off x="304800" y="714375"/>
            <a:ext cx="8382000" cy="6067425"/>
          </a:xfrm>
        </p:spPr>
      </p:pic>
      <p:sp>
        <p:nvSpPr>
          <p:cNvPr id="11268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86800" y="6324600"/>
            <a:ext cx="3048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4166F89-A690-47C9-A816-77C0D2794353}" type="slidenum">
              <a:rPr lang="he-IL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en-US" sz="1400" smtClean="0"/>
          </a:p>
        </p:txBody>
      </p:sp>
      <p:sp>
        <p:nvSpPr>
          <p:cNvPr id="2" name="Flowchart: Document 1"/>
          <p:cNvSpPr/>
          <p:nvPr/>
        </p:nvSpPr>
        <p:spPr bwMode="auto">
          <a:xfrm>
            <a:off x="6477000" y="1492250"/>
            <a:ext cx="1981200" cy="990600"/>
          </a:xfrm>
          <a:prstGeom prst="flowChartDocumen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/>
          <a:lstStyle/>
          <a:p>
            <a:pPr eaLnBrk="1" hangingPunct="1">
              <a:defRPr/>
            </a:pPr>
            <a:r>
              <a:rPr lang="en-US" sz="1600" dirty="0">
                <a:solidFill>
                  <a:schemeClr val="tx1"/>
                </a:solidFill>
              </a:rPr>
              <a:t>Categorical feature </a:t>
            </a:r>
          </a:p>
          <a:p>
            <a:pPr eaLnBrk="1" hangingPunct="1">
              <a:defRPr/>
            </a:pPr>
            <a:r>
              <a:rPr lang="en-US" sz="1600" dirty="0"/>
              <a:t>Binary Split using </a:t>
            </a:r>
          </a:p>
          <a:p>
            <a:pPr eaLnBrk="1" hangingPunct="1">
              <a:defRPr/>
            </a:pPr>
            <a:r>
              <a:rPr lang="en-US" sz="1600" dirty="0"/>
              <a:t>numeric condition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3" name="Bent-Up Arrow 2"/>
          <p:cNvSpPr/>
          <p:nvPr/>
        </p:nvSpPr>
        <p:spPr bwMode="auto">
          <a:xfrm rot="10800000">
            <a:off x="5378450" y="2025650"/>
            <a:ext cx="1066800" cy="457200"/>
          </a:xfrm>
          <a:prstGeom prst="bentUpArrow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/>
          <a:lstStyle/>
          <a:p>
            <a:pPr eaLnBrk="1" hangingPunct="1">
              <a:defRPr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Flowchart: Document 11"/>
          <p:cNvSpPr/>
          <p:nvPr/>
        </p:nvSpPr>
        <p:spPr bwMode="auto">
          <a:xfrm>
            <a:off x="419100" y="1035050"/>
            <a:ext cx="2324100" cy="990600"/>
          </a:xfrm>
          <a:prstGeom prst="flowChartDocumen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/>
          <a:lstStyle/>
          <a:p>
            <a:pPr eaLnBrk="1" hangingPunct="1">
              <a:defRPr/>
            </a:pPr>
            <a:r>
              <a:rPr lang="en-US" sz="1600" dirty="0">
                <a:solidFill>
                  <a:schemeClr val="tx1"/>
                </a:solidFill>
              </a:rPr>
              <a:t>Complete samples (282)</a:t>
            </a:r>
          </a:p>
          <a:p>
            <a:pPr eaLnBrk="1" hangingPunct="1">
              <a:defRPr/>
            </a:pPr>
            <a:r>
              <a:rPr lang="en-US" sz="1600" dirty="0">
                <a:solidFill>
                  <a:schemeClr val="tx1"/>
                </a:solidFill>
              </a:rPr>
              <a:t>Split to two parts</a:t>
            </a:r>
          </a:p>
          <a:p>
            <a:pPr eaLnBrk="1" hangingPunct="1">
              <a:defRPr/>
            </a:pPr>
            <a:r>
              <a:rPr lang="en-US" sz="1600" dirty="0">
                <a:solidFill>
                  <a:schemeClr val="tx1"/>
                </a:solidFill>
              </a:rPr>
              <a:t>138 and 144</a:t>
            </a:r>
          </a:p>
        </p:txBody>
      </p:sp>
      <p:sp>
        <p:nvSpPr>
          <p:cNvPr id="15" name="Up Arrow 14"/>
          <p:cNvSpPr/>
          <p:nvPr/>
        </p:nvSpPr>
        <p:spPr bwMode="auto">
          <a:xfrm rot="6364125">
            <a:off x="3263107" y="1077119"/>
            <a:ext cx="381000" cy="2579687"/>
          </a:xfrm>
          <a:prstGeom prst="upArrow">
            <a:avLst>
              <a:gd name="adj1" fmla="val 24321"/>
              <a:gd name="adj2" fmla="val 29259"/>
            </a:avLst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/>
          <a:lstStyle/>
          <a:p>
            <a:pPr eaLnBrk="1" hangingPunct="1">
              <a:defRPr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Up Arrow 15"/>
          <p:cNvSpPr/>
          <p:nvPr/>
        </p:nvSpPr>
        <p:spPr bwMode="auto">
          <a:xfrm rot="10800000">
            <a:off x="1500188" y="1987550"/>
            <a:ext cx="252412" cy="533400"/>
          </a:xfrm>
          <a:prstGeom prst="upArrow">
            <a:avLst>
              <a:gd name="adj1" fmla="val 24321"/>
              <a:gd name="adj2" fmla="val 29259"/>
            </a:avLst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/>
          <a:lstStyle/>
          <a:p>
            <a:pPr eaLnBrk="1" hangingPunct="1">
              <a:defRPr/>
            </a:pPr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>
          <a:xfrm>
            <a:off x="1165225" y="131763"/>
            <a:ext cx="7793038" cy="682625"/>
          </a:xfrm>
        </p:spPr>
        <p:txBody>
          <a:bodyPr/>
          <a:lstStyle/>
          <a:p>
            <a:r>
              <a:rPr lang="en-US" altLang="en-US" smtClean="0"/>
              <a:t>CART Structure</a:t>
            </a:r>
          </a:p>
        </p:txBody>
      </p:sp>
      <p:sp>
        <p:nvSpPr>
          <p:cNvPr id="12291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784CE8D1-8094-4398-BCCD-EE8A56BD4830}" type="slidenum">
              <a:rPr lang="he-IL" altLang="en-US" sz="1400" smtClean="0"/>
              <a:pPr/>
              <a:t>7</a:t>
            </a:fld>
            <a:endParaRPr lang="en-US" altLang="en-US" sz="1400" smtClean="0"/>
          </a:p>
        </p:txBody>
      </p:sp>
      <p:pic>
        <p:nvPicPr>
          <p:cNvPr id="12292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07" r="1852"/>
          <a:stretch>
            <a:fillRect/>
          </a:stretch>
        </p:blipFill>
        <p:spPr bwMode="auto">
          <a:xfrm>
            <a:off x="76200" y="2209800"/>
            <a:ext cx="37338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3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2133600"/>
            <a:ext cx="4097338" cy="419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4" name="TextBox 6"/>
          <p:cNvSpPr txBox="1">
            <a:spLocks noChangeArrowheads="1"/>
          </p:cNvSpPr>
          <p:nvPr/>
        </p:nvSpPr>
        <p:spPr bwMode="auto">
          <a:xfrm>
            <a:off x="3835400" y="4724400"/>
            <a:ext cx="12319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/>
              <a:t>-5.8141</a:t>
            </a:r>
          </a:p>
        </p:txBody>
      </p:sp>
      <p:sp>
        <p:nvSpPr>
          <p:cNvPr id="12295" name="TextBox 7"/>
          <p:cNvSpPr txBox="1">
            <a:spLocks noChangeArrowheads="1"/>
          </p:cNvSpPr>
          <p:nvPr/>
        </p:nvSpPr>
        <p:spPr bwMode="auto">
          <a:xfrm>
            <a:off x="3929063" y="3203575"/>
            <a:ext cx="11191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/>
              <a:t>5.3475</a:t>
            </a:r>
          </a:p>
        </p:txBody>
      </p:sp>
      <p:sp>
        <p:nvSpPr>
          <p:cNvPr id="12296" name="TextBox 8"/>
          <p:cNvSpPr txBox="1">
            <a:spLocks noChangeArrowheads="1"/>
          </p:cNvSpPr>
          <p:nvPr/>
        </p:nvSpPr>
        <p:spPr bwMode="auto">
          <a:xfrm>
            <a:off x="3929063" y="2362200"/>
            <a:ext cx="76676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/>
              <a:t>X[1]</a:t>
            </a:r>
          </a:p>
        </p:txBody>
      </p:sp>
      <p:sp>
        <p:nvSpPr>
          <p:cNvPr id="12297" name="TextBox 9"/>
          <p:cNvSpPr txBox="1">
            <a:spLocks noChangeArrowheads="1"/>
          </p:cNvSpPr>
          <p:nvPr/>
        </p:nvSpPr>
        <p:spPr bwMode="auto">
          <a:xfrm>
            <a:off x="6553200" y="6319838"/>
            <a:ext cx="7683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/>
              <a:t>X[0]</a:t>
            </a:r>
          </a:p>
        </p:txBody>
      </p:sp>
      <p:sp>
        <p:nvSpPr>
          <p:cNvPr id="11" name="Flowchart: Document 10"/>
          <p:cNvSpPr/>
          <p:nvPr/>
        </p:nvSpPr>
        <p:spPr bwMode="auto">
          <a:xfrm>
            <a:off x="2300288" y="957263"/>
            <a:ext cx="2271712" cy="1416050"/>
          </a:xfrm>
          <a:prstGeom prst="flowChartDocumen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/>
          <a:lstStyle/>
          <a:p>
            <a:pPr eaLnBrk="1" hangingPunct="1">
              <a:defRPr/>
            </a:pPr>
            <a:r>
              <a:rPr lang="en-US" sz="1600" dirty="0">
                <a:solidFill>
                  <a:schemeClr val="tx1"/>
                </a:solidFill>
              </a:rPr>
              <a:t>Same feature </a:t>
            </a:r>
          </a:p>
          <a:p>
            <a:pPr eaLnBrk="1" hangingPunct="1">
              <a:defRPr/>
            </a:pPr>
            <a:r>
              <a:rPr lang="en-US" sz="1600" dirty="0">
                <a:solidFill>
                  <a:schemeClr val="tx1"/>
                </a:solidFill>
              </a:rPr>
              <a:t>can repeat</a:t>
            </a:r>
          </a:p>
          <a:p>
            <a:pPr eaLnBrk="1" hangingPunct="1">
              <a:defRPr/>
            </a:pPr>
            <a:r>
              <a:rPr lang="en-US" sz="1600" dirty="0">
                <a:solidFill>
                  <a:schemeClr val="tx1"/>
                </a:solidFill>
              </a:rPr>
              <a:t>in nodes</a:t>
            </a:r>
          </a:p>
          <a:p>
            <a:pPr eaLnBrk="1" hangingPunct="1">
              <a:defRPr/>
            </a:pPr>
            <a:r>
              <a:rPr lang="en-US" sz="1600" dirty="0">
                <a:solidFill>
                  <a:schemeClr val="tx1"/>
                </a:solidFill>
              </a:rPr>
              <a:t>This allows non-linear </a:t>
            </a:r>
          </a:p>
          <a:p>
            <a:pPr eaLnBrk="1" hangingPunct="1">
              <a:defRPr/>
            </a:pPr>
            <a:r>
              <a:rPr lang="en-US" sz="1600" dirty="0">
                <a:solidFill>
                  <a:schemeClr val="tx1"/>
                </a:solidFill>
              </a:rPr>
              <a:t>boundaries</a:t>
            </a:r>
          </a:p>
        </p:txBody>
      </p:sp>
      <p:sp>
        <p:nvSpPr>
          <p:cNvPr id="12" name="Up Arrow 11"/>
          <p:cNvSpPr/>
          <p:nvPr/>
        </p:nvSpPr>
        <p:spPr bwMode="auto">
          <a:xfrm rot="13633395">
            <a:off x="1701800" y="1622425"/>
            <a:ext cx="381000" cy="762000"/>
          </a:xfrm>
          <a:prstGeom prst="upArrow">
            <a:avLst>
              <a:gd name="adj1" fmla="val 24321"/>
              <a:gd name="adj2" fmla="val 29259"/>
            </a:avLst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/>
          <a:lstStyle/>
          <a:p>
            <a:pPr eaLnBrk="1" hangingPunct="1">
              <a:defRPr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Up Arrow 12"/>
          <p:cNvSpPr/>
          <p:nvPr/>
        </p:nvSpPr>
        <p:spPr bwMode="auto">
          <a:xfrm rot="11776256">
            <a:off x="2443163" y="2389188"/>
            <a:ext cx="381000" cy="1611312"/>
          </a:xfrm>
          <a:prstGeom prst="upArrow">
            <a:avLst>
              <a:gd name="adj1" fmla="val 24321"/>
              <a:gd name="adj2" fmla="val 29259"/>
            </a:avLst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/>
          <a:lstStyle/>
          <a:p>
            <a:pPr eaLnBrk="1" hangingPunct="1">
              <a:defRPr/>
            </a:pPr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Basic Terminologies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81063" y="1741488"/>
            <a:ext cx="7772400" cy="4114800"/>
          </a:xfrm>
        </p:spPr>
        <p:txBody>
          <a:bodyPr/>
          <a:lstStyle/>
          <a:p>
            <a:pPr algn="just">
              <a:defRPr/>
            </a:pPr>
            <a:r>
              <a:rPr lang="en-US" altLang="en-US" b="1" dirty="0" smtClean="0"/>
              <a:t>Root Node: </a:t>
            </a:r>
            <a:r>
              <a:rPr lang="en-US" altLang="en-US" dirty="0" smtClean="0"/>
              <a:t>It represents entire population or sample and this further gets divided into two partitions.</a:t>
            </a:r>
          </a:p>
          <a:p>
            <a:pPr algn="just">
              <a:defRPr/>
            </a:pPr>
            <a:r>
              <a:rPr lang="en-US" altLang="en-US" b="1" dirty="0" smtClean="0"/>
              <a:t>Splitting: </a:t>
            </a:r>
            <a:r>
              <a:rPr lang="en-US" altLang="en-US" dirty="0" smtClean="0"/>
              <a:t>It is a process of dividing a node into two sub-nodes.</a:t>
            </a:r>
          </a:p>
          <a:p>
            <a:pPr algn="just">
              <a:defRPr/>
            </a:pPr>
            <a:r>
              <a:rPr lang="en-US" altLang="en-US" b="1" dirty="0" smtClean="0"/>
              <a:t>Decision Node: </a:t>
            </a:r>
            <a:r>
              <a:rPr lang="en-US" altLang="en-US" dirty="0" smtClean="0"/>
              <a:t>When a sub-node splits into further sub-nodes, then it is called decision node.</a:t>
            </a:r>
          </a:p>
          <a:p>
            <a:pPr algn="just">
              <a:defRPr/>
            </a:pPr>
            <a:r>
              <a:rPr lang="en-US" altLang="en-US" b="1" dirty="0" smtClean="0"/>
              <a:t>Leaf/ Terminal Node: </a:t>
            </a:r>
            <a:r>
              <a:rPr lang="en-US" altLang="en-US" dirty="0" smtClean="0"/>
              <a:t>Nodes do not split is called Leaf or Terminal node.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dirty="0"/>
          </a:p>
        </p:txBody>
      </p:sp>
      <p:sp>
        <p:nvSpPr>
          <p:cNvPr id="13316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24F3859-682B-4419-A332-ED75FBA2C886}" type="slidenum">
              <a:rPr lang="he-IL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en-US" sz="1400" smtClean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Basic Terminologies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981200"/>
            <a:ext cx="7772400" cy="4114800"/>
          </a:xfrm>
        </p:spPr>
        <p:txBody>
          <a:bodyPr/>
          <a:lstStyle/>
          <a:p>
            <a:pPr algn="just">
              <a:defRPr/>
            </a:pPr>
            <a:r>
              <a:rPr lang="en-US" altLang="en-US" b="1" dirty="0" smtClean="0"/>
              <a:t>Pruning: </a:t>
            </a:r>
            <a:r>
              <a:rPr lang="en-US" altLang="en-US" dirty="0" smtClean="0"/>
              <a:t>When we remove sub-nodes of a decision node, this process is called pruning. </a:t>
            </a:r>
          </a:p>
          <a:p>
            <a:pPr algn="just">
              <a:defRPr/>
            </a:pPr>
            <a:r>
              <a:rPr lang="en-US" altLang="en-US" b="1" dirty="0" smtClean="0"/>
              <a:t>Branch / Sub-Tree: </a:t>
            </a:r>
            <a:r>
              <a:rPr lang="en-US" altLang="en-US" dirty="0" smtClean="0"/>
              <a:t>A sub section of entire tree is called branch or sub-tree.</a:t>
            </a:r>
          </a:p>
          <a:p>
            <a:pPr algn="just">
              <a:defRPr/>
            </a:pPr>
            <a:r>
              <a:rPr lang="en-US" altLang="en-US" b="1" dirty="0" smtClean="0"/>
              <a:t>Parent and Child Node: </a:t>
            </a:r>
            <a:r>
              <a:rPr lang="en-US" altLang="en-US" dirty="0" smtClean="0"/>
              <a:t>A node, which is divided into sub-nodes is called parent node of sub-nodes where as sub-nodes are the child of parent node.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dirty="0"/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CD32B8A-F9DE-48C5-9499-F984F5DA3077}" type="slidenum">
              <a:rPr lang="he-IL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en-US" sz="1400" smtClean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CART Algorithm</a:t>
            </a:r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>
          <a:xfrm>
            <a:off x="1203325" y="1295400"/>
            <a:ext cx="7772400" cy="5486400"/>
          </a:xfrm>
        </p:spPr>
        <p:txBody>
          <a:bodyPr/>
          <a:lstStyle/>
          <a:p>
            <a:r>
              <a:rPr lang="en-US" altLang="en-US" smtClean="0"/>
              <a:t>CART at every step divides currently available rows in two parts in way that cost will be minimized (greedy approach)</a:t>
            </a:r>
          </a:p>
          <a:p>
            <a:r>
              <a:rPr lang="en-US" altLang="en-US" smtClean="0"/>
              <a:t>This is called as </a:t>
            </a:r>
            <a:r>
              <a:rPr lang="en-US" altLang="en-US" b="1" u="sng" smtClean="0"/>
              <a:t>recursive binary splitting</a:t>
            </a:r>
          </a:p>
          <a:p>
            <a:r>
              <a:rPr lang="en-US" altLang="en-US" smtClean="0"/>
              <a:t>At every step, all input features and their all possible values are lined up and all possible split points are tried out</a:t>
            </a:r>
          </a:p>
          <a:p>
            <a:r>
              <a:rPr lang="en-US" altLang="en-US" smtClean="0"/>
              <a:t>Then split feature and value which gives minimum cost is selected</a:t>
            </a:r>
          </a:p>
          <a:p>
            <a:r>
              <a:rPr lang="en-US" altLang="en-US" smtClean="0"/>
              <a:t>Ideally, When a part has all rows with same output class or ONLY one row is present in the part then splitting is </a:t>
            </a:r>
            <a:r>
              <a:rPr lang="en-US" altLang="en-US" b="1" i="1" smtClean="0"/>
              <a:t>stopped</a:t>
            </a:r>
            <a:r>
              <a:rPr lang="en-US" altLang="en-US" smtClean="0"/>
              <a:t> </a:t>
            </a:r>
          </a:p>
        </p:txBody>
      </p:sp>
      <p:sp>
        <p:nvSpPr>
          <p:cNvPr id="1741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F45663C-E30D-497B-9188-628631B71AB1}" type="slidenum">
              <a:rPr lang="he-IL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en-US" sz="1400" smtClean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CART Algorithm</a:t>
            </a:r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>
          <a:xfrm>
            <a:off x="1185863" y="1741488"/>
            <a:ext cx="7772400" cy="4114800"/>
          </a:xfrm>
        </p:spPr>
        <p:txBody>
          <a:bodyPr/>
          <a:lstStyle/>
          <a:p>
            <a:r>
              <a:rPr lang="en-US" altLang="en-US" smtClean="0"/>
              <a:t>Cost Function</a:t>
            </a:r>
          </a:p>
          <a:p>
            <a:pPr lvl="1"/>
            <a:r>
              <a:rPr lang="en-US" altLang="en-US" sz="2400" smtClean="0"/>
              <a:t>For Classification: Gini Index / Entropy</a:t>
            </a:r>
          </a:p>
          <a:p>
            <a:pPr lvl="1"/>
            <a:r>
              <a:rPr lang="en-US" altLang="en-US" sz="2400" smtClean="0"/>
              <a:t>For Regression : sum of squared error</a:t>
            </a:r>
          </a:p>
          <a:p>
            <a:endParaRPr lang="en-US" altLang="en-US" sz="2400" smtClean="0"/>
          </a:p>
          <a:p>
            <a:r>
              <a:rPr lang="en-US" altLang="en-US" sz="2400" smtClean="0"/>
              <a:t>Stopping Criteria</a:t>
            </a:r>
          </a:p>
          <a:p>
            <a:pPr lvl="1"/>
            <a:r>
              <a:rPr lang="en-US" altLang="en-US" sz="2400" b="1" smtClean="0"/>
              <a:t>Ideal</a:t>
            </a:r>
            <a:r>
              <a:rPr lang="en-US" altLang="en-US" sz="2400" smtClean="0"/>
              <a:t>: all rows in the part should have same class</a:t>
            </a:r>
          </a:p>
          <a:p>
            <a:pPr lvl="1"/>
            <a:r>
              <a:rPr lang="en-US" altLang="en-US" sz="2400" smtClean="0"/>
              <a:t>          OR only 1 row in the part</a:t>
            </a:r>
          </a:p>
          <a:p>
            <a:pPr lvl="1"/>
            <a:r>
              <a:rPr lang="en-US" altLang="en-US" sz="2400" b="1" smtClean="0"/>
              <a:t>Actual</a:t>
            </a:r>
            <a:r>
              <a:rPr lang="en-US" altLang="en-US" sz="2400" smtClean="0"/>
              <a:t>: min_samples_leaf parameters allows CART to stop splitting if no of rows are less than minimum value given</a:t>
            </a:r>
          </a:p>
          <a:p>
            <a:pPr lvl="1"/>
            <a:endParaRPr lang="en-US" altLang="en-US" sz="2400" smtClean="0"/>
          </a:p>
          <a:p>
            <a:endParaRPr lang="en-US" altLang="en-US" smtClean="0"/>
          </a:p>
        </p:txBody>
      </p:sp>
      <p:sp>
        <p:nvSpPr>
          <p:cNvPr id="18436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8FAE5AC7-9B12-4F98-BB51-203E2A99B4CC}" type="slidenum">
              <a:rPr lang="he-IL" altLang="en-US" sz="1400" smtClean="0"/>
              <a:pPr/>
              <a:t>11</a:t>
            </a:fld>
            <a:endParaRPr lang="en-US" altLang="en-US" sz="1400" smtClean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smtClean="0"/>
              <a:t>CART for Classification</a:t>
            </a:r>
          </a:p>
        </p:txBody>
      </p:sp>
      <p:sp>
        <p:nvSpPr>
          <p:cNvPr id="19459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0A5DF9B-D7BA-4059-BA94-D682C0DF4EFD}" type="slidenum">
              <a:rPr lang="he-IL" altLang="en-US" sz="1400" smtClean="0">
                <a:solidFill>
                  <a:schemeClr val="bg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altLang="en-US" sz="1400" smtClean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Leaf nodes will have the predicted class</a:t>
            </a:r>
          </a:p>
          <a:p>
            <a:endParaRPr lang="en-US" dirty="0" smtClean="0"/>
          </a:p>
          <a:p>
            <a:r>
              <a:rPr lang="en-US" dirty="0" smtClean="0"/>
              <a:t>Directly supports</a:t>
            </a:r>
          </a:p>
          <a:p>
            <a:pPr lvl="1"/>
            <a:r>
              <a:rPr lang="en-US" dirty="0" smtClean="0"/>
              <a:t>Binary Classification</a:t>
            </a:r>
          </a:p>
          <a:p>
            <a:pPr lvl="1"/>
            <a:r>
              <a:rPr lang="en-US" dirty="0" smtClean="0"/>
              <a:t>Multi-class Classification</a:t>
            </a:r>
          </a:p>
          <a:p>
            <a:endParaRPr lang="en-US" dirty="0"/>
          </a:p>
          <a:p>
            <a:r>
              <a:rPr lang="en-US" dirty="0" smtClean="0"/>
              <a:t>No extra calculation or processing for multi-class classification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1A0772-F8AE-4C4F-81D0-A6C75E644ED2}" type="slidenum">
              <a:rPr lang="he-IL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3553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6E8E756-3E26-41C9-A558-03DBF5183537}" type="slidenum">
              <a:rPr lang="he-IL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US" altLang="en-US" sz="1400" smtClean="0"/>
          </a:p>
        </p:txBody>
      </p:sp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v-SE" altLang="en-US" dirty="0" smtClean="0"/>
              <a:t>Criterian for Split </a:t>
            </a:r>
            <a:r>
              <a:rPr lang="sv-SE" altLang="en-US" sz="3200" dirty="0" smtClean="0"/>
              <a:t>(Cost function)</a:t>
            </a:r>
          </a:p>
        </p:txBody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8213" y="1741488"/>
            <a:ext cx="7772400" cy="4114800"/>
          </a:xfrm>
        </p:spPr>
        <p:txBody>
          <a:bodyPr/>
          <a:lstStyle/>
          <a:p>
            <a:pPr eaLnBrk="1" hangingPunct="1"/>
            <a:r>
              <a:rPr lang="sv-SE" altLang="en-US" sz="2400" smtClean="0"/>
              <a:t>Measures how each feature/column is important</a:t>
            </a:r>
          </a:p>
          <a:p>
            <a:pPr eaLnBrk="1" hangingPunct="1"/>
            <a:endParaRPr lang="sv-SE" altLang="en-US" sz="2400" smtClean="0"/>
          </a:p>
          <a:p>
            <a:pPr eaLnBrk="1" hangingPunct="1"/>
            <a:r>
              <a:rPr lang="sv-SE" altLang="en-US" sz="2400" smtClean="0"/>
              <a:t>Options</a:t>
            </a:r>
          </a:p>
          <a:p>
            <a:pPr lvl="1" eaLnBrk="1" hangingPunct="1"/>
            <a:r>
              <a:rPr lang="sv-SE" altLang="en-US" sz="2000" smtClean="0"/>
              <a:t>Gini Index   </a:t>
            </a:r>
            <a:r>
              <a:rPr lang="sv-SE" altLang="en-US" sz="2000" smtClean="0">
                <a:sym typeface="Wingdings" panose="05000000000000000000" pitchFamily="2" charset="2"/>
              </a:rPr>
              <a:t> CART uses it by default</a:t>
            </a:r>
            <a:endParaRPr lang="sv-SE" altLang="en-US" sz="2000" smtClean="0"/>
          </a:p>
          <a:p>
            <a:pPr lvl="1" eaLnBrk="1" hangingPunct="1"/>
            <a:r>
              <a:rPr lang="sv-SE" altLang="en-US" sz="2000" smtClean="0"/>
              <a:t>Entropy ( Information Gain)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Gini index </a:t>
            </a:r>
            <a:r>
              <a:rPr lang="en-US" altLang="en-US" smtClean="0"/>
              <a:t>/ Gini Impurity</a:t>
            </a:r>
            <a:endParaRPr lang="en-US" altLang="en-US" dirty="0" smtClean="0"/>
          </a:p>
        </p:txBody>
      </p:sp>
      <p:sp>
        <p:nvSpPr>
          <p:cNvPr id="24579" name="Content Placeholder 2"/>
          <p:cNvSpPr>
            <a:spLocks noGrp="1"/>
          </p:cNvSpPr>
          <p:nvPr>
            <p:ph idx="1"/>
          </p:nvPr>
        </p:nvSpPr>
        <p:spPr>
          <a:xfrm>
            <a:off x="1185863" y="1371600"/>
            <a:ext cx="7772400" cy="4114800"/>
          </a:xfrm>
        </p:spPr>
        <p:txBody>
          <a:bodyPr/>
          <a:lstStyle/>
          <a:p>
            <a:r>
              <a:rPr lang="en-US" altLang="en-US" dirty="0" smtClean="0"/>
              <a:t>Minimum Value is 0</a:t>
            </a:r>
          </a:p>
          <a:p>
            <a:r>
              <a:rPr lang="en-US" altLang="en-US" dirty="0" smtClean="0"/>
              <a:t>Max value is 0.5</a:t>
            </a:r>
          </a:p>
          <a:p>
            <a:r>
              <a:rPr lang="en-US" altLang="en-US" dirty="0" smtClean="0"/>
              <a:t>Formula :</a:t>
            </a:r>
          </a:p>
          <a:p>
            <a:endParaRPr lang="en-US" altLang="en-US" dirty="0" smtClean="0"/>
          </a:p>
          <a:p>
            <a:endParaRPr lang="en-US" altLang="en-US" dirty="0" smtClean="0"/>
          </a:p>
          <a:p>
            <a:r>
              <a:rPr lang="en-US" altLang="en-US" dirty="0" smtClean="0"/>
              <a:t>Here </a:t>
            </a:r>
            <a:r>
              <a:rPr lang="en-US" altLang="en-US" dirty="0" err="1" smtClean="0"/>
              <a:t>Pj</a:t>
            </a:r>
            <a:r>
              <a:rPr lang="en-US" altLang="en-US" dirty="0" smtClean="0"/>
              <a:t> is probability of value in </a:t>
            </a:r>
            <a:r>
              <a:rPr lang="en-US" altLang="en-US" dirty="0" err="1" smtClean="0"/>
              <a:t>jth</a:t>
            </a:r>
            <a:r>
              <a:rPr lang="en-US" altLang="en-US" dirty="0" smtClean="0"/>
              <a:t> class</a:t>
            </a:r>
          </a:p>
          <a:p>
            <a:r>
              <a:rPr lang="en-US" altLang="en-US" dirty="0" smtClean="0"/>
              <a:t>So for binary classification</a:t>
            </a:r>
          </a:p>
          <a:p>
            <a:endParaRPr lang="en-US" altLang="en-US" dirty="0"/>
          </a:p>
          <a:p>
            <a:r>
              <a:rPr lang="en-US" altLang="en-US" dirty="0" err="1" smtClean="0"/>
              <a:t>GiniIndex</a:t>
            </a:r>
            <a:r>
              <a:rPr lang="en-US" altLang="en-US" dirty="0" smtClean="0"/>
              <a:t> = 1 – (p1^2 + p2^2)</a:t>
            </a:r>
          </a:p>
          <a:p>
            <a:endParaRPr lang="en-US" altLang="en-US" dirty="0" smtClean="0"/>
          </a:p>
          <a:p>
            <a:endParaRPr lang="en-US" altLang="en-US" dirty="0" smtClean="0"/>
          </a:p>
        </p:txBody>
      </p:sp>
      <p:sp>
        <p:nvSpPr>
          <p:cNvPr id="2458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CCE7225-58A5-4408-9820-6B643CF0DFC1}" type="slidenum">
              <a:rPr lang="he-IL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US" altLang="en-US" sz="1400" smtClean="0"/>
          </a:p>
        </p:txBody>
      </p:sp>
      <p:pic>
        <p:nvPicPr>
          <p:cNvPr id="24581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0344" y="2465388"/>
            <a:ext cx="4419600" cy="963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Gini Index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47800"/>
            <a:ext cx="8655403" cy="4114800"/>
          </a:xfrm>
        </p:spPr>
        <p:txBody>
          <a:bodyPr/>
          <a:lstStyle/>
          <a:p>
            <a:r>
              <a:rPr lang="en-US" altLang="en-US" dirty="0" smtClean="0"/>
              <a:t>Gini Index for a Split Point is </a:t>
            </a:r>
          </a:p>
          <a:p>
            <a:r>
              <a:rPr lang="pt-BR" sz="3200" dirty="0" smtClean="0"/>
              <a:t>G = ((1 – (T_c1^2 + T_c2^2)) * (nT/n)) </a:t>
            </a:r>
          </a:p>
          <a:p>
            <a:pPr marL="0" indent="0">
              <a:buNone/>
            </a:pPr>
            <a:r>
              <a:rPr lang="pt-BR" sz="3200" dirty="0"/>
              <a:t>	</a:t>
            </a:r>
            <a:r>
              <a:rPr lang="pt-BR" sz="3200" dirty="0" smtClean="0"/>
              <a:t>+ ((1 – (F_c1^2 + F_c2^2)) * (nF/n))</a:t>
            </a:r>
          </a:p>
          <a:p>
            <a:r>
              <a:rPr lang="pt-BR" dirty="0" smtClean="0"/>
              <a:t>T_c1 – portion of class 1 in True part</a:t>
            </a:r>
          </a:p>
          <a:p>
            <a:r>
              <a:rPr lang="pt-BR" dirty="0" smtClean="0"/>
              <a:t>T_c2 – portion of class 2 in True part</a:t>
            </a:r>
          </a:p>
          <a:p>
            <a:r>
              <a:rPr lang="pt-BR" dirty="0" smtClean="0"/>
              <a:t>nT – total samples in True part</a:t>
            </a:r>
          </a:p>
          <a:p>
            <a:r>
              <a:rPr lang="pt-BR" dirty="0" smtClean="0"/>
              <a:t>F_c1 – portion of class 1 in False part</a:t>
            </a:r>
          </a:p>
          <a:p>
            <a:r>
              <a:rPr lang="pt-BR" dirty="0"/>
              <a:t>F</a:t>
            </a:r>
            <a:r>
              <a:rPr lang="pt-BR" dirty="0" smtClean="0"/>
              <a:t>_c2 – portion of class 2 in False part</a:t>
            </a:r>
          </a:p>
          <a:p>
            <a:r>
              <a:rPr lang="pt-BR" dirty="0" smtClean="0"/>
              <a:t>nF – total samples in False part</a:t>
            </a:r>
          </a:p>
          <a:p>
            <a:r>
              <a:rPr lang="pt-BR" dirty="0"/>
              <a:t>n</a:t>
            </a:r>
            <a:r>
              <a:rPr lang="pt-BR" dirty="0" smtClean="0"/>
              <a:t> – Total samples in current node</a:t>
            </a:r>
          </a:p>
          <a:p>
            <a:endParaRPr lang="pt-BR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1A0772-F8AE-4C4F-81D0-A6C75E644ED2}" type="slidenum">
              <a:rPr lang="he-IL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1322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Gini Index Example</a:t>
            </a:r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50761287"/>
              </p:ext>
            </p:extLst>
          </p:nvPr>
        </p:nvGraphicFramePr>
        <p:xfrm>
          <a:off x="93662" y="1651428"/>
          <a:ext cx="2286000" cy="22250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969269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60396476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7999873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X1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X2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Y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21180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solidFill>
                            <a:schemeClr val="bg1"/>
                          </a:solidFill>
                        </a:rPr>
                        <a:t>Gender</a:t>
                      </a:r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>
                          <a:solidFill>
                            <a:schemeClr val="bg1"/>
                          </a:solidFill>
                        </a:rPr>
                        <a:t>Marks</a:t>
                      </a:r>
                      <a:endParaRPr 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>
                          <a:solidFill>
                            <a:schemeClr val="bg1"/>
                          </a:solidFill>
                        </a:rPr>
                        <a:t>Result</a:t>
                      </a:r>
                      <a:endParaRPr 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9934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46304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22108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76745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3123146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1A0772-F8AE-4C4F-81D0-A6C75E644ED2}" type="slidenum">
              <a:rPr lang="he-IL" smtClean="0"/>
              <a:pPr>
                <a:defRPr/>
              </a:pPr>
              <a:t>17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410706" y="1600200"/>
            <a:ext cx="673329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Target</a:t>
            </a:r>
            <a:r>
              <a:rPr lang="en-US" dirty="0" smtClean="0"/>
              <a:t>: Result </a:t>
            </a:r>
            <a:r>
              <a:rPr lang="en-US" b="1" dirty="0" smtClean="0"/>
              <a:t>Feature Names </a:t>
            </a:r>
            <a:r>
              <a:rPr lang="en-US" dirty="0" smtClean="0"/>
              <a:t>: </a:t>
            </a:r>
            <a:r>
              <a:rPr lang="en-US" dirty="0" err="1" smtClean="0"/>
              <a:t>Gender,Marks</a:t>
            </a:r>
            <a:endParaRPr lang="en-US" dirty="0" smtClean="0"/>
          </a:p>
          <a:p>
            <a:r>
              <a:rPr lang="en-US" b="1" dirty="0" smtClean="0"/>
              <a:t>Features / Columns </a:t>
            </a:r>
            <a:r>
              <a:rPr lang="en-US" dirty="0" smtClean="0"/>
              <a:t>: 2, </a:t>
            </a:r>
            <a:r>
              <a:rPr lang="en-US" b="1" dirty="0" smtClean="0"/>
              <a:t>Samples / rows </a:t>
            </a:r>
            <a:r>
              <a:rPr lang="en-US" dirty="0" smtClean="0"/>
              <a:t>: 4</a:t>
            </a:r>
          </a:p>
          <a:p>
            <a:r>
              <a:rPr lang="en-US" b="1" dirty="0" smtClean="0"/>
              <a:t>Possible splits</a:t>
            </a:r>
            <a:r>
              <a:rPr lang="en-US" dirty="0" smtClean="0"/>
              <a:t>: </a:t>
            </a:r>
          </a:p>
          <a:p>
            <a:r>
              <a:rPr lang="en-US" dirty="0" smtClean="0"/>
              <a:t>1 split on Gender – (0.5)</a:t>
            </a:r>
          </a:p>
          <a:p>
            <a:r>
              <a:rPr lang="en-US" dirty="0" smtClean="0"/>
              <a:t>3 splits on Marks – (27.5,32.5,40)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Calculate Gini Index for split </a:t>
            </a:r>
            <a:r>
              <a:rPr lang="en-US" b="1" dirty="0" smtClean="0"/>
              <a:t>Gender 0.5</a:t>
            </a:r>
          </a:p>
          <a:p>
            <a:endParaRPr lang="en-US" dirty="0" smtClean="0"/>
          </a:p>
          <a:p>
            <a:r>
              <a:rPr lang="en-US" dirty="0" smtClean="0"/>
              <a:t>Calculate Gini Index for split </a:t>
            </a:r>
            <a:r>
              <a:rPr lang="en-US" b="1" dirty="0" smtClean="0"/>
              <a:t>Marks 32.5</a:t>
            </a:r>
          </a:p>
          <a:p>
            <a:endParaRPr lang="en-US" b="1" dirty="0"/>
          </a:p>
          <a:p>
            <a:r>
              <a:rPr lang="en-US" dirty="0" smtClean="0"/>
              <a:t>Then Select split which has minimum Gini Index</a:t>
            </a:r>
          </a:p>
        </p:txBody>
      </p:sp>
    </p:spTree>
    <p:extLst>
      <p:ext uri="{BB962C8B-B14F-4D97-AF65-F5344CB8AC3E}">
        <p14:creationId xmlns:p14="http://schemas.microsoft.com/office/powerpoint/2010/main" val="7388664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Gini Index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6981" y="1524000"/>
            <a:ext cx="7120819" cy="3124200"/>
          </a:xfrm>
        </p:spPr>
        <p:txBody>
          <a:bodyPr/>
          <a:lstStyle/>
          <a:p>
            <a:r>
              <a:rPr lang="en-US" dirty="0" smtClean="0"/>
              <a:t>Calculate Gini Index for split </a:t>
            </a:r>
            <a:r>
              <a:rPr lang="en-US" b="1" dirty="0" smtClean="0"/>
              <a:t>Gender 0.5</a:t>
            </a:r>
          </a:p>
          <a:p>
            <a:r>
              <a:rPr lang="en-US" u="sng" dirty="0" smtClean="0"/>
              <a:t>True Part </a:t>
            </a:r>
            <a:r>
              <a:rPr lang="en-US" dirty="0" smtClean="0"/>
              <a:t>: </a:t>
            </a:r>
            <a:r>
              <a:rPr lang="en-US" dirty="0" err="1" smtClean="0"/>
              <a:t>nT</a:t>
            </a:r>
            <a:r>
              <a:rPr lang="en-US" dirty="0" smtClean="0"/>
              <a:t>: 2 where Gender &lt;= 0.5</a:t>
            </a:r>
          </a:p>
          <a:p>
            <a:r>
              <a:rPr lang="en-US" dirty="0" smtClean="0"/>
              <a:t>T_c0 = 1/2, T_c1 = 1/2</a:t>
            </a:r>
          </a:p>
          <a:p>
            <a:r>
              <a:rPr lang="en-US" u="sng" dirty="0" smtClean="0"/>
              <a:t>False Part</a:t>
            </a:r>
            <a:r>
              <a:rPr lang="en-US" dirty="0" smtClean="0"/>
              <a:t>: </a:t>
            </a:r>
            <a:r>
              <a:rPr lang="en-US" dirty="0" err="1" smtClean="0"/>
              <a:t>nF</a:t>
            </a:r>
            <a:r>
              <a:rPr lang="en-US" dirty="0" smtClean="0"/>
              <a:t> : 2 where Gender &gt; 0.5</a:t>
            </a:r>
          </a:p>
          <a:p>
            <a:r>
              <a:rPr lang="en-US" dirty="0" smtClean="0"/>
              <a:t>F_c0 = 1/2, F_c1 = 1/2</a:t>
            </a:r>
          </a:p>
          <a:p>
            <a:r>
              <a:rPr lang="en-US" dirty="0" smtClean="0"/>
              <a:t>n=4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1A0772-F8AE-4C4F-81D0-A6C75E644ED2}" type="slidenum">
              <a:rPr lang="he-IL" smtClean="0"/>
              <a:pPr>
                <a:defRPr/>
              </a:pPr>
              <a:t>18</a:t>
            </a:fld>
            <a:endParaRPr lang="en-US"/>
          </a:p>
        </p:txBody>
      </p:sp>
      <p:graphicFrame>
        <p:nvGraphicFramePr>
          <p:cNvPr id="5" name="Content Placeholder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76792459"/>
              </p:ext>
            </p:extLst>
          </p:nvPr>
        </p:nvGraphicFramePr>
        <p:xfrm>
          <a:off x="22225" y="1549400"/>
          <a:ext cx="2286000" cy="22250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969269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60396476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7999873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X1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X2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Y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21180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solidFill>
                            <a:schemeClr val="bg1"/>
                          </a:solidFill>
                        </a:rPr>
                        <a:t>Gender</a:t>
                      </a:r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>
                          <a:solidFill>
                            <a:schemeClr val="bg1"/>
                          </a:solidFill>
                        </a:rPr>
                        <a:t>Marks</a:t>
                      </a:r>
                      <a:endParaRPr 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>
                          <a:solidFill>
                            <a:schemeClr val="bg1"/>
                          </a:solidFill>
                        </a:rPr>
                        <a:t>Result</a:t>
                      </a:r>
                      <a:endParaRPr 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9934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35</a:t>
                      </a:r>
                      <a:endParaRPr lang="en-US" dirty="0"/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46304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25</a:t>
                      </a:r>
                      <a:endParaRPr 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22108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30</a:t>
                      </a:r>
                      <a:endParaRPr lang="en-US" dirty="0"/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76745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45</a:t>
                      </a:r>
                      <a:endParaRPr 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312314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52400" y="4614208"/>
            <a:ext cx="880586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 = </a:t>
            </a:r>
            <a:r>
              <a:rPr lang="pt-BR" dirty="0"/>
              <a:t>((1 – (T_c0^2 + T_c1^2)) * (nT/n)) </a:t>
            </a:r>
          </a:p>
          <a:p>
            <a:pPr marL="0" indent="0">
              <a:buNone/>
            </a:pPr>
            <a:r>
              <a:rPr lang="pt-BR" dirty="0"/>
              <a:t>	+ ((1 – (F_c0^2 + F_c1^2)) * (nF/n))</a:t>
            </a:r>
          </a:p>
          <a:p>
            <a:pPr marL="0" indent="0">
              <a:buNone/>
            </a:pPr>
            <a:r>
              <a:rPr lang="pt-BR" dirty="0" smtClean="0"/>
              <a:t>G = </a:t>
            </a:r>
            <a:r>
              <a:rPr lang="pt-BR" dirty="0"/>
              <a:t>((1–(0.5^2+0.5^2)*(2/4))+((1–(0.5^2 + 0.5^2) *(2/4))</a:t>
            </a:r>
          </a:p>
          <a:p>
            <a:pPr marL="0" indent="0">
              <a:buNone/>
            </a:pPr>
            <a:r>
              <a:rPr lang="pt-BR" dirty="0" smtClean="0"/>
              <a:t>G = </a:t>
            </a:r>
            <a:r>
              <a:rPr lang="pt-BR" dirty="0"/>
              <a:t>(1-0.5)*0.5 + ( 1-0.5)* 0.5 </a:t>
            </a:r>
            <a:endParaRPr lang="pt-BR" dirty="0" smtClean="0"/>
          </a:p>
          <a:p>
            <a:pPr marL="0" indent="0">
              <a:buNone/>
            </a:pPr>
            <a:r>
              <a:rPr lang="pt-BR" b="1" dirty="0" smtClean="0"/>
              <a:t>G = 0.5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39386702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Gini Index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6981" y="1524000"/>
            <a:ext cx="7120819" cy="3124200"/>
          </a:xfrm>
        </p:spPr>
        <p:txBody>
          <a:bodyPr/>
          <a:lstStyle/>
          <a:p>
            <a:r>
              <a:rPr lang="en-US" dirty="0" smtClean="0"/>
              <a:t>Calculate Gini Index for split </a:t>
            </a:r>
            <a:r>
              <a:rPr lang="en-US" b="1" dirty="0" smtClean="0"/>
              <a:t>Marks 32.5</a:t>
            </a:r>
          </a:p>
          <a:p>
            <a:r>
              <a:rPr lang="en-US" u="sng" dirty="0" smtClean="0"/>
              <a:t>True Part </a:t>
            </a:r>
            <a:r>
              <a:rPr lang="en-US" dirty="0" smtClean="0"/>
              <a:t>: </a:t>
            </a:r>
            <a:r>
              <a:rPr lang="en-US" dirty="0" err="1" smtClean="0"/>
              <a:t>nT</a:t>
            </a:r>
            <a:r>
              <a:rPr lang="en-US" dirty="0" smtClean="0"/>
              <a:t>: 2 where Marks &lt;= 32.5</a:t>
            </a:r>
          </a:p>
          <a:p>
            <a:r>
              <a:rPr lang="en-US" dirty="0" smtClean="0"/>
              <a:t>T_c0 = 2/2, T_c1 = 0/2</a:t>
            </a:r>
          </a:p>
          <a:p>
            <a:r>
              <a:rPr lang="en-US" u="sng" dirty="0" smtClean="0"/>
              <a:t>False Part</a:t>
            </a:r>
            <a:r>
              <a:rPr lang="en-US" dirty="0" smtClean="0"/>
              <a:t>: </a:t>
            </a:r>
            <a:r>
              <a:rPr lang="en-US" dirty="0" err="1" smtClean="0"/>
              <a:t>nF</a:t>
            </a:r>
            <a:r>
              <a:rPr lang="en-US" dirty="0" smtClean="0"/>
              <a:t> : 2 where Marks &gt; 32.5</a:t>
            </a:r>
          </a:p>
          <a:p>
            <a:r>
              <a:rPr lang="en-US" dirty="0" smtClean="0"/>
              <a:t>F_c0 = 0/2, F_c1 = 2/2</a:t>
            </a:r>
          </a:p>
          <a:p>
            <a:r>
              <a:rPr lang="en-US" dirty="0" smtClean="0"/>
              <a:t>n=4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1A0772-F8AE-4C4F-81D0-A6C75E644ED2}" type="slidenum">
              <a:rPr lang="he-IL" smtClean="0"/>
              <a:pPr>
                <a:defRPr/>
              </a:pPr>
              <a:t>19</a:t>
            </a:fld>
            <a:endParaRPr lang="en-US"/>
          </a:p>
        </p:txBody>
      </p:sp>
      <p:graphicFrame>
        <p:nvGraphicFramePr>
          <p:cNvPr id="5" name="Content Placeholder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18323274"/>
              </p:ext>
            </p:extLst>
          </p:nvPr>
        </p:nvGraphicFramePr>
        <p:xfrm>
          <a:off x="22225" y="1549400"/>
          <a:ext cx="2286000" cy="22250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969269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60396476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7999873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X1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X2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Y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21180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solidFill>
                            <a:schemeClr val="bg1"/>
                          </a:solidFill>
                        </a:rPr>
                        <a:t>Gender</a:t>
                      </a:r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>
                          <a:solidFill>
                            <a:schemeClr val="bg1"/>
                          </a:solidFill>
                        </a:rPr>
                        <a:t>Marks</a:t>
                      </a:r>
                      <a:endParaRPr 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>
                          <a:solidFill>
                            <a:schemeClr val="bg1"/>
                          </a:solidFill>
                        </a:rPr>
                        <a:t>Result</a:t>
                      </a:r>
                      <a:endParaRPr 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9934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35</a:t>
                      </a:r>
                      <a:endParaRPr 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46304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25</a:t>
                      </a:r>
                      <a:endParaRPr lang="en-US" dirty="0"/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22108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30</a:t>
                      </a:r>
                      <a:endParaRPr lang="en-US" dirty="0"/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76745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45</a:t>
                      </a:r>
                      <a:endParaRPr 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312314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52400" y="4614208"/>
            <a:ext cx="880586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 = </a:t>
            </a:r>
            <a:r>
              <a:rPr lang="pt-BR" dirty="0"/>
              <a:t>((1 – (T_c0^2 + T_c1^2)) * (nT/n)) </a:t>
            </a:r>
          </a:p>
          <a:p>
            <a:pPr marL="0" indent="0">
              <a:buNone/>
            </a:pPr>
            <a:r>
              <a:rPr lang="pt-BR" dirty="0"/>
              <a:t>	+ ((1 – (F_c0^2 + F_c1^2)) * (nF/n))</a:t>
            </a:r>
          </a:p>
          <a:p>
            <a:pPr marL="0" indent="0">
              <a:buNone/>
            </a:pPr>
            <a:r>
              <a:rPr lang="pt-BR" dirty="0" smtClean="0"/>
              <a:t>G = </a:t>
            </a:r>
            <a:r>
              <a:rPr lang="pt-BR" dirty="0"/>
              <a:t>((1</a:t>
            </a:r>
            <a:r>
              <a:rPr lang="pt-BR" dirty="0" smtClean="0"/>
              <a:t>–(1^2+0^2</a:t>
            </a:r>
            <a:r>
              <a:rPr lang="pt-BR" dirty="0"/>
              <a:t>)*(2/4))+((1–(</a:t>
            </a:r>
            <a:r>
              <a:rPr lang="pt-BR" dirty="0" smtClean="0"/>
              <a:t>0^2 </a:t>
            </a:r>
            <a:r>
              <a:rPr lang="pt-BR" dirty="0"/>
              <a:t>+ 1</a:t>
            </a:r>
            <a:r>
              <a:rPr lang="pt-BR" dirty="0" smtClean="0"/>
              <a:t>^2</a:t>
            </a:r>
            <a:r>
              <a:rPr lang="pt-BR" dirty="0"/>
              <a:t>) *(2/4))</a:t>
            </a:r>
          </a:p>
          <a:p>
            <a:pPr marL="0" indent="0">
              <a:buNone/>
            </a:pPr>
            <a:r>
              <a:rPr lang="pt-BR" dirty="0" smtClean="0"/>
              <a:t>G = </a:t>
            </a:r>
            <a:r>
              <a:rPr lang="pt-BR" dirty="0"/>
              <a:t>(</a:t>
            </a:r>
            <a:r>
              <a:rPr lang="pt-BR" dirty="0" smtClean="0"/>
              <a:t>1-1)*</a:t>
            </a:r>
            <a:r>
              <a:rPr lang="pt-BR" dirty="0"/>
              <a:t>0.5 + ( </a:t>
            </a:r>
            <a:r>
              <a:rPr lang="pt-BR" dirty="0" smtClean="0"/>
              <a:t>1-1)* </a:t>
            </a:r>
            <a:r>
              <a:rPr lang="pt-BR" dirty="0"/>
              <a:t>0.5 </a:t>
            </a:r>
            <a:endParaRPr lang="pt-BR" dirty="0" smtClean="0"/>
          </a:p>
          <a:p>
            <a:pPr marL="0" indent="0">
              <a:buNone/>
            </a:pPr>
            <a:r>
              <a:rPr lang="pt-BR" b="1" dirty="0" smtClean="0"/>
              <a:t>G = 0.0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38543401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C81C7B6-D914-46B8-8B24-FF9411F3864B}" type="slidenum">
              <a:rPr lang="he-IL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en-US" altLang="en-US" sz="1400" smtClean="0"/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Entropy </a:t>
            </a:r>
            <a:r>
              <a:rPr lang="en-US" altLang="en-US" sz="3200" dirty="0" smtClean="0"/>
              <a:t>(Amount of Information)</a:t>
            </a:r>
            <a:endParaRPr lang="sv-SE" altLang="en-US" sz="3200" dirty="0" smtClean="0"/>
          </a:p>
        </p:txBody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065588"/>
            <a:ext cx="7772400" cy="2640012"/>
          </a:xfrm>
        </p:spPr>
        <p:txBody>
          <a:bodyPr/>
          <a:lstStyle/>
          <a:p>
            <a:pPr eaLnBrk="1" hangingPunct="1"/>
            <a:r>
              <a:rPr lang="sv-SE" altLang="en-US" sz="2400" dirty="0" smtClean="0"/>
              <a:t>S is a sample of training examples</a:t>
            </a:r>
          </a:p>
          <a:p>
            <a:pPr eaLnBrk="1" hangingPunct="1"/>
            <a:r>
              <a:rPr lang="sv-SE" altLang="en-US" sz="2400" dirty="0" smtClean="0"/>
              <a:t>p</a:t>
            </a:r>
            <a:r>
              <a:rPr lang="sv-SE" altLang="en-US" sz="2400" baseline="-25000" dirty="0" smtClean="0"/>
              <a:t>+</a:t>
            </a:r>
            <a:r>
              <a:rPr lang="sv-SE" altLang="en-US" sz="2400" dirty="0" smtClean="0"/>
              <a:t> is the proportion of positive examples</a:t>
            </a:r>
          </a:p>
          <a:p>
            <a:pPr eaLnBrk="1" hangingPunct="1"/>
            <a:r>
              <a:rPr lang="sv-SE" altLang="en-US" sz="2400" dirty="0" smtClean="0"/>
              <a:t>p</a:t>
            </a:r>
            <a:r>
              <a:rPr lang="sv-SE" altLang="en-US" sz="2400" baseline="-25000" dirty="0" smtClean="0"/>
              <a:t>-</a:t>
            </a:r>
            <a:r>
              <a:rPr lang="sv-SE" altLang="en-US" sz="2400" dirty="0" smtClean="0"/>
              <a:t> is the proportion of negative examples</a:t>
            </a:r>
          </a:p>
          <a:p>
            <a:pPr eaLnBrk="1" hangingPunct="1"/>
            <a:r>
              <a:rPr lang="sv-SE" altLang="en-US" sz="2400" dirty="0" smtClean="0"/>
              <a:t>Entropy measures the impurity of S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sv-SE" altLang="en-US" dirty="0" smtClean="0"/>
              <a:t>Entropy(S) = -p</a:t>
            </a:r>
            <a:r>
              <a:rPr lang="sv-SE" altLang="en-US" baseline="-25000" dirty="0" smtClean="0"/>
              <a:t>+</a:t>
            </a:r>
            <a:r>
              <a:rPr lang="sv-SE" altLang="en-US" dirty="0" smtClean="0"/>
              <a:t> log</a:t>
            </a:r>
            <a:r>
              <a:rPr lang="sv-SE" altLang="en-US" baseline="-25000" dirty="0" smtClean="0"/>
              <a:t>2</a:t>
            </a:r>
            <a:r>
              <a:rPr lang="sv-SE" altLang="en-US" dirty="0" smtClean="0"/>
              <a:t> p</a:t>
            </a:r>
            <a:r>
              <a:rPr lang="sv-SE" altLang="en-US" baseline="-25000" dirty="0" smtClean="0"/>
              <a:t>+</a:t>
            </a:r>
            <a:r>
              <a:rPr lang="sv-SE" altLang="en-US" dirty="0" smtClean="0"/>
              <a:t> - p</a:t>
            </a:r>
            <a:r>
              <a:rPr lang="sv-SE" altLang="en-US" baseline="-25000" dirty="0" smtClean="0"/>
              <a:t>-</a:t>
            </a:r>
            <a:r>
              <a:rPr lang="sv-SE" altLang="en-US" dirty="0" smtClean="0"/>
              <a:t> log</a:t>
            </a:r>
            <a:r>
              <a:rPr lang="sv-SE" altLang="en-US" baseline="-25000" dirty="0" smtClean="0"/>
              <a:t>2</a:t>
            </a:r>
            <a:r>
              <a:rPr lang="sv-SE" altLang="en-US" dirty="0" smtClean="0"/>
              <a:t> p</a:t>
            </a:r>
            <a:r>
              <a:rPr lang="sv-SE" altLang="en-US" baseline="-25000" dirty="0" smtClean="0"/>
              <a:t>-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sv-SE" altLang="en-US" sz="2000" dirty="0" smtClean="0"/>
              <a:t>Entropy is amount of element of surprise</a:t>
            </a:r>
          </a:p>
        </p:txBody>
      </p:sp>
      <p:pic>
        <p:nvPicPr>
          <p:cNvPr id="21509" name="Picture 4" descr="entropy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371600"/>
            <a:ext cx="3962400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86512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Entropy</a:t>
            </a:r>
            <a:endParaRPr lang="en-IN" altLang="en-US" sz="3200" dirty="0" smtClean="0"/>
          </a:p>
        </p:txBody>
      </p:sp>
      <p:sp>
        <p:nvSpPr>
          <p:cNvPr id="22531" name="Content Placeholder 2"/>
          <p:cNvSpPr>
            <a:spLocks noGrp="1"/>
          </p:cNvSpPr>
          <p:nvPr>
            <p:ph idx="1"/>
          </p:nvPr>
        </p:nvSpPr>
        <p:spPr>
          <a:xfrm>
            <a:off x="1165225" y="1288874"/>
            <a:ext cx="7793038" cy="4724400"/>
          </a:xfrm>
        </p:spPr>
        <p:txBody>
          <a:bodyPr/>
          <a:lstStyle/>
          <a:p>
            <a:r>
              <a:rPr lang="en-US" altLang="en-US" dirty="0" smtClean="0"/>
              <a:t>Entropy of Parent Node</a:t>
            </a:r>
          </a:p>
          <a:p>
            <a:r>
              <a:rPr lang="en-US" altLang="en-US" dirty="0" smtClean="0"/>
              <a:t>E(Parent) =</a:t>
            </a:r>
          </a:p>
          <a:p>
            <a:endParaRPr lang="en-US" altLang="en-US" dirty="0"/>
          </a:p>
          <a:p>
            <a:r>
              <a:rPr lang="en-US" altLang="en-US" dirty="0" smtClean="0"/>
              <a:t>Entropy of split on Feature x1</a:t>
            </a:r>
          </a:p>
          <a:p>
            <a:r>
              <a:rPr lang="en-US" altLang="en-US" dirty="0" smtClean="0"/>
              <a:t>E(x1)=</a:t>
            </a:r>
          </a:p>
          <a:p>
            <a:pPr marL="0" indent="0">
              <a:buNone/>
            </a:pPr>
            <a:r>
              <a:rPr lang="en-US" altLang="en-US" dirty="0"/>
              <a:t> </a:t>
            </a:r>
            <a:r>
              <a:rPr lang="en-US" altLang="en-US" dirty="0" smtClean="0"/>
              <a:t>     (-T_c1*log(T_c1) - T_c2*log(T_c2))(</a:t>
            </a:r>
            <a:r>
              <a:rPr lang="en-US" altLang="en-US" dirty="0" err="1" smtClean="0"/>
              <a:t>nT</a:t>
            </a:r>
            <a:r>
              <a:rPr lang="en-US" altLang="en-US" dirty="0" smtClean="0"/>
              <a:t>/n)</a:t>
            </a:r>
          </a:p>
          <a:p>
            <a:pPr marL="0" indent="0">
              <a:buNone/>
            </a:pPr>
            <a:r>
              <a:rPr lang="en-US" altLang="en-US" dirty="0" smtClean="0"/>
              <a:t>     + (-F_c1*log(F_c1) - F_c2*log(F_c2))(</a:t>
            </a:r>
            <a:r>
              <a:rPr lang="en-US" altLang="en-US" dirty="0" err="1" smtClean="0"/>
              <a:t>nF</a:t>
            </a:r>
            <a:r>
              <a:rPr lang="en-US" altLang="en-US" dirty="0" smtClean="0"/>
              <a:t>/n)</a:t>
            </a:r>
          </a:p>
          <a:p>
            <a:r>
              <a:rPr lang="en-US" altLang="en-US" i="1" dirty="0" smtClean="0"/>
              <a:t>Working is very similar to Gini Index</a:t>
            </a:r>
          </a:p>
          <a:p>
            <a:r>
              <a:rPr lang="en-US" altLang="en-US" b="1" dirty="0" smtClean="0"/>
              <a:t>Information Gain </a:t>
            </a:r>
            <a:r>
              <a:rPr lang="en-US" altLang="en-US" dirty="0" smtClean="0"/>
              <a:t>= E(Parent) – E(x1)</a:t>
            </a:r>
          </a:p>
          <a:p>
            <a:r>
              <a:rPr lang="en-US" altLang="en-US" dirty="0" smtClean="0"/>
              <a:t>Split with maximum </a:t>
            </a:r>
            <a:r>
              <a:rPr lang="en-US" altLang="en-US" dirty="0"/>
              <a:t>I</a:t>
            </a:r>
            <a:r>
              <a:rPr lang="en-US" altLang="en-US" dirty="0" smtClean="0"/>
              <a:t>nformation Gain </a:t>
            </a:r>
            <a:r>
              <a:rPr lang="en-US" altLang="en-US" dirty="0"/>
              <a:t>(</a:t>
            </a:r>
            <a:r>
              <a:rPr lang="en-US" altLang="en-US" dirty="0" smtClean="0"/>
              <a:t>minimum Entropy) is selected</a:t>
            </a:r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6580791-7183-48D6-AAC9-1F36AD83203B}" type="slidenum">
              <a:rPr lang="he-IL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en-US" altLang="en-US" sz="1400" smtClean="0"/>
          </a:p>
        </p:txBody>
      </p:sp>
      <p:pic>
        <p:nvPicPr>
          <p:cNvPr id="22533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1676400"/>
            <a:ext cx="2714625" cy="1030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82268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Gini Index vs Entropy</a:t>
            </a:r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29104976"/>
              </p:ext>
            </p:extLst>
          </p:nvPr>
        </p:nvGraphicFramePr>
        <p:xfrm>
          <a:off x="304800" y="2057400"/>
          <a:ext cx="8458200" cy="40386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473087">
                  <a:extLst>
                    <a:ext uri="{9D8B030D-6E8A-4147-A177-3AD203B41FA5}">
                      <a16:colId xmlns:a16="http://schemas.microsoft.com/office/drawing/2014/main" val="3605779037"/>
                    </a:ext>
                  </a:extLst>
                </a:gridCol>
                <a:gridCol w="3985113">
                  <a:extLst>
                    <a:ext uri="{9D8B030D-6E8A-4147-A177-3AD203B41FA5}">
                      <a16:colId xmlns:a16="http://schemas.microsoft.com/office/drawing/2014/main" val="2385105089"/>
                    </a:ext>
                  </a:extLst>
                </a:gridCol>
              </a:tblGrid>
              <a:tr h="67310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Gini Index</a:t>
                      </a:r>
                      <a:endParaRPr 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Entropy</a:t>
                      </a:r>
                      <a:endParaRPr lang="en-US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6313629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Uses Square</a:t>
                      </a:r>
                      <a:r>
                        <a:rPr lang="en-US" sz="2800" baseline="0" dirty="0" smtClean="0"/>
                        <a:t> of probability</a:t>
                      </a:r>
                      <a:endParaRPr lang="en-US" sz="28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Uses Log of probability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5680639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Fast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Slow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4998386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Range : 0 to 0.5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Range : 0 to 1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5361655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More</a:t>
                      </a:r>
                      <a:r>
                        <a:rPr lang="en-US" sz="2800" baseline="0" dirty="0" smtClean="0"/>
                        <a:t> used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Less Used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9822417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algn="ctr"/>
                      <a:r>
                        <a:rPr lang="en-US" sz="2800" b="1" dirty="0" smtClean="0"/>
                        <a:t>BOTH select almost similar</a:t>
                      </a:r>
                      <a:r>
                        <a:rPr lang="en-US" sz="2800" b="1" baseline="0" dirty="0" smtClean="0"/>
                        <a:t> features</a:t>
                      </a:r>
                      <a:endParaRPr lang="en-US" sz="28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7059561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1A0772-F8AE-4C4F-81D0-A6C75E644ED2}" type="slidenum">
              <a:rPr lang="he-IL" smtClean="0"/>
              <a:pPr>
                <a:defRPr/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4108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smtClean="0"/>
              <a:t>CART for Regression</a:t>
            </a:r>
          </a:p>
        </p:txBody>
      </p:sp>
      <p:sp>
        <p:nvSpPr>
          <p:cNvPr id="25603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4CB5295-BD46-400E-8A7E-FC8381D8CEB8}" type="slidenum">
              <a:rPr lang="he-IL" altLang="en-US" sz="1400" smtClean="0">
                <a:solidFill>
                  <a:schemeClr val="bg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lang="en-US" altLang="en-US" sz="1400" smtClean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CART for Regression</a:t>
            </a:r>
          </a:p>
        </p:txBody>
      </p:sp>
      <p:sp>
        <p:nvSpPr>
          <p:cNvPr id="26627" name="Content Placeholder 2"/>
          <p:cNvSpPr>
            <a:spLocks noGrp="1"/>
          </p:cNvSpPr>
          <p:nvPr>
            <p:ph idx="1"/>
          </p:nvPr>
        </p:nvSpPr>
        <p:spPr>
          <a:xfrm>
            <a:off x="423686" y="1600200"/>
            <a:ext cx="8497888" cy="2057400"/>
          </a:xfrm>
        </p:spPr>
        <p:txBody>
          <a:bodyPr/>
          <a:lstStyle/>
          <a:p>
            <a:r>
              <a:rPr lang="en-US" altLang="en-US" dirty="0" smtClean="0"/>
              <a:t>Leaf nodes have </a:t>
            </a:r>
            <a:r>
              <a:rPr lang="en-US" altLang="en-US" b="1" dirty="0" smtClean="0"/>
              <a:t>mean</a:t>
            </a:r>
            <a:r>
              <a:rPr lang="en-US" altLang="en-US" dirty="0" smtClean="0"/>
              <a:t> of the target column ( prediction value)</a:t>
            </a:r>
          </a:p>
          <a:p>
            <a:pPr lvl="1"/>
            <a:r>
              <a:rPr lang="en-US" altLang="en-US" dirty="0" smtClean="0"/>
              <a:t>Mean of target from all rows present in leaf node is taken for prediction</a:t>
            </a:r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F9A84B3-7C4E-4266-894F-14795FC0F688}" type="slidenum">
              <a:rPr lang="he-IL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lang="en-US" altLang="en-US" sz="1400" smtClean="0"/>
          </a:p>
        </p:txBody>
      </p:sp>
      <p:pic>
        <p:nvPicPr>
          <p:cNvPr id="26629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3429000"/>
            <a:ext cx="7667625" cy="3295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Criteria for Split</a:t>
            </a:r>
          </a:p>
        </p:txBody>
      </p:sp>
      <p:sp>
        <p:nvSpPr>
          <p:cNvPr id="27651" name="Content Placeholder 2"/>
          <p:cNvSpPr>
            <a:spLocks noGrp="1"/>
          </p:cNvSpPr>
          <p:nvPr>
            <p:ph idx="1"/>
          </p:nvPr>
        </p:nvSpPr>
        <p:spPr>
          <a:xfrm>
            <a:off x="685800" y="2057400"/>
            <a:ext cx="7772400" cy="4114800"/>
          </a:xfrm>
        </p:spPr>
        <p:txBody>
          <a:bodyPr/>
          <a:lstStyle/>
          <a:p>
            <a:r>
              <a:rPr lang="en-US" altLang="en-US" dirty="0" smtClean="0"/>
              <a:t>Data is split to reduce the variance (error) in the Target variable</a:t>
            </a:r>
          </a:p>
          <a:p>
            <a:endParaRPr lang="en-US" altLang="en-US" dirty="0" smtClean="0"/>
          </a:p>
          <a:p>
            <a:r>
              <a:rPr lang="en-US" altLang="en-US" dirty="0" smtClean="0"/>
              <a:t>Split which results in minimum variance is selected as best feature</a:t>
            </a:r>
          </a:p>
          <a:p>
            <a:endParaRPr lang="en-US" altLang="en-US" dirty="0" smtClean="0"/>
          </a:p>
          <a:p>
            <a:r>
              <a:rPr lang="en-US" altLang="en-US" dirty="0" smtClean="0"/>
              <a:t>Working is similar to classification trees ONLY criteria is changed here</a:t>
            </a:r>
          </a:p>
          <a:p>
            <a:endParaRPr lang="en-US" altLang="en-US" dirty="0" smtClean="0"/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8F22573-B431-4532-B98B-C4123B2FD6B2}" type="slidenum">
              <a:rPr lang="he-IL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25</a:t>
            </a:fld>
            <a:endParaRPr lang="en-US" altLang="en-US" sz="1400" smtClean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Criteria for Split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675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0" y="2017713"/>
                <a:ext cx="9144000" cy="4114800"/>
              </a:xfrm>
            </p:spPr>
            <p:txBody>
              <a:bodyPr/>
              <a:lstStyle/>
              <a:p>
                <a:r>
                  <a:rPr lang="en-US" altLang="en-US" b="1" dirty="0" smtClean="0"/>
                  <a:t>Squared error</a:t>
                </a:r>
                <a:r>
                  <a:rPr lang="en-US" altLang="en-US" dirty="0" smtClean="0"/>
                  <a:t>: to reduce mean squared error </a:t>
                </a:r>
              </a:p>
              <a:p>
                <a:pPr marL="0" indent="0">
                  <a:buNone/>
                </a:pPr>
                <a:r>
                  <a:rPr lang="en-US" altLang="en-US" dirty="0"/>
                  <a:t>	</a:t>
                </a:r>
                <a:r>
                  <a:rPr lang="en-US" altLang="en-US" dirty="0" smtClean="0"/>
                  <a:t>(used as default in CART)</a:t>
                </a:r>
              </a:p>
              <a:p>
                <a:pPr marL="0" indent="0">
                  <a:buNone/>
                </a:pPr>
                <a:r>
                  <a:rPr lang="en-US" altLang="en-US" dirty="0" smtClean="0"/>
                  <a:t>Mean Squared Error </a:t>
                </a:r>
                <a14:m>
                  <m:oMath xmlns:m="http://schemas.openxmlformats.org/officeDocument/2006/math">
                    <m:r>
                      <a:rPr lang="en-US" altLang="en-US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alt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 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alt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altLang="en-US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en-US" b="0" i="1" smtClean="0"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en-US" b="0" i="1" smtClean="0">
                                <a:latin typeface="Cambria Math" panose="02040503050406030204" pitchFamily="18" charset="0"/>
                              </a:rPr>
                              <m:t>𝑎𝑐𝑡𝑢𝑎𝑙</m:t>
                            </m:r>
                            <m:r>
                              <a:rPr lang="en-US" altLang="en-US" b="0" i="1" smtClean="0"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r>
                              <a:rPr lang="en-US" alt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en-US" b="0" i="1" smtClean="0"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en-US" b="0" i="1" smtClean="0">
                                <a:latin typeface="Cambria Math" panose="02040503050406030204" pitchFamily="18" charset="0"/>
                              </a:rPr>
                              <m:t>𝑝𝑟𝑒𝑑𝑖𝑐𝑡𝑒𝑑</m:t>
                            </m:r>
                            <m:r>
                              <a:rPr lang="en-US" altLang="en-US" b="0" i="1" smtClean="0">
                                <a:latin typeface="Cambria Math" panose="02040503050406030204" pitchFamily="18" charset="0"/>
                              </a:rPr>
                              <m:t> )</m:t>
                            </m:r>
                          </m:e>
                          <m:sup>
                            <m:r>
                              <a:rPr lang="en-US" alt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n-US" altLang="en-US" dirty="0" smtClean="0"/>
              </a:p>
              <a:p>
                <a:endParaRPr lang="en-US" altLang="en-US" dirty="0" smtClean="0"/>
              </a:p>
              <a:p>
                <a:r>
                  <a:rPr lang="en-US" altLang="en-US" b="1" dirty="0" smtClean="0"/>
                  <a:t>Absolute Error </a:t>
                </a:r>
                <a:r>
                  <a:rPr lang="en-US" altLang="en-US" dirty="0" smtClean="0"/>
                  <a:t>: to reduce mean absolute error</a:t>
                </a:r>
              </a:p>
              <a:p>
                <a:pPr marL="0" indent="0">
                  <a:buNone/>
                </a:pPr>
                <a:r>
                  <a:rPr lang="en-US" altLang="en-US" dirty="0" smtClean="0"/>
                  <a:t>Mean Absolute Error </a:t>
                </a:r>
                <a14:m>
                  <m:oMath xmlns:m="http://schemas.openxmlformats.org/officeDocument/2006/math">
                    <m:r>
                      <a:rPr lang="en-US" altLang="en-US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alt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 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alt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alt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en-US" b="0" i="1" smtClean="0">
                                <a:latin typeface="Cambria Math" panose="02040503050406030204" pitchFamily="18" charset="0"/>
                              </a:rPr>
                              <m:t>𝑎𝑐𝑡𝑢𝑎𝑙</m:t>
                            </m:r>
                          </m:sub>
                        </m:sSub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en-US" b="0" i="1" smtClean="0">
                                <a:latin typeface="Cambria Math" panose="02040503050406030204" pitchFamily="18" charset="0"/>
                              </a:rPr>
                              <m:t>𝑝𝑟𝑒𝑑𝑖𝑐𝑡𝑒𝑑</m:t>
                            </m:r>
                          </m:sub>
                        </m:sSub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nor/>
                          </m:rPr>
                          <a:rPr lang="en-US" altLang="en-US" dirty="0" smtClean="0"/>
                          <m:t> </m:t>
                        </m:r>
                      </m:e>
                    </m:nary>
                  </m:oMath>
                </a14:m>
                <a:endParaRPr lang="en-US" altLang="en-US" dirty="0" smtClean="0"/>
              </a:p>
            </p:txBody>
          </p:sp>
        </mc:Choice>
        <mc:Fallback xmlns="">
          <p:sp>
            <p:nvSpPr>
              <p:cNvPr id="28675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2017713"/>
                <a:ext cx="9144000" cy="4114800"/>
              </a:xfrm>
              <a:blipFill>
                <a:blip r:embed="rId2"/>
                <a:stretch>
                  <a:fillRect l="-1333" t="-16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676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B226B8D-F947-4725-9D44-B6D2D5DE4D11}" type="slidenum">
              <a:rPr lang="he-IL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26</a:t>
            </a:fld>
            <a:endParaRPr lang="en-US" altLang="en-US" sz="1400" smtClean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>
          <a:xfrm>
            <a:off x="1143000" y="2819400"/>
            <a:ext cx="6553200" cy="1143000"/>
          </a:xfrm>
        </p:spPr>
        <p:txBody>
          <a:bodyPr/>
          <a:lstStyle/>
          <a:p>
            <a:pPr algn="ctr"/>
            <a:r>
              <a:rPr lang="en-US" altLang="en-US" dirty="0" smtClean="0"/>
              <a:t>Parameters in </a:t>
            </a:r>
            <a:br>
              <a:rPr lang="en-US" altLang="en-US" dirty="0" smtClean="0"/>
            </a:br>
            <a:r>
              <a:rPr lang="en-US" altLang="en-US" dirty="0" smtClean="0"/>
              <a:t>Decision Tree</a:t>
            </a:r>
            <a:br>
              <a:rPr lang="en-US" altLang="en-US" dirty="0" smtClean="0"/>
            </a:br>
            <a:r>
              <a:rPr lang="en-US" altLang="en-US" sz="3600" dirty="0" smtClean="0"/>
              <a:t>(</a:t>
            </a:r>
            <a:r>
              <a:rPr lang="en-US" altLang="en-US" sz="3600" dirty="0" err="1" smtClean="0"/>
              <a:t>Sklearn</a:t>
            </a:r>
            <a:r>
              <a:rPr lang="en-US" altLang="en-US" sz="3600" dirty="0" smtClean="0"/>
              <a:t>)</a:t>
            </a:r>
            <a:endParaRPr lang="en-US" altLang="en-US" dirty="0" smtClean="0"/>
          </a:p>
        </p:txBody>
      </p:sp>
      <p:sp>
        <p:nvSpPr>
          <p:cNvPr id="31747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FED4570-5891-4C8C-9526-3C0D7EE67C07}" type="slidenum">
              <a:rPr lang="he-IL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27</a:t>
            </a:fld>
            <a:endParaRPr lang="en-US" altLang="en-US" sz="1400" smtClean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AB1EF14-5262-4F88-9CD1-6164BC61C951}" type="slidenum">
              <a:rPr lang="he-IL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28</a:t>
            </a:fld>
            <a:endParaRPr lang="en-US" altLang="en-US" sz="1400" smtClean="0"/>
          </a:p>
        </p:txBody>
      </p:sp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131763"/>
            <a:ext cx="7793038" cy="1143000"/>
          </a:xfrm>
        </p:spPr>
        <p:txBody>
          <a:bodyPr/>
          <a:lstStyle/>
          <a:p>
            <a:pPr eaLnBrk="1" hangingPunct="1"/>
            <a:r>
              <a:rPr lang="sv-SE" altLang="en-US" dirty="0" smtClean="0"/>
              <a:t>Criterian </a:t>
            </a:r>
            <a:r>
              <a:rPr lang="sv-SE" altLang="en-US" sz="2800" dirty="0" smtClean="0"/>
              <a:t>(for Split)</a:t>
            </a:r>
          </a:p>
        </p:txBody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8213" y="1741488"/>
            <a:ext cx="7772400" cy="4114800"/>
          </a:xfrm>
        </p:spPr>
        <p:txBody>
          <a:bodyPr/>
          <a:lstStyle/>
          <a:p>
            <a:pPr eaLnBrk="1" hangingPunct="1"/>
            <a:r>
              <a:rPr lang="sv-SE" altLang="en-US" sz="2400" dirty="0" smtClean="0"/>
              <a:t>Measures how each feature/column is important</a:t>
            </a:r>
          </a:p>
          <a:p>
            <a:pPr eaLnBrk="1" hangingPunct="1"/>
            <a:endParaRPr lang="sv-SE" altLang="en-US" sz="2400" dirty="0" smtClean="0"/>
          </a:p>
          <a:p>
            <a:pPr eaLnBrk="1" hangingPunct="1"/>
            <a:r>
              <a:rPr lang="sv-SE" altLang="en-US" sz="2400" dirty="0" smtClean="0"/>
              <a:t>Options</a:t>
            </a:r>
          </a:p>
          <a:p>
            <a:pPr lvl="1" eaLnBrk="1" hangingPunct="1"/>
            <a:r>
              <a:rPr lang="sv-SE" altLang="en-US" sz="2000" dirty="0" smtClean="0">
                <a:solidFill>
                  <a:srgbClr val="009900"/>
                </a:solidFill>
              </a:rPr>
              <a:t>Gini Index </a:t>
            </a:r>
            <a:r>
              <a:rPr lang="sv-SE" altLang="en-US" sz="2000" dirty="0" smtClean="0"/>
              <a:t>( Gini Impurity)</a:t>
            </a:r>
          </a:p>
          <a:p>
            <a:pPr lvl="1" eaLnBrk="1" hangingPunct="1"/>
            <a:r>
              <a:rPr lang="sv-SE" altLang="en-US" sz="2000" dirty="0" smtClean="0"/>
              <a:t>Entropy (Information Gain)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min_samples_leaf</a:t>
            </a:r>
          </a:p>
        </p:txBody>
      </p:sp>
      <p:sp>
        <p:nvSpPr>
          <p:cNvPr id="36867" name="Content Placeholder 2"/>
          <p:cNvSpPr>
            <a:spLocks noGrp="1"/>
          </p:cNvSpPr>
          <p:nvPr>
            <p:ph idx="1"/>
          </p:nvPr>
        </p:nvSpPr>
        <p:spPr>
          <a:xfrm>
            <a:off x="228600" y="2017713"/>
            <a:ext cx="8726488" cy="4114800"/>
          </a:xfrm>
        </p:spPr>
        <p:txBody>
          <a:bodyPr/>
          <a:lstStyle/>
          <a:p>
            <a:r>
              <a:rPr lang="en-US" altLang="en-US" dirty="0" smtClean="0"/>
              <a:t>Split only if min samples are present in the branch</a:t>
            </a:r>
          </a:p>
          <a:p>
            <a:endParaRPr lang="en-US" altLang="en-US" dirty="0" smtClean="0"/>
          </a:p>
          <a:p>
            <a:r>
              <a:rPr lang="en-US" altLang="en-US" dirty="0" smtClean="0"/>
              <a:t>Used for controlling over-fitting</a:t>
            </a:r>
          </a:p>
          <a:p>
            <a:endParaRPr lang="en-US" altLang="en-US" dirty="0" smtClean="0"/>
          </a:p>
          <a:p>
            <a:r>
              <a:rPr lang="en-US" altLang="en-US" dirty="0" smtClean="0"/>
              <a:t>Values: </a:t>
            </a:r>
          </a:p>
          <a:p>
            <a:pPr lvl="1"/>
            <a:r>
              <a:rPr lang="en-US" altLang="en-US" dirty="0" err="1" smtClean="0"/>
              <a:t>int</a:t>
            </a:r>
            <a:r>
              <a:rPr lang="en-US" altLang="en-US" dirty="0" smtClean="0"/>
              <a:t> </a:t>
            </a:r>
            <a:r>
              <a:rPr lang="en-US" altLang="en-US" dirty="0" smtClean="0">
                <a:sym typeface="Wingdings" panose="05000000000000000000" pitchFamily="2" charset="2"/>
              </a:rPr>
              <a:t> min number required</a:t>
            </a:r>
            <a:endParaRPr lang="en-US" altLang="en-US" dirty="0" smtClean="0"/>
          </a:p>
          <a:p>
            <a:pPr lvl="1"/>
            <a:r>
              <a:rPr lang="en-US" altLang="en-US" dirty="0" smtClean="0"/>
              <a:t>float </a:t>
            </a:r>
            <a:r>
              <a:rPr lang="en-US" altLang="en-US" dirty="0" smtClean="0">
                <a:sym typeface="Wingdings" panose="05000000000000000000" pitchFamily="2" charset="2"/>
              </a:rPr>
              <a:t> minimum fraction of samples required</a:t>
            </a:r>
          </a:p>
          <a:p>
            <a:endParaRPr lang="en-US" altLang="en-US" dirty="0" smtClean="0">
              <a:sym typeface="Wingdings" panose="05000000000000000000" pitchFamily="2" charset="2"/>
            </a:endParaRPr>
          </a:p>
          <a:p>
            <a:r>
              <a:rPr lang="en-US" altLang="en-US" dirty="0" smtClean="0">
                <a:solidFill>
                  <a:srgbClr val="009900"/>
                </a:solidFill>
                <a:sym typeface="Wingdings" panose="05000000000000000000" pitchFamily="2" charset="2"/>
              </a:rPr>
              <a:t>Best value </a:t>
            </a:r>
            <a:r>
              <a:rPr lang="en-US" altLang="en-US" dirty="0" smtClean="0">
                <a:sym typeface="Wingdings" panose="05000000000000000000" pitchFamily="2" charset="2"/>
              </a:rPr>
              <a:t>needs to be searched by fine tuning</a:t>
            </a:r>
            <a:endParaRPr lang="en-US" altLang="en-US" dirty="0" smtClean="0"/>
          </a:p>
        </p:txBody>
      </p:sp>
      <p:sp>
        <p:nvSpPr>
          <p:cNvPr id="3686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9B8D092-A80A-4F62-9EF1-DE885A53E40B}" type="slidenum">
              <a:rPr lang="he-IL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29</a:t>
            </a:fld>
            <a:endParaRPr lang="en-US" altLang="en-US" sz="1400" smtClean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max_features</a:t>
            </a:r>
          </a:p>
        </p:txBody>
      </p:sp>
      <p:sp>
        <p:nvSpPr>
          <p:cNvPr id="34819" name="Content Placeholder 2"/>
          <p:cNvSpPr>
            <a:spLocks noGrp="1"/>
          </p:cNvSpPr>
          <p:nvPr>
            <p:ph idx="1"/>
          </p:nvPr>
        </p:nvSpPr>
        <p:spPr>
          <a:xfrm>
            <a:off x="1165225" y="1383771"/>
            <a:ext cx="7772400" cy="4764087"/>
          </a:xfrm>
        </p:spPr>
        <p:txBody>
          <a:bodyPr/>
          <a:lstStyle/>
          <a:p>
            <a:r>
              <a:rPr lang="en-US" altLang="en-US" dirty="0" smtClean="0"/>
              <a:t>The number of features to consider when looking for the best split. </a:t>
            </a:r>
          </a:p>
          <a:p>
            <a:r>
              <a:rPr lang="en-US" altLang="en-US" dirty="0" smtClean="0"/>
              <a:t>If not set then consider all features for best split</a:t>
            </a:r>
          </a:p>
          <a:p>
            <a:r>
              <a:rPr lang="en-US" altLang="en-US" dirty="0" smtClean="0"/>
              <a:t>Which value to use?</a:t>
            </a:r>
          </a:p>
          <a:p>
            <a:pPr lvl="1"/>
            <a:r>
              <a:rPr lang="en-US" altLang="en-US" dirty="0" smtClean="0"/>
              <a:t>“</a:t>
            </a:r>
            <a:r>
              <a:rPr lang="en-US" altLang="en-US" dirty="0" err="1" smtClean="0"/>
              <a:t>int</a:t>
            </a:r>
            <a:r>
              <a:rPr lang="en-US" altLang="en-US" dirty="0" smtClean="0"/>
              <a:t>”  : to select given features</a:t>
            </a:r>
          </a:p>
          <a:p>
            <a:pPr lvl="1"/>
            <a:r>
              <a:rPr lang="en-US" altLang="en-US" dirty="0" smtClean="0"/>
              <a:t>If too many features then use “</a:t>
            </a:r>
            <a:r>
              <a:rPr lang="en-US" altLang="en-US" dirty="0" err="1" smtClean="0"/>
              <a:t>sqrt</a:t>
            </a:r>
            <a:r>
              <a:rPr lang="en-US" altLang="en-US" dirty="0" smtClean="0"/>
              <a:t>” / “log2”</a:t>
            </a:r>
          </a:p>
          <a:p>
            <a:r>
              <a:rPr lang="en-US" altLang="en-US" dirty="0" smtClean="0">
                <a:solidFill>
                  <a:srgbClr val="009900"/>
                </a:solidFill>
              </a:rPr>
              <a:t>Best value</a:t>
            </a:r>
            <a:r>
              <a:rPr lang="en-US" altLang="en-US" dirty="0" smtClean="0"/>
              <a:t>: Needs to be fine tuned</a:t>
            </a:r>
            <a:endParaRPr lang="en-US" altLang="en-US" dirty="0"/>
          </a:p>
        </p:txBody>
      </p:sp>
      <p:sp>
        <p:nvSpPr>
          <p:cNvPr id="3482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B69EAF6-3F20-4F8C-ACC0-980C5E032D99}" type="slidenum">
              <a:rPr lang="he-IL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30</a:t>
            </a:fld>
            <a:endParaRPr lang="en-US" altLang="en-US" sz="1400" smtClean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Splitter </a:t>
            </a:r>
            <a:r>
              <a:rPr lang="en-US" altLang="en-US" sz="2400" dirty="0" smtClean="0"/>
              <a:t>for Every Node</a:t>
            </a:r>
          </a:p>
        </p:txBody>
      </p:sp>
      <p:sp>
        <p:nvSpPr>
          <p:cNvPr id="33795" name="Content Placeholder 2"/>
          <p:cNvSpPr>
            <a:spLocks noGrp="1"/>
          </p:cNvSpPr>
          <p:nvPr>
            <p:ph idx="1"/>
          </p:nvPr>
        </p:nvSpPr>
        <p:spPr>
          <a:xfrm>
            <a:off x="685800" y="1600200"/>
            <a:ext cx="7772400" cy="5181600"/>
          </a:xfrm>
        </p:spPr>
        <p:txBody>
          <a:bodyPr/>
          <a:lstStyle/>
          <a:p>
            <a:r>
              <a:rPr lang="en-US" altLang="en-US" dirty="0" smtClean="0"/>
              <a:t>Way to search feature / column and split value for that column</a:t>
            </a:r>
          </a:p>
          <a:p>
            <a:r>
              <a:rPr lang="en-US" altLang="en-US" dirty="0" smtClean="0"/>
              <a:t>Options:</a:t>
            </a:r>
          </a:p>
          <a:p>
            <a:pPr lvl="1"/>
            <a:r>
              <a:rPr lang="en-US" altLang="en-US" dirty="0" smtClean="0">
                <a:solidFill>
                  <a:srgbClr val="009900"/>
                </a:solidFill>
              </a:rPr>
              <a:t>Best Split</a:t>
            </a:r>
            <a:endParaRPr lang="en-US" altLang="en-US" sz="2000" i="1" dirty="0" smtClean="0"/>
          </a:p>
          <a:p>
            <a:pPr lvl="2"/>
            <a:r>
              <a:rPr lang="en-US" altLang="en-US" dirty="0" smtClean="0"/>
              <a:t>Consider all features (</a:t>
            </a:r>
            <a:r>
              <a:rPr lang="en-US" altLang="en-US" dirty="0" err="1" smtClean="0"/>
              <a:t>max_features</a:t>
            </a:r>
            <a:r>
              <a:rPr lang="en-US" altLang="en-US" dirty="0" smtClean="0"/>
              <a:t>) for current node</a:t>
            </a:r>
          </a:p>
          <a:p>
            <a:pPr lvl="2"/>
            <a:r>
              <a:rPr lang="en-US" altLang="en-US" dirty="0" smtClean="0"/>
              <a:t>Select best out of all possible splits</a:t>
            </a:r>
          </a:p>
          <a:p>
            <a:pPr lvl="1"/>
            <a:r>
              <a:rPr lang="en-US" altLang="en-US" dirty="0" smtClean="0"/>
              <a:t>Random split</a:t>
            </a:r>
          </a:p>
          <a:p>
            <a:pPr lvl="2"/>
            <a:r>
              <a:rPr lang="en-US" altLang="en-US" dirty="0" smtClean="0"/>
              <a:t>Select random split from all possible splits for current node</a:t>
            </a:r>
          </a:p>
        </p:txBody>
      </p:sp>
      <p:sp>
        <p:nvSpPr>
          <p:cNvPr id="33796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535D911-2EF4-4D64-BE23-5267B2A2D81C}" type="slidenum">
              <a:rPr lang="he-IL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31</a:t>
            </a:fld>
            <a:endParaRPr lang="en-US" altLang="en-US" sz="1400" smtClean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max_depth</a:t>
            </a:r>
          </a:p>
        </p:txBody>
      </p:sp>
      <p:sp>
        <p:nvSpPr>
          <p:cNvPr id="3584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Allowed depth of the tree</a:t>
            </a:r>
          </a:p>
          <a:p>
            <a:endParaRPr lang="en-US" altLang="en-US" dirty="0" smtClean="0"/>
          </a:p>
          <a:p>
            <a:r>
              <a:rPr lang="en-US" altLang="en-US" dirty="0" smtClean="0"/>
              <a:t>Controls over-fitting</a:t>
            </a:r>
          </a:p>
          <a:p>
            <a:endParaRPr lang="en-US" altLang="en-US" dirty="0" smtClean="0"/>
          </a:p>
          <a:p>
            <a:r>
              <a:rPr lang="en-US" altLang="en-US" dirty="0" smtClean="0"/>
              <a:t>Helps in pruning the tree</a:t>
            </a:r>
          </a:p>
          <a:p>
            <a:endParaRPr lang="en-US" altLang="en-US" dirty="0" smtClean="0"/>
          </a:p>
          <a:p>
            <a:r>
              <a:rPr lang="en-US" altLang="en-US" dirty="0" smtClean="0"/>
              <a:t>No fixed ‘best’ value of </a:t>
            </a:r>
            <a:r>
              <a:rPr lang="en-US" altLang="en-US" dirty="0" err="1" smtClean="0"/>
              <a:t>max_depth</a:t>
            </a:r>
            <a:endParaRPr lang="en-US" altLang="en-US" dirty="0" smtClean="0"/>
          </a:p>
          <a:p>
            <a:pPr lvl="1"/>
            <a:r>
              <a:rPr lang="en-US" altLang="en-US" dirty="0" smtClean="0"/>
              <a:t>Need to fine tune the value</a:t>
            </a:r>
          </a:p>
        </p:txBody>
      </p:sp>
      <p:sp>
        <p:nvSpPr>
          <p:cNvPr id="3584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FCD0AE2-CA97-4F0D-AFD2-2927A14B92C5}" type="slidenum">
              <a:rPr lang="he-IL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32</a:t>
            </a:fld>
            <a:endParaRPr lang="en-US" altLang="en-US" sz="1400" smtClean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ccp_alpha</a:t>
            </a:r>
          </a:p>
        </p:txBody>
      </p:sp>
      <p:sp>
        <p:nvSpPr>
          <p:cNvPr id="3891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Cost complexity pruning parameter</a:t>
            </a:r>
          </a:p>
          <a:p>
            <a:endParaRPr lang="en-US" altLang="en-US" dirty="0" smtClean="0"/>
          </a:p>
          <a:p>
            <a:r>
              <a:rPr lang="en-US" altLang="en-US" dirty="0" smtClean="0"/>
              <a:t>Used to avoid over-fitting</a:t>
            </a:r>
          </a:p>
          <a:p>
            <a:endParaRPr lang="en-US" altLang="en-US" dirty="0" smtClean="0"/>
          </a:p>
          <a:p>
            <a:r>
              <a:rPr lang="en-US" altLang="en-US" dirty="0" smtClean="0"/>
              <a:t>Greater value of </a:t>
            </a:r>
            <a:r>
              <a:rPr lang="en-US" altLang="en-US" dirty="0" err="1" smtClean="0"/>
              <a:t>ccp_alpha</a:t>
            </a:r>
            <a:r>
              <a:rPr lang="en-US" altLang="en-US" dirty="0" smtClean="0"/>
              <a:t> </a:t>
            </a:r>
            <a:r>
              <a:rPr lang="en-US" altLang="en-US" dirty="0" smtClean="0">
                <a:sym typeface="Wingdings" panose="05000000000000000000" pitchFamily="2" charset="2"/>
              </a:rPr>
              <a:t> more pruning</a:t>
            </a:r>
          </a:p>
          <a:p>
            <a:endParaRPr lang="en-US" altLang="en-US" dirty="0">
              <a:sym typeface="Wingdings" panose="05000000000000000000" pitchFamily="2" charset="2"/>
            </a:endParaRPr>
          </a:p>
          <a:p>
            <a:r>
              <a:rPr lang="en-US" altLang="en-US" sz="800" dirty="0" smtClean="0">
                <a:sym typeface="Wingdings" panose="05000000000000000000" pitchFamily="2" charset="2"/>
              </a:rPr>
              <a:t>More on : </a:t>
            </a:r>
            <a:r>
              <a:rPr lang="en-US" altLang="en-US" sz="800" dirty="0" smtClean="0">
                <a:sym typeface="Wingdings" panose="05000000000000000000" pitchFamily="2" charset="2"/>
                <a:hlinkClick r:id="rId2"/>
              </a:rPr>
              <a:t>https://scikit-learn.org/stable/auto_examples/tree/plot_cost_complexity_pruning.html#sphx-glr-auto-examples-tree-plot-cost-complexity-pruning-py</a:t>
            </a:r>
            <a:r>
              <a:rPr lang="en-US" altLang="en-US" sz="800" dirty="0" smtClean="0">
                <a:sym typeface="Wingdings" panose="05000000000000000000" pitchFamily="2" charset="2"/>
              </a:rPr>
              <a:t> </a:t>
            </a:r>
          </a:p>
          <a:p>
            <a:endParaRPr lang="en-US" altLang="en-US" dirty="0" smtClean="0"/>
          </a:p>
        </p:txBody>
      </p:sp>
      <p:sp>
        <p:nvSpPr>
          <p:cNvPr id="38916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904DFA9-AFDB-4B10-A95F-8186C278A856}" type="slidenum">
              <a:rPr lang="he-IL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33</a:t>
            </a:fld>
            <a:endParaRPr lang="en-US" altLang="en-US" sz="1400" smtClean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class_weight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76400"/>
            <a:ext cx="8729663" cy="4114800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In general all classes in data are assigned same weightage</a:t>
            </a:r>
          </a:p>
          <a:p>
            <a:pPr>
              <a:defRPr/>
            </a:pPr>
            <a:r>
              <a:rPr lang="en-US" dirty="0" smtClean="0"/>
              <a:t>But, in case of imbalanced data one class may have very less samples than others</a:t>
            </a:r>
          </a:p>
          <a:p>
            <a:pPr>
              <a:defRPr/>
            </a:pPr>
            <a:r>
              <a:rPr lang="en-US" dirty="0" smtClean="0"/>
              <a:t>Values:</a:t>
            </a:r>
          </a:p>
          <a:p>
            <a:pPr lvl="1">
              <a:defRPr/>
            </a:pPr>
            <a:r>
              <a:rPr lang="en-US" dirty="0"/>
              <a:t>n</a:t>
            </a:r>
            <a:r>
              <a:rPr lang="en-US" dirty="0" smtClean="0"/>
              <a:t>one : all classes same</a:t>
            </a:r>
          </a:p>
          <a:p>
            <a:pPr lvl="1">
              <a:defRPr/>
            </a:pPr>
            <a:r>
              <a:rPr lang="en-US" dirty="0" smtClean="0">
                <a:solidFill>
                  <a:srgbClr val="009900"/>
                </a:solidFill>
              </a:rPr>
              <a:t>Balanced</a:t>
            </a:r>
            <a:r>
              <a:rPr lang="en-US" dirty="0" smtClean="0"/>
              <a:t> : weights taken from training data </a:t>
            </a:r>
          </a:p>
          <a:p>
            <a:pPr marL="457200" lvl="1" indent="0">
              <a:buFont typeface="Wingdings" panose="05000000000000000000" pitchFamily="2" charset="2"/>
              <a:buNone/>
              <a:defRPr/>
            </a:pPr>
            <a:r>
              <a:rPr lang="en-US" sz="2400" i="1" dirty="0" smtClean="0"/>
              <a:t>(used for imbalanced data)</a:t>
            </a:r>
            <a:endParaRPr lang="en-US" i="1" dirty="0" smtClean="0"/>
          </a:p>
          <a:p>
            <a:pPr lvl="1">
              <a:defRPr/>
            </a:pPr>
            <a:r>
              <a:rPr lang="en-US" dirty="0" err="1"/>
              <a:t>d</a:t>
            </a:r>
            <a:r>
              <a:rPr lang="en-US" dirty="0" err="1" smtClean="0"/>
              <a:t>ict</a:t>
            </a:r>
            <a:r>
              <a:rPr lang="en-US" dirty="0" smtClean="0"/>
              <a:t> : user given values</a:t>
            </a:r>
            <a:endParaRPr lang="en-US" dirty="0"/>
          </a:p>
          <a:p>
            <a:pPr>
              <a:defRPr/>
            </a:pPr>
            <a:endParaRPr lang="en-US" dirty="0"/>
          </a:p>
        </p:txBody>
      </p:sp>
      <p:sp>
        <p:nvSpPr>
          <p:cNvPr id="3789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24A5FB5-8D02-47B9-8887-F62CCFC9BACD}" type="slidenum">
              <a:rPr lang="he-IL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34</a:t>
            </a:fld>
            <a:endParaRPr lang="en-US" altLang="en-US" sz="1400" smtClean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3762" y="2514600"/>
            <a:ext cx="7793038" cy="1752600"/>
          </a:xfrm>
        </p:spPr>
        <p:txBody>
          <a:bodyPr/>
          <a:lstStyle/>
          <a:p>
            <a:pPr algn="ctr"/>
            <a:r>
              <a:rPr lang="en-US" dirty="0" smtClean="0"/>
              <a:t>CART </a:t>
            </a:r>
            <a:br>
              <a:rPr lang="en-US" dirty="0" smtClean="0"/>
            </a:br>
            <a:r>
              <a:rPr lang="en-US" dirty="0" smtClean="0"/>
              <a:t>Advantage and Dis-Advantage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1A0772-F8AE-4C4F-81D0-A6C75E644ED2}" type="slidenum">
              <a:rPr lang="he-IL" smtClean="0"/>
              <a:pPr>
                <a:defRPr/>
              </a:pPr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92250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Advantages of CART</a:t>
            </a:r>
          </a:p>
        </p:txBody>
      </p:sp>
      <p:sp>
        <p:nvSpPr>
          <p:cNvPr id="15363" name="Content Placeholder 2"/>
          <p:cNvSpPr>
            <a:spLocks noGrp="1"/>
          </p:cNvSpPr>
          <p:nvPr>
            <p:ph idx="1"/>
          </p:nvPr>
        </p:nvSpPr>
        <p:spPr>
          <a:xfrm>
            <a:off x="1154113" y="1524000"/>
            <a:ext cx="7772400" cy="4800600"/>
          </a:xfrm>
        </p:spPr>
        <p:txBody>
          <a:bodyPr/>
          <a:lstStyle/>
          <a:p>
            <a:r>
              <a:rPr lang="en-US" altLang="en-US" smtClean="0"/>
              <a:t>Easy to understand for humans &amp; Explainable</a:t>
            </a:r>
          </a:p>
          <a:p>
            <a:r>
              <a:rPr lang="en-US" altLang="en-US" smtClean="0"/>
              <a:t>Data Scaling is not required</a:t>
            </a:r>
          </a:p>
          <a:p>
            <a:pPr lvl="1"/>
            <a:r>
              <a:rPr lang="en-US" altLang="en-US" smtClean="0"/>
              <a:t>Robust to different variables having different range of values</a:t>
            </a:r>
          </a:p>
          <a:p>
            <a:r>
              <a:rPr lang="en-US" altLang="en-US" smtClean="0"/>
              <a:t>Doesn’t need to have Normally distributed features</a:t>
            </a:r>
          </a:p>
          <a:p>
            <a:r>
              <a:rPr lang="en-US" altLang="en-US" smtClean="0"/>
              <a:t>Provides feature importance, so can be used for feature selection in classification or regression</a:t>
            </a:r>
          </a:p>
          <a:p>
            <a:r>
              <a:rPr lang="en-US" altLang="en-US" smtClean="0"/>
              <a:t>Can create non-linear boundaries easily</a:t>
            </a:r>
          </a:p>
        </p:txBody>
      </p:sp>
      <p:sp>
        <p:nvSpPr>
          <p:cNvPr id="1536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21F1A98-849D-4378-BB2D-7B5F782B7D5C}" type="slidenum">
              <a:rPr lang="he-IL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36</a:t>
            </a:fld>
            <a:endParaRPr lang="en-US" altLang="en-US" sz="1400" smtClean="0"/>
          </a:p>
        </p:txBody>
      </p:sp>
    </p:spTree>
    <p:extLst>
      <p:ext uri="{BB962C8B-B14F-4D97-AF65-F5344CB8AC3E}">
        <p14:creationId xmlns:p14="http://schemas.microsoft.com/office/powerpoint/2010/main" val="99319722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Dis-Advantage of CART</a:t>
            </a:r>
            <a:endParaRPr lang="en-US" altLang="en-US" dirty="0" smtClean="0"/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>
          <a:xfrm>
            <a:off x="231775" y="1493838"/>
            <a:ext cx="8726488" cy="5135562"/>
          </a:xfrm>
        </p:spPr>
        <p:txBody>
          <a:bodyPr/>
          <a:lstStyle/>
          <a:p>
            <a:r>
              <a:rPr lang="en-US" altLang="en-US" dirty="0" smtClean="0"/>
              <a:t>Easy to Over-fit</a:t>
            </a:r>
          </a:p>
          <a:p>
            <a:pPr lvl="1"/>
            <a:r>
              <a:rPr lang="en-US" altLang="en-US" b="1" dirty="0" smtClean="0"/>
              <a:t>Solution</a:t>
            </a:r>
            <a:r>
              <a:rPr lang="en-US" altLang="en-US" dirty="0" smtClean="0"/>
              <a:t>: Ensemble learning</a:t>
            </a:r>
          </a:p>
          <a:p>
            <a:r>
              <a:rPr lang="en-US" altLang="en-US" dirty="0" smtClean="0"/>
              <a:t>Slow when high Number of features</a:t>
            </a:r>
          </a:p>
          <a:p>
            <a:pPr lvl="1"/>
            <a:r>
              <a:rPr lang="en-US" altLang="en-US" dirty="0" smtClean="0"/>
              <a:t>Splitting takes time when features are many</a:t>
            </a:r>
          </a:p>
          <a:p>
            <a:r>
              <a:rPr lang="en-US" altLang="en-US" b="1" dirty="0" smtClean="0"/>
              <a:t>In Regression, CART can’t predict values beyond range of values it is trained on</a:t>
            </a:r>
          </a:p>
          <a:p>
            <a:pPr lvl="1"/>
            <a:r>
              <a:rPr lang="en-US" altLang="en-US" dirty="0" smtClean="0"/>
              <a:t>Out of range value prediction is NOT possible</a:t>
            </a:r>
          </a:p>
          <a:p>
            <a:pPr lvl="1"/>
            <a:r>
              <a:rPr lang="en-US" altLang="en-US" dirty="0" smtClean="0"/>
              <a:t>Even after Ensemble this problem </a:t>
            </a:r>
            <a:r>
              <a:rPr lang="en-US" altLang="en-US" b="1" dirty="0" smtClean="0"/>
              <a:t>PERSISTS</a:t>
            </a:r>
          </a:p>
          <a:p>
            <a:r>
              <a:rPr lang="en-US" altLang="en-US" dirty="0" smtClean="0"/>
              <a:t>Trees can have high depth</a:t>
            </a:r>
          </a:p>
          <a:p>
            <a:pPr lvl="1"/>
            <a:r>
              <a:rPr lang="en-US" altLang="en-US" dirty="0" smtClean="0"/>
              <a:t>Because, CART does only Binary splits</a:t>
            </a:r>
          </a:p>
        </p:txBody>
      </p:sp>
      <p:sp>
        <p:nvSpPr>
          <p:cNvPr id="1638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DF4BADD-6CDD-48B5-AC21-E57DFFD38CCA}" type="slidenum">
              <a:rPr lang="he-IL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37</a:t>
            </a:fld>
            <a:endParaRPr lang="en-US" altLang="en-US" sz="1400" smtClean="0"/>
          </a:p>
        </p:txBody>
      </p:sp>
    </p:spTree>
    <p:extLst>
      <p:ext uri="{BB962C8B-B14F-4D97-AF65-F5344CB8AC3E}">
        <p14:creationId xmlns:p14="http://schemas.microsoft.com/office/powerpoint/2010/main" val="36719849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CART Regression Failure Case </a:t>
            </a:r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017712"/>
            <a:ext cx="8117922" cy="4459287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1A0772-F8AE-4C4F-81D0-A6C75E644ED2}" type="slidenum">
              <a:rPr lang="he-IL" smtClean="0"/>
              <a:pPr>
                <a:defRPr/>
              </a:pPr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16361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581845D-505B-4835-B8F0-04D1B3A64FCB}" type="slidenum">
              <a:rPr lang="he-IL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39</a:t>
            </a:fld>
            <a:endParaRPr lang="en-US" altLang="en-US" sz="1400" smtClean="0"/>
          </a:p>
        </p:txBody>
      </p:sp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v-SE" altLang="en-US" smtClean="0"/>
              <a:t>Overfitting</a:t>
            </a:r>
            <a:endParaRPr lang="en-US" altLang="en-US" smtClean="0"/>
          </a:p>
        </p:txBody>
      </p:sp>
      <p:sp>
        <p:nvSpPr>
          <p:cNvPr id="29700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143000" y="1600200"/>
            <a:ext cx="6970713" cy="1030288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sv-SE" altLang="en-US" sz="2200" smtClean="0"/>
              <a:t>One of the biggest problems with decision trees is </a:t>
            </a:r>
            <a:r>
              <a:rPr lang="sv-SE" altLang="en-US" sz="2200" b="1" smtClean="0"/>
              <a:t>Overfitting</a:t>
            </a:r>
          </a:p>
          <a:p>
            <a:pPr eaLnBrk="1" hangingPunct="1">
              <a:lnSpc>
                <a:spcPct val="90000"/>
              </a:lnSpc>
            </a:pPr>
            <a:r>
              <a:rPr lang="sv-SE" altLang="en-US" sz="2200" smtClean="0"/>
              <a:t>Performance on training data increases but test data performace decrease after a threshold</a:t>
            </a:r>
          </a:p>
          <a:p>
            <a:pPr eaLnBrk="1" hangingPunct="1">
              <a:lnSpc>
                <a:spcPct val="90000"/>
              </a:lnSpc>
            </a:pPr>
            <a:r>
              <a:rPr lang="sv-SE" altLang="en-US" sz="2200" smtClean="0"/>
              <a:t>Model cannot generalise for new data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sv-SE" altLang="en-US" sz="2200" smtClean="0"/>
          </a:p>
        </p:txBody>
      </p:sp>
      <p:pic>
        <p:nvPicPr>
          <p:cNvPr id="29701" name="Picture 4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295400" y="3325813"/>
            <a:ext cx="6172200" cy="3505200"/>
          </a:xfrm>
          <a:noFill/>
        </p:spPr>
      </p:pic>
    </p:spTree>
    <p:extLst>
      <p:ext uri="{BB962C8B-B14F-4D97-AF65-F5344CB8AC3E}">
        <p14:creationId xmlns:p14="http://schemas.microsoft.com/office/powerpoint/2010/main" val="539068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19D00DF-0445-4514-972E-1056D981EAD5}" type="slidenum">
              <a:rPr lang="he-IL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40</a:t>
            </a:fld>
            <a:endParaRPr lang="en-US" altLang="en-US" sz="1400" smtClean="0"/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v-SE" altLang="en-US" smtClean="0"/>
              <a:t>Solution to Overfitting</a:t>
            </a:r>
          </a:p>
        </p:txBody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1600200"/>
            <a:ext cx="7772400" cy="4114800"/>
          </a:xfrm>
        </p:spPr>
        <p:txBody>
          <a:bodyPr/>
          <a:lstStyle/>
          <a:p>
            <a:pPr eaLnBrk="1" hangingPunct="1"/>
            <a:r>
              <a:rPr lang="sv-SE" altLang="en-US" dirty="0" smtClean="0"/>
              <a:t>Fine Tune min_samples_leaf</a:t>
            </a:r>
          </a:p>
          <a:p>
            <a:pPr eaLnBrk="1" hangingPunct="1"/>
            <a:endParaRPr lang="sv-SE" altLang="en-US" dirty="0" smtClean="0"/>
          </a:p>
          <a:p>
            <a:pPr eaLnBrk="1" hangingPunct="1"/>
            <a:r>
              <a:rPr lang="sv-SE" altLang="en-US" dirty="0" smtClean="0"/>
              <a:t>Fine Tune depth of tree</a:t>
            </a:r>
          </a:p>
          <a:p>
            <a:pPr eaLnBrk="1" hangingPunct="1"/>
            <a:endParaRPr lang="sv-SE" altLang="en-US" dirty="0" smtClean="0"/>
          </a:p>
          <a:p>
            <a:pPr eaLnBrk="1" hangingPunct="1"/>
            <a:r>
              <a:rPr lang="sv-SE" altLang="en-US" dirty="0" smtClean="0"/>
              <a:t>Use Cross Validation than just train test split</a:t>
            </a:r>
          </a:p>
          <a:p>
            <a:pPr eaLnBrk="1" hangingPunct="1"/>
            <a:endParaRPr lang="sv-SE" altLang="en-US" dirty="0"/>
          </a:p>
          <a:p>
            <a:pPr eaLnBrk="1" hangingPunct="1"/>
            <a:r>
              <a:rPr lang="sv-SE" altLang="en-US" b="1" dirty="0" smtClean="0"/>
              <a:t>Use Ensemble Learning than just single tree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sv-SE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4278540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Designs\Blends.pot</Template>
  <TotalTime>5951</TotalTime>
  <Words>1408</Words>
  <Application>Microsoft Office PowerPoint</Application>
  <PresentationFormat>On-screen Show (4:3)</PresentationFormat>
  <Paragraphs>387</Paragraphs>
  <Slides>40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5" baseType="lpstr">
      <vt:lpstr>Cambria Math</vt:lpstr>
      <vt:lpstr>Tahoma</vt:lpstr>
      <vt:lpstr>Times New Roman</vt:lpstr>
      <vt:lpstr>Wingdings</vt:lpstr>
      <vt:lpstr>Blends</vt:lpstr>
      <vt:lpstr>Decision Trees</vt:lpstr>
      <vt:lpstr>Decision Tree Introduction</vt:lpstr>
      <vt:lpstr>Decision Trees Introduction</vt:lpstr>
      <vt:lpstr>CART Introduction</vt:lpstr>
      <vt:lpstr>CART Structure</vt:lpstr>
      <vt:lpstr>CART Structure</vt:lpstr>
      <vt:lpstr>CART Structure</vt:lpstr>
      <vt:lpstr>Basic Terminologies</vt:lpstr>
      <vt:lpstr>Basic Terminologies</vt:lpstr>
      <vt:lpstr>CART Algorithm</vt:lpstr>
      <vt:lpstr>CART Algorithm</vt:lpstr>
      <vt:lpstr>CART for Classification</vt:lpstr>
      <vt:lpstr>CART</vt:lpstr>
      <vt:lpstr>Criterian for Split (Cost function)</vt:lpstr>
      <vt:lpstr>Gini index / Gini Impurity</vt:lpstr>
      <vt:lpstr>Gini Index</vt:lpstr>
      <vt:lpstr>Gini Index Example</vt:lpstr>
      <vt:lpstr>Gini Index Example</vt:lpstr>
      <vt:lpstr>Gini Index Example</vt:lpstr>
      <vt:lpstr>Entropy (Amount of Information)</vt:lpstr>
      <vt:lpstr>Entropy</vt:lpstr>
      <vt:lpstr>Gini Index vs Entropy</vt:lpstr>
      <vt:lpstr>CART for Regression</vt:lpstr>
      <vt:lpstr>CART for Regression</vt:lpstr>
      <vt:lpstr>Criteria for Split</vt:lpstr>
      <vt:lpstr>Criteria for Split</vt:lpstr>
      <vt:lpstr>Parameters in  Decision Tree (Sklearn)</vt:lpstr>
      <vt:lpstr>Criterian (for Split)</vt:lpstr>
      <vt:lpstr>min_samples_leaf</vt:lpstr>
      <vt:lpstr>max_features</vt:lpstr>
      <vt:lpstr>Splitter for Every Node</vt:lpstr>
      <vt:lpstr>max_depth</vt:lpstr>
      <vt:lpstr>ccp_alpha</vt:lpstr>
      <vt:lpstr>class_weight</vt:lpstr>
      <vt:lpstr>CART  Advantage and Dis-Advantage</vt:lpstr>
      <vt:lpstr>Advantages of CART</vt:lpstr>
      <vt:lpstr>Dis-Advantage of CART</vt:lpstr>
      <vt:lpstr>CART Regression Failure Case </vt:lpstr>
      <vt:lpstr>Overfitting</vt:lpstr>
      <vt:lpstr>Solution to Overfitting</vt:lpstr>
    </vt:vector>
  </TitlesOfParts>
  <Company>ICS,UoN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Decision trees</dc:title>
  <dc:subject>A.I</dc:subject>
  <dc:creator>Peter Waiganjo Wagacha</dc:creator>
  <cp:lastModifiedBy>cdacstaff</cp:lastModifiedBy>
  <cp:revision>774</cp:revision>
  <cp:lastPrinted>2003-03-12T12:15:54Z</cp:lastPrinted>
  <dcterms:created xsi:type="dcterms:W3CDTF">1601-01-01T00:00:00Z</dcterms:created>
  <dcterms:modified xsi:type="dcterms:W3CDTF">2025-05-22T11:14:12Z</dcterms:modified>
</cp:coreProperties>
</file>